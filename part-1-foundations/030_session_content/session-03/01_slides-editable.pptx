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marp</a:t>
            </a:r>
            <a:r>
              <a:rPr/>
              <a:t>:</a:t>
            </a:r>
            <a:r>
              <a:rPr/>
              <a:t> </a:t>
            </a:r>
            <a:r>
              <a:rPr/>
              <a:t>true</a:t>
            </a:r>
            <a:r>
              <a:rPr/>
              <a:t> </a:t>
            </a:r>
            <a:r>
              <a:rPr/>
              <a:t>theme</a:t>
            </a:r>
            <a:r>
              <a:rPr/>
              <a:t>:</a:t>
            </a:r>
            <a:r>
              <a:rPr/>
              <a:t> </a:t>
            </a:r>
            <a:r>
              <a:rPr/>
              <a:t>tech</a:t>
            </a:r>
            <a:r>
              <a:rPr/>
              <a:t> </a:t>
            </a:r>
            <a:r>
              <a:rPr/>
              <a:t>paginate</a:t>
            </a:r>
            <a:r>
              <a:rPr/>
              <a:t>:</a:t>
            </a:r>
            <a:r>
              <a:rPr/>
              <a:t> </a:t>
            </a:r>
            <a:r>
              <a:rPr/>
              <a:t>true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Strings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Text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Python</a:t>
            </a:r>
            <a:r>
              <a:rPr/>
              <a:t> </a:t>
            </a:r>
            <a:r>
              <a:rPr/>
              <a:t>Mastery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</a:t>
            </a:r>
            <a:r>
              <a:rPr/>
              <a:t>:</a:t>
            </a:r>
            <a:r>
              <a:rPr/>
              <a:t> </a:t>
            </a:r>
            <a:r>
              <a:rPr/>
              <a:t>Foundations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Rathinam Trainers &amp; Consultants</a:t>
            </a:r>
            <a:r>
              <a:rPr/>
              <a:t> Live on Microsoft Teams · recorded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Recap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Where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left</a:t>
            </a:r>
            <a:r>
              <a:rPr/>
              <a:t> </a:t>
            </a:r>
            <a:r>
              <a:rPr/>
              <a:t>off</a:t>
            </a:r>
            <a:r>
              <a:rPr/>
              <a:t> </a:t>
            </a:r>
            <a:r>
              <a:rPr/>
              <a:t>last</a:t>
            </a:r>
            <a:r>
              <a:rPr/>
              <a:t> </a:t>
            </a:r>
            <a:r>
              <a:rPr/>
              <a:t>week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Last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Numeric types: </a:t>
            </a:r>
            <a:r>
              <a:rPr>
                <a:latin typeface="Courier"/>
              </a:rPr>
              <a:t>int</a:t>
            </a:r>
            <a:r>
              <a:rPr/>
              <a:t>, </a:t>
            </a:r>
            <a:r>
              <a:rPr>
                <a:latin typeface="Courier"/>
              </a:rPr>
              <a:t>float</a:t>
            </a:r>
            <a:r>
              <a:rPr/>
              <a:t>, </a:t>
            </a:r>
            <a:r>
              <a:rPr>
                <a:latin typeface="Courier"/>
              </a:rPr>
              <a:t>complex</a:t>
            </a:r>
            <a:r>
              <a:rPr/>
              <a:t>, </a:t>
            </a:r>
            <a:r>
              <a:rPr>
                <a:latin typeface="Courier"/>
              </a:rPr>
              <a:t>bool</a:t>
            </a:r>
          </a:p>
          <a:p>
            <a:pPr lvl="1"/>
            <a:r>
              <a:rPr>
                <a:latin typeface="Courier"/>
              </a:rPr>
              <a:t>/</a:t>
            </a:r>
            <a:r>
              <a:rPr/>
              <a:t> vs </a:t>
            </a:r>
            <a:r>
              <a:rPr>
                <a:latin typeface="Courier"/>
              </a:rPr>
              <a:t>//</a:t>
            </a:r>
            <a:r>
              <a:rPr/>
              <a:t> vs </a:t>
            </a:r>
            <a:r>
              <a:rPr>
                <a:latin typeface="Courier"/>
              </a:rPr>
              <a:t>%</a:t>
            </a:r>
            <a:r>
              <a:rPr/>
              <a:t>, </a:t>
            </a:r>
            <a:r>
              <a:rPr>
                <a:latin typeface="Courier"/>
              </a:rPr>
              <a:t>**</a:t>
            </a:r>
            <a:r>
              <a:rPr/>
              <a:t>, and </a:t>
            </a:r>
            <a:r>
              <a:rPr b="1"/>
              <a:t>operator precedence</a:t>
            </a:r>
          </a:p>
          <a:p>
            <a:pPr lvl="1"/>
            <a:r>
              <a:rPr/>
              <a:t>Variables </a:t>
            </a:r>
            <a:r>
              <a:rPr b="1"/>
              <a:t>bind names to objects</a:t>
            </a:r>
            <a:r>
              <a:rPr/>
              <a:t>; </a:t>
            </a:r>
            <a:r>
              <a:rPr>
                <a:latin typeface="Courier"/>
              </a:rPr>
              <a:t>None</a:t>
            </a:r>
            <a:r>
              <a:rPr/>
              <a:t> = absence of a value</a:t>
            </a:r>
          </a:p>
          <a:p>
            <a:pPr lvl="1"/>
            <a:r>
              <a:rPr/>
              <a:t>Floats are </a:t>
            </a:r>
            <a:r>
              <a:rPr b="1"/>
              <a:t>approximate</a:t>
            </a:r>
            <a:r>
              <a:rPr/>
              <a:t> — </a:t>
            </a:r>
            <a:r>
              <a:rPr>
                <a:latin typeface="Courier"/>
              </a:rPr>
              <a:t>round()</a:t>
            </a:r>
            <a:r>
              <a:rPr/>
              <a:t>, formatting, </a:t>
            </a:r>
            <a:r>
              <a:rPr>
                <a:latin typeface="Courier"/>
              </a:rPr>
              <a:t>math.isclose</a:t>
            </a:r>
          </a:p>
          <a:p>
            <a:pPr lvl="0" marL="1270000" indent="0">
              <a:buNone/>
            </a:pPr>
            <a:r>
              <a:rPr sz="2000"/>
              <a:t>You can already use Python as a calculator. Today we make it talk.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Today's</a:t>
            </a:r>
            <a:r>
              <a:rPr/>
              <a:t> </a:t>
            </a: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By the end of this session you'll understand how to:</a:t>
            </a:r>
          </a:p>
          <a:p>
            <a:pPr lvl="1"/>
            <a:r>
              <a:rPr b="1"/>
              <a:t>Index and slice</a:t>
            </a:r>
            <a:r>
              <a:rPr/>
              <a:t> strings; use the everyday </a:t>
            </a:r>
            <a:r>
              <a:rPr b="1"/>
              <a:t>methods</a:t>
            </a:r>
          </a:p>
          <a:p>
            <a:pPr lvl="1"/>
            <a:r>
              <a:rPr/>
              <a:t>Explain why strings are </a:t>
            </a:r>
            <a:r>
              <a:rPr b="1"/>
              <a:t>immutable</a:t>
            </a:r>
          </a:p>
          <a:p>
            <a:pPr lvl="1"/>
            <a:r>
              <a:rPr/>
              <a:t>Build clean output with </a:t>
            </a:r>
            <a:r>
              <a:rPr b="1"/>
              <a:t>f-strings</a:t>
            </a:r>
            <a:r>
              <a:rPr/>
              <a:t> + the </a:t>
            </a:r>
            <a:r>
              <a:rPr b="1"/>
              <a:t>format mini-language</a:t>
            </a:r>
          </a:p>
          <a:p>
            <a:pPr lvl="1"/>
            <a:r>
              <a:rPr/>
              <a:t>Recognise a </a:t>
            </a:r>
            <a:r>
              <a:rPr b="1"/>
              <a:t>t-string</a:t>
            </a:r>
            <a:r>
              <a:rPr/>
              <a:t> and how it differs from an f-string</a:t>
            </a:r>
          </a:p>
          <a:p>
            <a:pPr lvl="1"/>
            <a:r>
              <a:rPr/>
              <a:t>Say what </a:t>
            </a:r>
            <a:r>
              <a:rPr b="1">
                <a:latin typeface="Courier"/>
              </a:rPr>
              <a:t>bytes</a:t>
            </a:r>
            <a:r>
              <a:rPr b="1"/>
              <a:t> vs </a:t>
            </a:r>
            <a:r>
              <a:rPr b="1">
                <a:latin typeface="Courier"/>
              </a:rPr>
              <a:t>str</a:t>
            </a:r>
            <a:r>
              <a:rPr/>
              <a:t> means and why </a:t>
            </a:r>
            <a:r>
              <a:rPr b="1"/>
              <a:t>encodings</a:t>
            </a:r>
            <a:r>
              <a:rPr/>
              <a:t> exist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Strings,</a:t>
            </a:r>
            <a:r>
              <a:rPr/>
              <a:t> </a:t>
            </a:r>
            <a:r>
              <a:rPr/>
              <a:t>up</a:t>
            </a:r>
            <a:r>
              <a:rPr/>
              <a:t> </a:t>
            </a:r>
            <a:r>
              <a:rPr/>
              <a:t>close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Literals,</a:t>
            </a:r>
            <a:r>
              <a:rPr/>
              <a:t> </a:t>
            </a:r>
            <a:r>
              <a:rPr/>
              <a:t>indexing,</a:t>
            </a:r>
            <a:r>
              <a:rPr/>
              <a:t> </a:t>
            </a:r>
            <a:r>
              <a:rPr/>
              <a:t>slicing,</a:t>
            </a:r>
            <a:r>
              <a:rPr/>
              <a:t> </a:t>
            </a:r>
            <a:r>
              <a:rPr/>
              <a:t>methods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string</a:t>
            </a:r>
            <a:r>
              <a:rPr/>
              <a:t> </a:t>
            </a:r>
            <a:r>
              <a:rPr/>
              <a:t>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</a:t>
            </a:r>
            <a:r>
              <a:rPr>
                <a:latin typeface="Courier"/>
              </a:rPr>
              <a:t>str</a:t>
            </a:r>
            <a:r>
              <a:rPr/>
              <a:t> is an </a:t>
            </a:r>
            <a:r>
              <a:rPr b="1"/>
              <a:t>ordered sequence of characters</a:t>
            </a:r>
            <a:r>
              <a:rPr/>
              <a:t> — text</a:t>
            </a:r>
          </a:p>
          <a:p>
            <a:pPr lvl="1"/>
            <a:r>
              <a:rPr/>
              <a:t>Make one with quotes: </a:t>
            </a:r>
            <a:r>
              <a:rPr>
                <a:latin typeface="Courier"/>
              </a:rPr>
              <a:t>'single'</a:t>
            </a:r>
            <a:r>
              <a:rPr/>
              <a:t> or </a:t>
            </a:r>
            <a:r>
              <a:rPr>
                <a:latin typeface="Courier"/>
              </a:rPr>
              <a:t>"double"</a:t>
            </a:r>
            <a:r>
              <a:rPr/>
              <a:t> (same thing)</a:t>
            </a:r>
          </a:p>
          <a:p>
            <a:pPr lvl="1"/>
            <a:r>
              <a:rPr b="1"/>
              <a:t>Triple quotes</a:t>
            </a:r>
            <a:r>
              <a:rPr/>
              <a:t> for multi-line: </a:t>
            </a:r>
            <a:r>
              <a:rPr>
                <a:latin typeface="Courier"/>
              </a:rPr>
              <a:t>"""..."""</a:t>
            </a:r>
          </a:p>
          <a:p>
            <a:pPr lvl="1"/>
            <a:r>
              <a:rPr b="1"/>
              <a:t>Escapes:</a:t>
            </a:r>
            <a:r>
              <a:rPr/>
              <a:t> </a:t>
            </a:r>
            <a:r>
              <a:rPr>
                <a:latin typeface="Courier"/>
              </a:rPr>
              <a:t>\n</a:t>
            </a:r>
            <a:r>
              <a:rPr/>
              <a:t> newline, </a:t>
            </a:r>
            <a:r>
              <a:rPr>
                <a:latin typeface="Courier"/>
              </a:rPr>
              <a:t>\t</a:t>
            </a:r>
            <a:r>
              <a:rPr/>
              <a:t> tab, </a:t>
            </a:r>
            <a:r>
              <a:rPr>
                <a:latin typeface="Courier"/>
              </a:rPr>
              <a:t>\\</a:t>
            </a:r>
            <a:r>
              <a:rPr/>
              <a:t> backslash</a:t>
            </a:r>
          </a:p>
          <a:p>
            <a:pPr lvl="1"/>
            <a:r>
              <a:rPr b="1"/>
              <a:t>Raw strings:</a:t>
            </a:r>
            <a:r>
              <a:rPr/>
              <a:t> </a:t>
            </a:r>
            <a:r>
              <a:rPr>
                <a:latin typeface="Courier"/>
              </a:rPr>
              <a:t>r"C:\new"</a:t>
            </a:r>
            <a:r>
              <a:rPr/>
              <a:t> — backslashes stay literal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Indexing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reach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character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word = "Python"
&gt;&gt;&gt; word[0]
'P'
&gt;&gt;&gt; word[-1]
'n'
</a:t>
            </a:r>
          </a:p>
          <a:p>
            <a:pPr lvl="1"/>
            <a:r>
              <a:rPr/>
              <a:t>Counting starts at </a:t>
            </a:r>
            <a:r>
              <a:rPr b="1"/>
              <a:t>0</a:t>
            </a:r>
            <a:r>
              <a:rPr/>
              <a:t>, not 1</a:t>
            </a:r>
          </a:p>
          <a:p>
            <a:pPr lvl="1"/>
            <a:r>
              <a:rPr b="1"/>
              <a:t>Negative</a:t>
            </a:r>
            <a:r>
              <a:rPr/>
              <a:t> indexes count from the right: </a:t>
            </a:r>
            <a:r>
              <a:rPr>
                <a:latin typeface="Courier"/>
              </a:rPr>
              <a:t>-1</a:t>
            </a:r>
            <a:r>
              <a:rPr/>
              <a:t> is the last</a:t>
            </a:r>
          </a:p>
          <a:p>
            <a:pPr lvl="1"/>
            <a:r>
              <a:rPr/>
              <a:t>Out-of-range index → </a:t>
            </a:r>
            <a:r>
              <a:rPr>
                <a:latin typeface="Courier"/>
              </a:rPr>
              <a:t>IndexError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Slicing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reach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substring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word[1:4]
'yth'
&gt;&gt;&gt; word[:2]
'Py'
&gt;&gt;&gt; word[::-1]
'nohtyP'
</a:t>
            </a:r>
          </a:p>
          <a:p>
            <a:pPr lvl="1"/>
            <a:r>
              <a:rPr>
                <a:latin typeface="Courier"/>
              </a:rPr>
              <a:t>s[start:stop]</a:t>
            </a:r>
            <a:r>
              <a:rPr/>
              <a:t> — </a:t>
            </a:r>
            <a:r>
              <a:rPr>
                <a:latin typeface="Courier"/>
              </a:rPr>
              <a:t>stop</a:t>
            </a:r>
            <a:r>
              <a:rPr/>
              <a:t> is </a:t>
            </a:r>
            <a:r>
              <a:rPr b="1"/>
              <a:t>excluded</a:t>
            </a:r>
          </a:p>
          <a:p>
            <a:pPr lvl="1"/>
            <a:r>
              <a:rPr/>
              <a:t>Omit either side for "from the start" / "to the end"</a:t>
            </a:r>
          </a:p>
          <a:p>
            <a:pPr lvl="1"/>
            <a:r>
              <a:rPr/>
              <a:t>Third number is the </a:t>
            </a:r>
            <a:r>
              <a:rPr b="1"/>
              <a:t>step</a:t>
            </a:r>
            <a:r>
              <a:rPr/>
              <a:t>; </a:t>
            </a:r>
            <a:r>
              <a:rPr>
                <a:latin typeface="Courier"/>
              </a:rPr>
              <a:t>[::-1]</a:t>
            </a:r>
            <a:r>
              <a:rPr/>
              <a:t> reverses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High-value</a:t>
            </a:r>
            <a:r>
              <a:rPr/>
              <a:t> </a:t>
            </a:r>
            <a:r>
              <a:rPr/>
              <a:t>string</a:t>
            </a:r>
            <a:r>
              <a:rPr/>
              <a:t> </a:t>
            </a:r>
            <a:r>
              <a:rPr/>
              <a:t>methods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.strip()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trim</a:t>
                      </a:r>
                      <a:r>
                        <a:rPr/>
                        <a:t> </a:t>
                      </a:r>
                      <a:r>
                        <a:rPr/>
                        <a:t>surrounding</a:t>
                      </a:r>
                      <a:r>
                        <a:rPr/>
                        <a:t> </a:t>
                      </a:r>
                      <a:r>
                        <a:rPr/>
                        <a:t>whitespace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.lower()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.upper()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.title()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change</a:t>
                      </a:r>
                      <a:r>
                        <a:rPr/>
                        <a:t> </a:t>
                      </a:r>
                      <a:r>
                        <a:rPr/>
                        <a:t>case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.split(sep)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sep.join(list)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text</a:t>
                      </a:r>
                      <a:r>
                        <a:rPr/>
                        <a:t> </a:t>
                      </a:r>
                      <a:r>
                        <a:rPr/>
                        <a:t>↔</a:t>
                      </a:r>
                      <a:r>
                        <a:rPr/>
                        <a:t> </a:t>
                      </a:r>
                      <a:r>
                        <a:rPr/>
                        <a:t>list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.replace(a, b)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swap</a:t>
                      </a:r>
                      <a:r>
                        <a:rPr/>
                        <a:t> </a:t>
                      </a:r>
                      <a:r>
                        <a:rPr/>
                        <a:t>substrings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.find()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.index()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locate</a:t>
                      </a:r>
                      <a:r>
                        <a:rPr/>
                        <a:t> </a:t>
                      </a:r>
                      <a:r>
                        <a:rPr/>
                        <a:t>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.startswith()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.endswith()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edges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Strings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immutable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word[0] = "J"
TypeError: 'str' object does not
support item assignment
</a:t>
            </a:r>
          </a:p>
          <a:p>
            <a:pPr lvl="1"/>
            <a:r>
              <a:rPr/>
              <a:t>A string </a:t>
            </a:r>
            <a:r>
              <a:rPr b="1"/>
              <a:t>cannot be changed in place</a:t>
            </a:r>
          </a:p>
          <a:p>
            <a:pPr lvl="1"/>
            <a:r>
              <a:rPr/>
              <a:t>Methods </a:t>
            </a:r>
            <a:r>
              <a:rPr b="1"/>
              <a:t>return a new string</a:t>
            </a:r>
            <a:r>
              <a:rPr/>
              <a:t>; the original is untouched</a:t>
            </a:r>
          </a:p>
          <a:p>
            <a:pPr lvl="1"/>
            <a:r>
              <a:rPr/>
              <a:t>This is </a:t>
            </a:r>
            <a:r>
              <a:rPr i="1"/>
              <a:t>why</a:t>
            </a:r>
            <a:r>
              <a:rPr/>
              <a:t> we chain: each step hands a fresh string 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Let's</a:t>
            </a:r>
            <a:r>
              <a:rPr/>
              <a:t> </a:t>
            </a:r>
            <a:r>
              <a:rPr/>
              <a:t>clean</a:t>
            </a:r>
            <a:r>
              <a:rPr/>
              <a:t> </a:t>
            </a:r>
            <a:r>
              <a:rPr/>
              <a:t>up</a:t>
            </a:r>
            <a:r>
              <a:rPr/>
              <a:t> </a:t>
            </a:r>
            <a:r>
              <a:rPr/>
              <a:t>some</a:t>
            </a:r>
            <a:r>
              <a:rPr/>
              <a:t> </a:t>
            </a:r>
            <a:r>
              <a:rPr/>
              <a:t>messy</a:t>
            </a:r>
            <a:r>
              <a:rPr/>
              <a:t> </a:t>
            </a:r>
            <a:r>
              <a:rPr/>
              <a:t>text.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Slicing &amp; method chaining</a:t>
            </a:r>
          </a:p>
          <a:p>
            <a:pPr lvl="1"/>
            <a:r>
              <a:rPr/>
              <a:t>Take </a:t>
            </a:r>
            <a:r>
              <a:rPr>
                <a:latin typeface="Courier"/>
              </a:rPr>
              <a:t>"  Buy Milk, Eggs, Bread  "</a:t>
            </a:r>
          </a:p>
          <a:p>
            <a:pPr lvl="1"/>
            <a:r>
              <a:rPr>
                <a:latin typeface="Courier"/>
              </a:rPr>
              <a:t>.strip()</a:t>
            </a:r>
            <a:r>
              <a:rPr/>
              <a:t> → </a:t>
            </a:r>
            <a:r>
              <a:rPr>
                <a:latin typeface="Courier"/>
              </a:rPr>
              <a:t>.lower()</a:t>
            </a:r>
            <a:r>
              <a:rPr/>
              <a:t> → </a:t>
            </a:r>
            <a:r>
              <a:rPr>
                <a:latin typeface="Courier"/>
              </a:rPr>
              <a:t>.split(",")</a:t>
            </a:r>
          </a:p>
          <a:p>
            <a:pPr lvl="1"/>
            <a:r>
              <a:rPr/>
              <a:t>Index &amp; slice a word: </a:t>
            </a:r>
            <a:r>
              <a:rPr>
                <a:latin typeface="Courier"/>
              </a:rPr>
              <a:t>[0]</a:t>
            </a:r>
            <a:r>
              <a:rPr/>
              <a:t>, </a:t>
            </a:r>
            <a:r>
              <a:rPr>
                <a:latin typeface="Courier"/>
              </a:rPr>
              <a:t>[-1]</a:t>
            </a:r>
            <a:r>
              <a:rPr/>
              <a:t>, </a:t>
            </a:r>
            <a:r>
              <a:rPr>
                <a:latin typeface="Courier"/>
              </a:rPr>
              <a:t>[:3]</a:t>
            </a:r>
            <a:r>
              <a:rPr/>
              <a:t>, </a:t>
            </a:r>
            <a:r>
              <a:rPr>
                <a:latin typeface="Courier"/>
              </a:rPr>
              <a:t>[::-1]</a:t>
            </a:r>
          </a:p>
          <a:p>
            <a:pPr lvl="1"/>
            <a:r>
              <a:rPr/>
              <a:t>Rebuild clean with </a:t>
            </a:r>
            <a:r>
              <a:rPr>
                <a:latin typeface="Courier"/>
              </a:rPr>
              <a:t>", ".join(...)</a:t>
            </a:r>
          </a:p>
          <a:p>
            <a:pPr lvl="1"/>
            <a:r>
              <a:rPr/>
              <a:t>Prove the </a:t>
            </a:r>
            <a:r>
              <a:rPr b="1"/>
              <a:t>original is unchanged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Method</a:t>
            </a:r>
            <a:r>
              <a:rPr/>
              <a:t> </a:t>
            </a:r>
            <a:r>
              <a:rPr/>
              <a:t>chaining,</a:t>
            </a:r>
            <a:r>
              <a:rPr/>
              <a:t> </a:t>
            </a:r>
            <a:r>
              <a:rPr/>
              <a:t>step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raw = "  Buy Milk, Eggs, Bread  "
&gt;&gt;&gt; raw.strip().lower()
'buy milk, eggs, bread'
&gt;&gt;&gt; items = [w.strip() for w in
...          raw.strip().split(",")]
&gt;&gt;&gt; items
['Buy Milk', 'Eggs', 'Bread']
&gt;&gt;&gt; ", ".join(items)
'Buy Milk, Eggs, Bread'
</a:t>
            </a:r>
          </a:p>
          <a:p>
            <a:pPr lvl="0" marL="0" indent="0">
              <a:buNone/>
            </a:pPr>
            <a:r>
              <a:rPr/>
              <a:t>Each method returns a </a:t>
            </a:r>
            <a:r>
              <a:rPr b="1"/>
              <a:t>new</a:t>
            </a:r>
            <a:r>
              <a:rPr/>
              <a:t> string — </a:t>
            </a:r>
            <a:r>
              <a:rPr>
                <a:latin typeface="Courier"/>
              </a:rPr>
              <a:t>raw</a:t>
            </a:r>
            <a:r>
              <a:rPr/>
              <a:t> never changes.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One messy string, </a:t>
            </a:r>
            <a:r>
              <a:rPr b="1"/>
              <a:t>reshaped by chaining</a:t>
            </a:r>
            <a:r>
              <a:rPr/>
              <a:t> methods</a:t>
            </a:r>
          </a:p>
          <a:p>
            <a:pPr lvl="1"/>
            <a:r>
              <a:rPr>
                <a:latin typeface="Courier"/>
              </a:rPr>
              <a:t>split</a:t>
            </a:r>
            <a:r>
              <a:rPr/>
              <a:t> turns text into a list; </a:t>
            </a:r>
            <a:r>
              <a:rPr>
                <a:latin typeface="Courier"/>
              </a:rPr>
              <a:t>join</a:t>
            </a:r>
            <a:r>
              <a:rPr/>
              <a:t> turns a list into text</a:t>
            </a:r>
          </a:p>
          <a:p>
            <a:pPr lvl="1"/>
            <a:r>
              <a:rPr/>
              <a:t>Indexing and slicing pull out exactly the piece you want</a:t>
            </a:r>
          </a:p>
          <a:p>
            <a:pPr lvl="1"/>
            <a:r>
              <a:rPr/>
              <a:t>The original string stayed put — methods </a:t>
            </a:r>
            <a:r>
              <a:rPr b="1"/>
              <a:t>return new strings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Formatting</a:t>
            </a:r>
            <a:r>
              <a:rPr/>
              <a:t> </a:t>
            </a:r>
            <a:r>
              <a:rPr/>
              <a:t>output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f-strings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format</a:t>
            </a:r>
            <a:r>
              <a:rPr/>
              <a:t> </a:t>
            </a:r>
            <a:r>
              <a:rPr/>
              <a:t>mini-language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f-strings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everyday</a:t>
            </a:r>
            <a:r>
              <a:rPr/>
              <a:t> </a:t>
            </a:r>
            <a:r>
              <a:rPr/>
              <a:t>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name = "Eggs"
&gt;&gt;&gt; qty = 12
&gt;&gt;&gt; f"{name}: {qty}"
'Eggs: 12'
</a:t>
            </a:r>
          </a:p>
          <a:p>
            <a:pPr lvl="1"/>
            <a:r>
              <a:rPr/>
              <a:t>Prefix a string with </a:t>
            </a:r>
            <a:r>
              <a:rPr b="1">
                <a:latin typeface="Courier"/>
              </a:rPr>
              <a:t>f</a:t>
            </a:r>
            <a:r>
              <a:rPr/>
              <a:t>, put </a:t>
            </a:r>
            <a:r>
              <a:rPr b="1"/>
              <a:t>expressions in </a:t>
            </a:r>
            <a:r>
              <a:rPr b="1">
                <a:latin typeface="Courier"/>
              </a:rPr>
              <a:t>{ }</a:t>
            </a:r>
          </a:p>
          <a:p>
            <a:pPr lvl="1"/>
            <a:r>
              <a:rPr/>
              <a:t>Any expression works: </a:t>
            </a:r>
            <a:r>
              <a:rPr>
                <a:latin typeface="Courier"/>
              </a:rPr>
              <a:t>f"{qty * 2}"</a:t>
            </a:r>
            <a:r>
              <a:rPr/>
              <a:t>, </a:t>
            </a:r>
            <a:r>
              <a:rPr>
                <a:latin typeface="Courier"/>
              </a:rPr>
              <a:t>f"{name.upper()}"</a:t>
            </a:r>
          </a:p>
          <a:p>
            <a:pPr lvl="1"/>
            <a:r>
              <a:rPr/>
              <a:t>It evaluates </a:t>
            </a:r>
            <a:r>
              <a:rPr b="1"/>
              <a:t>immediately</a:t>
            </a:r>
            <a:r>
              <a:rPr/>
              <a:t> to an ordinary </a:t>
            </a:r>
            <a:r>
              <a:rPr>
                <a:latin typeface="Courier"/>
              </a:rPr>
              <a:t>str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Self-documenting</a:t>
            </a:r>
            <a:r>
              <a:rPr/>
              <a:t> </a:t>
            </a:r>
            <a:r>
              <a:rPr>
                <a:latin typeface="Courier"/>
              </a:rPr>
              <a:t>{value=}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qty = 12
&gt;&gt;&gt; f"{qty=}"
'qty=12'
&gt;&gt;&gt; f"{qty * 2 =}"
'qty * 2 =24'
</a:t>
            </a:r>
          </a:p>
          <a:p>
            <a:pPr lvl="1"/>
            <a:r>
              <a:rPr/>
              <a:t>Add </a:t>
            </a:r>
            <a:r>
              <a:rPr>
                <a:latin typeface="Courier"/>
              </a:rPr>
              <a:t>=</a:t>
            </a:r>
            <a:r>
              <a:rPr/>
              <a:t> inside the braces → prints </a:t>
            </a:r>
            <a:r>
              <a:rPr b="1"/>
              <a:t>the expression and its value</a:t>
            </a:r>
          </a:p>
          <a:p>
            <a:pPr lvl="1"/>
            <a:r>
              <a:rPr/>
              <a:t>A brilliant, fast </a:t>
            </a:r>
            <a:r>
              <a:rPr b="1"/>
              <a:t>debugging</a:t>
            </a:r>
            <a:r>
              <a:rPr/>
              <a:t> trick — no more </a:t>
            </a:r>
            <a:r>
              <a:rPr>
                <a:latin typeface="Courier"/>
              </a:rPr>
              <a:t>print("qty", qty)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format</a:t>
            </a:r>
            <a:r>
              <a:rPr/>
              <a:t> </a:t>
            </a:r>
            <a:r>
              <a:rPr/>
              <a:t>mini-language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{ value : [align][width][,][.prec][type] }
</a:t>
            </a:r>
          </a:p>
          <a:p>
            <a:pPr lvl="1"/>
            <a:r>
              <a:rPr b="1"/>
              <a:t>Width + align:</a:t>
            </a:r>
            <a:r>
              <a:rPr/>
              <a:t> </a:t>
            </a:r>
            <a:r>
              <a:rPr>
                <a:latin typeface="Courier"/>
              </a:rPr>
              <a:t>{name:&lt;10}</a:t>
            </a:r>
            <a:r>
              <a:rPr/>
              <a:t> left, </a:t>
            </a:r>
            <a:r>
              <a:rPr>
                <a:latin typeface="Courier"/>
              </a:rPr>
              <a:t>{n:&gt;8}</a:t>
            </a:r>
            <a:r>
              <a:rPr/>
              <a:t> right, </a:t>
            </a:r>
            <a:r>
              <a:rPr>
                <a:latin typeface="Courier"/>
              </a:rPr>
              <a:t>{x:^6}</a:t>
            </a:r>
            <a:r>
              <a:rPr/>
              <a:t> centre</a:t>
            </a:r>
          </a:p>
          <a:p>
            <a:pPr lvl="1"/>
            <a:r>
              <a:rPr b="1"/>
              <a:t>Thousands grouping:</a:t>
            </a:r>
            <a:r>
              <a:rPr/>
              <a:t> </a:t>
            </a:r>
            <a:r>
              <a:rPr>
                <a:latin typeface="Courier"/>
              </a:rPr>
              <a:t>{1234567:,}</a:t>
            </a:r>
            <a:r>
              <a:rPr/>
              <a:t> → </a:t>
            </a:r>
            <a:r>
              <a:rPr>
                <a:latin typeface="Courier"/>
              </a:rPr>
              <a:t>1,234,567</a:t>
            </a:r>
          </a:p>
          <a:p>
            <a:pPr lvl="1"/>
            <a:r>
              <a:rPr b="1"/>
              <a:t>Fixed decimals:</a:t>
            </a:r>
            <a:r>
              <a:rPr/>
              <a:t> </a:t>
            </a:r>
            <a:r>
              <a:rPr>
                <a:latin typeface="Courier"/>
              </a:rPr>
              <a:t>{3.14159:.2f}</a:t>
            </a:r>
            <a:r>
              <a:rPr/>
              <a:t> → </a:t>
            </a:r>
            <a:r>
              <a:rPr>
                <a:latin typeface="Courier"/>
              </a:rPr>
              <a:t>3.14</a:t>
            </a:r>
          </a:p>
          <a:p>
            <a:pPr lvl="1"/>
            <a:r>
              <a:rPr/>
              <a:t>Combine: </a:t>
            </a:r>
            <a:r>
              <a:rPr>
                <a:latin typeface="Courier"/>
              </a:rPr>
              <a:t>{price:&gt;10,.2f}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Let's</a:t>
            </a:r>
            <a:r>
              <a:rPr/>
              <a:t> </a:t>
            </a:r>
            <a:r>
              <a:rPr/>
              <a:t>format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tidy</a:t>
            </a:r>
            <a:r>
              <a:rPr/>
              <a:t> </a:t>
            </a:r>
            <a:r>
              <a:rPr/>
              <a:t>report</a:t>
            </a:r>
            <a:r>
              <a:rPr/>
              <a:t> </a:t>
            </a:r>
            <a:r>
              <a:rPr/>
              <a:t>line.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f-string formatting + t-string contrast</a:t>
            </a:r>
          </a:p>
          <a:p>
            <a:pPr lvl="1"/>
            <a:r>
              <a:rPr/>
              <a:t>Build an aligned row: </a:t>
            </a:r>
            <a:r>
              <a:rPr>
                <a:latin typeface="Courier"/>
              </a:rPr>
              <a:t>f"{name:&lt;10}{qty:&gt;4}{price:&gt;8.2f}"</a:t>
            </a:r>
          </a:p>
          <a:p>
            <a:pPr lvl="1"/>
            <a:r>
              <a:rPr/>
              <a:t>Show </a:t>
            </a:r>
            <a:r>
              <a:rPr>
                <a:latin typeface="Courier"/>
              </a:rPr>
              <a:t>,</a:t>
            </a:r>
            <a:r>
              <a:rPr/>
              <a:t> grouping and </a:t>
            </a:r>
            <a:r>
              <a:rPr>
                <a:latin typeface="Courier"/>
              </a:rPr>
              <a:t>{value=}</a:t>
            </a:r>
            <a:r>
              <a:rPr/>
              <a:t> debugging</a:t>
            </a:r>
          </a:p>
          <a:p>
            <a:pPr lvl="1"/>
            <a:r>
              <a:rPr/>
              <a:t>Write the same text as a </a:t>
            </a:r>
            <a:r>
              <a:rPr b="1">
                <a:latin typeface="Courier"/>
              </a:rPr>
              <a:t>t"..."</a:t>
            </a:r>
            <a:r>
              <a:rPr/>
              <a:t> t-string</a:t>
            </a:r>
          </a:p>
          <a:p>
            <a:pPr lvl="1"/>
            <a:r>
              <a:rPr>
                <a:latin typeface="Courier"/>
              </a:rPr>
              <a:t>type()</a:t>
            </a:r>
            <a:r>
              <a:rPr/>
              <a:t> it → it's a </a:t>
            </a:r>
            <a:r>
              <a:rPr b="1">
                <a:latin typeface="Courier"/>
              </a:rPr>
              <a:t>Template</a:t>
            </a:r>
            <a:r>
              <a:rPr/>
              <a:t>, not a </a:t>
            </a:r>
            <a:r>
              <a:rPr>
                <a:latin typeface="Courier"/>
              </a:rPr>
              <a:t>str</a:t>
            </a:r>
          </a:p>
          <a:p>
            <a:pPr lvl="1"/>
            <a:r>
              <a:rPr/>
              <a:t>Say in one line </a:t>
            </a:r>
            <a:r>
              <a:rPr b="1"/>
              <a:t>what t-strings are for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Aligned</a:t>
            </a:r>
            <a:r>
              <a:rPr/>
              <a:t> </a:t>
            </a:r>
            <a:r>
              <a:rPr/>
              <a:t>report</a:t>
            </a:r>
            <a:r>
              <a:rPr/>
              <a:t> </a:t>
            </a:r>
            <a:r>
              <a:rPr/>
              <a:t>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name, qty, price = "Eggs", 12, 3.5
&gt;&gt;&gt; f"{name:&lt;10}{qty:&gt;4}{price:&gt;8.2f}"
'Eggs        12    3.50'
&gt;&gt;&gt; f"{1234567.5:&gt;12,.2f}"
'1,234,567.50'
</a:t>
            </a:r>
          </a:p>
          <a:p>
            <a:pPr lvl="1"/>
            <a:r>
              <a:rPr>
                <a:latin typeface="Courier"/>
              </a:rPr>
              <a:t>&lt;10</a:t>
            </a:r>
            <a:r>
              <a:rPr/>
              <a:t> pads left to width 10; </a:t>
            </a:r>
            <a:r>
              <a:rPr>
                <a:latin typeface="Courier"/>
              </a:rPr>
              <a:t>&gt;8.2f</a:t>
            </a:r>
            <a:r>
              <a:rPr/>
              <a:t> right-aligns, 2 decimals</a:t>
            </a:r>
          </a:p>
          <a:p>
            <a:pPr lvl="1"/>
            <a:r>
              <a:rPr/>
              <a:t>Columns line up because every field has a </a:t>
            </a:r>
            <a:r>
              <a:rPr b="1"/>
              <a:t>fixed width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f-string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/>
              <a:t>t-string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name = "Eggs"
&gt;&gt;&gt; f"Item: {name}"          # f-string
'Item: Eggs'
&gt;&gt;&gt; t"Item: {name}"          # t-string
Template(strings=('Item: ', ''),
         interpolations=(...))
&gt;&gt;&gt; type(t"Item: {name}")
&lt;class 'string.templatelib.Template'&gt;
</a:t>
            </a:r>
          </a:p>
          <a:p>
            <a:pPr lvl="1"/>
            <a:r>
              <a:rPr/>
              <a:t>f-string → an immediate </a:t>
            </a:r>
            <a:r>
              <a:rPr b="1">
                <a:latin typeface="Courier"/>
              </a:rPr>
              <a:t>str</a:t>
            </a:r>
          </a:p>
          <a:p>
            <a:pPr lvl="1"/>
            <a:r>
              <a:rPr/>
              <a:t>t-string → a </a:t>
            </a:r>
            <a:r>
              <a:rPr b="1">
                <a:latin typeface="Courier"/>
              </a:rPr>
              <a:t>Template</a:t>
            </a:r>
            <a:r>
              <a:rPr/>
              <a:t> you can inspect first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Why</a:t>
            </a:r>
            <a:r>
              <a:rPr/>
              <a:t> </a:t>
            </a:r>
            <a:r>
              <a:rPr/>
              <a:t>t-strings</a:t>
            </a:r>
            <a:r>
              <a:rPr/>
              <a:t> </a:t>
            </a:r>
            <a:r>
              <a:rPr/>
              <a:t>exist</a:t>
            </a:r>
            <a:r>
              <a:rPr/>
              <a:t> </a:t>
            </a:r>
            <a:r>
              <a:rPr/>
              <a:t>(one</a:t>
            </a:r>
            <a:r>
              <a:rPr/>
              <a:t> </a:t>
            </a:r>
            <a:r>
              <a:rPr/>
              <a:t>beat)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</a:t>
            </a:r>
            <a:r>
              <a:rPr>
                <a:latin typeface="Courier"/>
              </a:rPr>
              <a:t>Template</a:t>
            </a:r>
            <a:r>
              <a:rPr/>
              <a:t> keeps the </a:t>
            </a:r>
            <a:r>
              <a:rPr b="1"/>
              <a:t>static parts</a:t>
            </a:r>
            <a:r>
              <a:rPr/>
              <a:t> and the </a:t>
            </a:r>
            <a:r>
              <a:rPr b="1"/>
              <a:t>values</a:t>
            </a:r>
            <a:r>
              <a:rPr/>
              <a:t> separate</a:t>
            </a:r>
          </a:p>
          <a:p>
            <a:pPr lvl="1"/>
            <a:r>
              <a:rPr/>
              <a:t>That lets library code </a:t>
            </a:r>
            <a:r>
              <a:rPr b="1"/>
              <a:t>sanitise values before</a:t>
            </a:r>
            <a:r>
              <a:rPr/>
              <a:t> building text</a:t>
            </a:r>
          </a:p>
          <a:p>
            <a:pPr lvl="1"/>
            <a:r>
              <a:rPr/>
              <a:t>The classic win: stop </a:t>
            </a:r>
            <a:r>
              <a:rPr b="1"/>
              <a:t>SQL injection</a:t>
            </a:r>
            <a:r>
              <a:rPr/>
              <a:t> / </a:t>
            </a:r>
            <a:r>
              <a:rPr b="1"/>
              <a:t>HTML (XSS)</a:t>
            </a:r>
            <a:r>
              <a:rPr/>
              <a:t> bugs</a:t>
            </a:r>
          </a:p>
          <a:p>
            <a:pPr lvl="1"/>
            <a:r>
              <a:rPr/>
              <a:t>New in </a:t>
            </a:r>
            <a:r>
              <a:rPr b="1"/>
              <a:t>3.14</a:t>
            </a:r>
            <a:r>
              <a:rPr/>
              <a:t> (PEP 750). In Part 1 we just </a:t>
            </a:r>
            <a:r>
              <a:rPr b="1"/>
              <a:t>recognise</a:t>
            </a:r>
            <a:r>
              <a:rPr/>
              <a:t> them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One f-string produced an aligned, grouped, 2-decimal row</a:t>
            </a:r>
          </a:p>
          <a:p>
            <a:pPr lvl="1"/>
            <a:r>
              <a:rPr>
                <a:latin typeface="Courier"/>
              </a:rPr>
              <a:t>{value=}</a:t>
            </a:r>
            <a:r>
              <a:rPr/>
              <a:t> printed both the expression and its value</a:t>
            </a:r>
          </a:p>
          <a:p>
            <a:pPr lvl="1"/>
            <a:r>
              <a:rPr/>
              <a:t>The </a:t>
            </a:r>
            <a:r>
              <a:rPr b="1"/>
              <a:t>same</a:t>
            </a:r>
            <a:r>
              <a:rPr/>
              <a:t> interpolation as a </a:t>
            </a:r>
            <a:r>
              <a:rPr>
                <a:latin typeface="Courier"/>
              </a:rPr>
              <a:t>t"..."</a:t>
            </a:r>
            <a:r>
              <a:rPr/>
              <a:t> made a </a:t>
            </a:r>
            <a:r>
              <a:rPr>
                <a:latin typeface="Courier"/>
              </a:rPr>
              <a:t>Template</a:t>
            </a:r>
            <a:r>
              <a:rPr/>
              <a:t>, not a </a:t>
            </a:r>
            <a:r>
              <a:rPr>
                <a:latin typeface="Courier"/>
              </a:rPr>
              <a:t>str</a:t>
            </a:r>
          </a:p>
          <a:p>
            <a:pPr lvl="1"/>
            <a:r>
              <a:rPr/>
              <a:t>You can now state how a t-string differs from an f-string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Bytes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encodings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Why</a:t>
            </a:r>
            <a:r>
              <a:rPr/>
              <a:t> </a:t>
            </a:r>
            <a:r>
              <a:rPr/>
              <a:t>text</a:t>
            </a:r>
            <a:r>
              <a:rPr/>
              <a:t> </a:t>
            </a:r>
            <a:r>
              <a:rPr/>
              <a:t>needs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translation</a:t>
            </a:r>
            <a:r>
              <a:rPr/>
              <a:t> </a:t>
            </a:r>
            <a:r>
              <a:rPr/>
              <a:t>step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str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>
                <a:latin typeface="Courier"/>
              </a:rPr>
              <a:t>bytes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</a:t>
            </a:r>
            <a:r>
              <a:rPr>
                <a:latin typeface="Courier"/>
              </a:rPr>
              <a:t>str</a:t>
            </a:r>
            <a:r>
              <a:rPr/>
              <a:t> is </a:t>
            </a:r>
            <a:r>
              <a:rPr b="1"/>
              <a:t>human text</a:t>
            </a:r>
            <a:r>
              <a:rPr/>
              <a:t> — characters</a:t>
            </a:r>
          </a:p>
          <a:p>
            <a:pPr lvl="1"/>
            <a:r>
              <a:rPr>
                <a:latin typeface="Courier"/>
              </a:rPr>
              <a:t>bytes</a:t>
            </a:r>
            <a:r>
              <a:rPr/>
              <a:t> is </a:t>
            </a:r>
            <a:r>
              <a:rPr b="1"/>
              <a:t>raw computer storage</a:t>
            </a:r>
            <a:r>
              <a:rPr/>
              <a:t> — numbers 0–255</a:t>
            </a:r>
          </a:p>
          <a:p>
            <a:pPr lvl="1"/>
            <a:r>
              <a:rPr/>
              <a:t>Files and networks move </a:t>
            </a:r>
            <a:r>
              <a:rPr b="1"/>
              <a:t>bytes</a:t>
            </a:r>
            <a:r>
              <a:rPr/>
              <a:t>, not characters</a:t>
            </a:r>
          </a:p>
          <a:p>
            <a:pPr lvl="1"/>
            <a:r>
              <a:rPr/>
              <a:t>So we need a rule to convert between them: an </a:t>
            </a:r>
            <a:r>
              <a:rPr b="1"/>
              <a:t>encoding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Encode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/>
              <a:t>decode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UTF-8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s = "café"
&gt;&gt;&gt; data = s.encode("utf-8")
&gt;&gt;&gt; data
b'caf\xc3\xa9'
&gt;&gt;&gt; data.decode("utf-8")
'café'
</a:t>
            </a:r>
          </a:p>
          <a:p>
            <a:pPr lvl="1"/>
            <a:r>
              <a:rPr b="1"/>
              <a:t>encode:</a:t>
            </a:r>
            <a:r>
              <a:rPr/>
              <a:t> </a:t>
            </a:r>
            <a:r>
              <a:rPr>
                <a:latin typeface="Courier"/>
              </a:rPr>
              <a:t>str</a:t>
            </a:r>
            <a:r>
              <a:rPr/>
              <a:t> → </a:t>
            </a:r>
            <a:r>
              <a:rPr>
                <a:latin typeface="Courier"/>
              </a:rPr>
              <a:t>bytes</a:t>
            </a:r>
            <a:r>
              <a:rPr/>
              <a:t> (text out to storage)</a:t>
            </a:r>
          </a:p>
          <a:p>
            <a:pPr lvl="1"/>
            <a:r>
              <a:rPr b="1"/>
              <a:t>decode:</a:t>
            </a:r>
            <a:r>
              <a:rPr/>
              <a:t> </a:t>
            </a:r>
            <a:r>
              <a:rPr>
                <a:latin typeface="Courier"/>
              </a:rPr>
              <a:t>bytes</a:t>
            </a:r>
            <a:r>
              <a:rPr/>
              <a:t> → </a:t>
            </a:r>
            <a:r>
              <a:rPr>
                <a:latin typeface="Courier"/>
              </a:rPr>
              <a:t>str</a:t>
            </a:r>
            <a:r>
              <a:rPr/>
              <a:t> (storage back to text)</a:t>
            </a:r>
          </a:p>
          <a:p>
            <a:pPr lvl="1"/>
            <a:r>
              <a:rPr b="1"/>
              <a:t>UTF-8</a:t>
            </a:r>
            <a:r>
              <a:rPr/>
              <a:t> is the standard default — use it unless told otherwise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Text and stored bytes are </a:t>
            </a:r>
            <a:r>
              <a:rPr b="1"/>
              <a:t>two different things</a:t>
            </a:r>
          </a:p>
          <a:p>
            <a:pPr lvl="1"/>
            <a:r>
              <a:rPr/>
              <a:t>An </a:t>
            </a:r>
            <a:r>
              <a:rPr b="1"/>
              <a:t>encoding</a:t>
            </a:r>
            <a:r>
              <a:rPr/>
              <a:t> is the agreed rule that maps between them</a:t>
            </a:r>
          </a:p>
          <a:p>
            <a:pPr lvl="1"/>
            <a:r>
              <a:rPr>
                <a:latin typeface="Courier"/>
              </a:rPr>
              <a:t>.encode()</a:t>
            </a:r>
            <a:r>
              <a:rPr/>
              <a:t> goes text → bytes, </a:t>
            </a:r>
            <a:r>
              <a:rPr>
                <a:latin typeface="Courier"/>
              </a:rPr>
              <a:t>.decode()</a:t>
            </a:r>
            <a:r>
              <a:rPr/>
              <a:t> goes bytes → text</a:t>
            </a:r>
          </a:p>
          <a:p>
            <a:pPr lvl="1"/>
            <a:r>
              <a:rPr/>
              <a:t>This matters the moment we touch </a:t>
            </a:r>
            <a:r>
              <a:rPr b="1"/>
              <a:t>files</a:t>
            </a:r>
            <a:r>
              <a:rPr/>
              <a:t> in Week 12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Wrap-up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week's</a:t>
            </a:r>
            <a:r>
              <a:rPr/>
              <a:t> </a:t>
            </a:r>
            <a:r>
              <a:rPr/>
              <a:t>homework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text-report</a:t>
            </a:r>
            <a:r>
              <a:rPr/>
              <a:t> </a:t>
            </a:r>
            <a:r>
              <a:rPr/>
              <a:t>formatter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Write </a:t>
            </a:r>
            <a:r>
              <a:rPr>
                <a:latin typeface="Courier"/>
              </a:rPr>
              <a:t>report.py</a:t>
            </a:r>
            <a:r>
              <a:rPr/>
              <a:t> with a few </a:t>
            </a:r>
            <a:r>
              <a:rPr>
                <a:latin typeface="Courier"/>
              </a:rPr>
              <a:t>(name, quantity, price)</a:t>
            </a:r>
            <a:r>
              <a:rPr/>
              <a:t> rows</a:t>
            </a:r>
          </a:p>
          <a:p>
            <a:pPr lvl="1">
              <a:buAutoNum type="arabicPeriod"/>
            </a:pPr>
            <a:r>
              <a:rPr/>
              <a:t>Clean any messy fields with </a:t>
            </a:r>
            <a:r>
              <a:rPr>
                <a:latin typeface="Courier"/>
              </a:rPr>
              <a:t>.strip()</a:t>
            </a:r>
            <a:r>
              <a:rPr/>
              <a:t> / slicing (Demo 5)</a:t>
            </a:r>
          </a:p>
          <a:p>
            <a:pPr lvl="1">
              <a:buAutoNum type="arabicPeriod"/>
            </a:pPr>
            <a:r>
              <a:rPr/>
              <a:t>Print an </a:t>
            </a:r>
            <a:r>
              <a:rPr b="1"/>
              <a:t>aligned table</a:t>
            </a:r>
            <a:r>
              <a:rPr/>
              <a:t> with f-strings + the mini-language</a:t>
            </a:r>
          </a:p>
          <a:p>
            <a:pPr lvl="1">
              <a:buAutoNum type="arabicPeriod"/>
            </a:pPr>
            <a:r>
              <a:rPr/>
              <a:t>Numbers show </a:t>
            </a:r>
            <a:r>
              <a:rPr b="1"/>
              <a:t>2 decimals</a:t>
            </a:r>
            <a:r>
              <a:rPr/>
              <a:t> and </a:t>
            </a:r>
            <a:r>
              <a:rPr b="1"/>
              <a:t>thousands grouping</a:t>
            </a:r>
          </a:p>
          <a:p>
            <a:pPr lvl="1">
              <a:buAutoNum type="arabicPeriod"/>
            </a:pPr>
            <a:r>
              <a:rPr/>
              <a:t>Add a short comment sketching </a:t>
            </a:r>
            <a:r>
              <a:rPr b="1"/>
              <a:t>one line as a t-string</a:t>
            </a:r>
            <a:r>
              <a:rPr/>
              <a:t> + why type differs</a:t>
            </a:r>
          </a:p>
          <a:p>
            <a:pPr lvl="0" marL="0" indent="0">
              <a:buNone/>
            </a:pPr>
            <a:r>
              <a:rPr/>
              <a:t>Mirror </a:t>
            </a:r>
            <a:r>
              <a:rPr b="1"/>
              <a:t>Demo 5</a:t>
            </a:r>
            <a:r>
              <a:rPr/>
              <a:t> then </a:t>
            </a:r>
            <a:r>
              <a:rPr b="1"/>
              <a:t>Demo 6</a:t>
            </a:r>
            <a:r>
              <a:rPr/>
              <a:t> from the recording.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Next</a:t>
            </a:r>
            <a:r>
              <a:rPr/>
              <a:t> </a:t>
            </a:r>
            <a:r>
              <a:rPr/>
              <a:t>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Week 4 — Control Flow &amp; Pattern Matching</a:t>
            </a:r>
          </a:p>
          <a:p>
            <a:pPr lvl="1"/>
            <a:r>
              <a:rPr/>
              <a:t>We'll use these strings to </a:t>
            </a:r>
            <a:r>
              <a:rPr b="1"/>
              <a:t>build conditions and loop bodies</a:t>
            </a:r>
          </a:p>
          <a:p>
            <a:pPr lvl="1"/>
            <a:r>
              <a:rPr>
                <a:latin typeface="Courier"/>
              </a:rPr>
              <a:t>match</a:t>
            </a:r>
            <a:r>
              <a:rPr/>
              <a:t>/</a:t>
            </a:r>
            <a:r>
              <a:rPr>
                <a:latin typeface="Courier"/>
              </a:rPr>
              <a:t>case</a:t>
            </a:r>
            <a:r>
              <a:rPr/>
              <a:t> will parse command strings like the ones you cleaned today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See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2026-06-25T10:49:10Z</dcterms:created>
  <dcterms:modified xsi:type="dcterms:W3CDTF">2026-06-25T10:49:10Z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