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Functions,</a:t>
            </a:r>
            <a:r>
              <a:rPr/>
              <a:t> </a:t>
            </a:r>
            <a:r>
              <a:rPr/>
              <a:t>Scope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Type</a:t>
            </a:r>
            <a:r>
              <a:rPr/>
              <a:t> </a:t>
            </a:r>
            <a:r>
              <a:rPr/>
              <a:t>Hints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today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turning</a:t>
            </a:r>
            <a:r>
              <a:rPr/>
              <a:t> </a:t>
            </a:r>
            <a:r>
              <a:rPr/>
              <a:t>point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course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Control</a:t>
            </a:r>
            <a:r>
              <a:rPr/>
              <a:t> </a:t>
            </a:r>
            <a:r>
              <a:rPr/>
              <a:t>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Branching with </a:t>
            </a:r>
            <a:r>
              <a:rPr b="1">
                <a:latin typeface="Courier"/>
              </a:rPr>
              <a:t>if</a:t>
            </a:r>
            <a:r>
              <a:rPr b="1"/>
              <a:t> / </a:t>
            </a:r>
            <a:r>
              <a:rPr b="1">
                <a:latin typeface="Courier"/>
              </a:rPr>
              <a:t>elif</a:t>
            </a:r>
            <a:r>
              <a:rPr b="1"/>
              <a:t> / </a:t>
            </a:r>
            <a:r>
              <a:rPr b="1">
                <a:latin typeface="Courier"/>
              </a:rPr>
              <a:t>else</a:t>
            </a:r>
            <a:r>
              <a:rPr/>
              <a:t> and </a:t>
            </a:r>
            <a:r>
              <a:rPr b="1"/>
              <a:t>truthiness</a:t>
            </a:r>
          </a:p>
          <a:p>
            <a:pPr lvl="1"/>
            <a:r>
              <a:rPr/>
              <a:t>Looping with </a:t>
            </a:r>
            <a:r>
              <a:rPr b="1">
                <a:latin typeface="Courier"/>
              </a:rPr>
              <a:t>for</a:t>
            </a:r>
            <a:r>
              <a:rPr/>
              <a:t>, </a:t>
            </a:r>
            <a:r>
              <a:rPr b="1">
                <a:latin typeface="Courier"/>
              </a:rPr>
              <a:t>while</a:t>
            </a:r>
            <a:r>
              <a:rPr/>
              <a:t>, and </a:t>
            </a:r>
            <a:r>
              <a:rPr b="1">
                <a:latin typeface="Courier"/>
              </a:rPr>
              <a:t>range()</a:t>
            </a:r>
          </a:p>
          <a:p>
            <a:pPr lvl="1"/>
            <a:r>
              <a:rPr/>
              <a:t>Steering: </a:t>
            </a:r>
            <a:r>
              <a:rPr b="1">
                <a:latin typeface="Courier"/>
              </a:rPr>
              <a:t>break</a:t>
            </a:r>
            <a:r>
              <a:rPr/>
              <a:t>, </a:t>
            </a:r>
            <a:r>
              <a:rPr b="1">
                <a:latin typeface="Courier"/>
              </a:rPr>
              <a:t>continue</a:t>
            </a:r>
            <a:r>
              <a:rPr/>
              <a:t>, </a:t>
            </a:r>
            <a:r>
              <a:rPr b="1">
                <a:latin typeface="Courier"/>
              </a:rPr>
              <a:t>pass</a:t>
            </a:r>
            <a:r>
              <a:rPr/>
              <a:t>, loop-</a:t>
            </a:r>
            <a:r>
              <a:rPr b="1">
                <a:latin typeface="Courier"/>
              </a:rPr>
              <a:t>else</a:t>
            </a:r>
          </a:p>
          <a:p>
            <a:pPr lvl="1"/>
            <a:r>
              <a:rPr/>
              <a:t>Dispatching on shape with </a:t>
            </a:r>
            <a:r>
              <a:rPr b="1">
                <a:latin typeface="Courier"/>
              </a:rPr>
              <a:t>match</a:t>
            </a:r>
            <a:r>
              <a:rPr b="1"/>
              <a:t> / </a:t>
            </a:r>
            <a:r>
              <a:rPr b="1">
                <a:latin typeface="Courier"/>
              </a:rPr>
              <a:t>case</a:t>
            </a:r>
          </a:p>
          <a:p>
            <a:pPr lvl="0" marL="1270000" indent="0">
              <a:buNone/>
            </a:pPr>
            <a:r>
              <a:rPr sz="2000"/>
              <a:t>Your code can decide and repeat. Today it learns to be </a:t>
            </a:r>
            <a:r>
              <a:rPr sz="2000" b="1"/>
              <a:t>reused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you’ll understand how to:</a:t>
            </a:r>
          </a:p>
          <a:p>
            <a:pPr lvl="1"/>
            <a:r>
              <a:rPr/>
              <a:t>Define functions with </a:t>
            </a:r>
            <a:r>
              <a:rPr b="1">
                <a:latin typeface="Courier"/>
              </a:rPr>
              <a:t>def</a:t>
            </a:r>
            <a:r>
              <a:rPr/>
              <a:t>, call them, and </a:t>
            </a:r>
            <a:r>
              <a:rPr b="1">
                <a:latin typeface="Courier"/>
              </a:rPr>
              <a:t>return</a:t>
            </a:r>
            <a:r>
              <a:rPr/>
              <a:t> values</a:t>
            </a:r>
          </a:p>
          <a:p>
            <a:pPr lvl="1"/>
            <a:r>
              <a:rPr/>
              <a:t>Write </a:t>
            </a:r>
            <a:r>
              <a:rPr b="1"/>
              <a:t>any</a:t>
            </a:r>
            <a:r>
              <a:rPr/>
              <a:t> signature: positional, keyword, default, </a:t>
            </a:r>
            <a:r>
              <a:rPr>
                <a:latin typeface="Courier"/>
              </a:rPr>
              <a:t>*args</a:t>
            </a:r>
            <a:r>
              <a:rPr/>
              <a:t>, </a:t>
            </a:r>
            <a:r>
              <a:rPr>
                <a:latin typeface="Courier"/>
              </a:rPr>
              <a:t>**kwargs</a:t>
            </a:r>
            <a:r>
              <a:rPr/>
              <a:t>, keyword-only, positional-only</a:t>
            </a:r>
          </a:p>
          <a:p>
            <a:pPr lvl="1"/>
            <a:r>
              <a:rPr/>
              <a:t>Explain </a:t>
            </a:r>
            <a:r>
              <a:rPr b="1"/>
              <a:t>scope</a:t>
            </a:r>
            <a:r>
              <a:rPr/>
              <a:t> with </a:t>
            </a:r>
            <a:r>
              <a:rPr b="1"/>
              <a:t>LEGB</a:t>
            </a:r>
            <a:r>
              <a:rPr/>
              <a:t>, and use </a:t>
            </a:r>
            <a:r>
              <a:rPr>
                <a:latin typeface="Courier"/>
              </a:rPr>
              <a:t>global</a:t>
            </a:r>
            <a:r>
              <a:rPr/>
              <a:t> / </a:t>
            </a:r>
            <a:r>
              <a:rPr>
                <a:latin typeface="Courier"/>
              </a:rPr>
              <a:t>nonlocal</a:t>
            </a:r>
          </a:p>
          <a:p>
            <a:pPr lvl="1"/>
            <a:r>
              <a:rPr/>
              <a:t>Write </a:t>
            </a:r>
            <a:r>
              <a:rPr b="1"/>
              <a:t>lambdas</a:t>
            </a:r>
            <a:r>
              <a:rPr/>
              <a:t>, and annotate code with </a:t>
            </a:r>
            <a:r>
              <a:rPr b="1"/>
              <a:t>type hints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unit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reuse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def</a:t>
            </a:r>
            <a:r>
              <a:rPr/>
              <a:t>,</a:t>
            </a:r>
            <a:r>
              <a:rPr/>
              <a:t> </a:t>
            </a:r>
            <a:r>
              <a:rPr>
                <a:latin typeface="Courier"/>
              </a:rPr>
              <a:t>return</a:t>
            </a:r>
            <a:r>
              <a:rPr/>
              <a:t>,</a:t>
            </a:r>
            <a:r>
              <a:rPr/>
              <a:t> </a:t>
            </a:r>
            <a:r>
              <a:rPr/>
              <a:t>docstrings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Defining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greet(name):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f"Hi,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  <a:br/>
            <a:br/>
            <a:r>
              <a:rPr>
                <a:latin typeface="Courier"/>
              </a:rPr>
              <a:t>message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greet(</a:t>
            </a:r>
            <a:r>
              <a:rPr>
                <a:solidFill>
                  <a:srgbClr val="4070A0"/>
                </a:solidFill>
                <a:latin typeface="Courier"/>
              </a:rPr>
              <a:t>"Asha"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-&gt; 'Hi, Asha!'</a:t>
            </a:r>
          </a:p>
          <a:p>
            <a:pPr lvl="1"/>
            <a:r>
              <a:rPr b="1">
                <a:latin typeface="Courier"/>
              </a:rPr>
              <a:t>def</a:t>
            </a:r>
            <a:r>
              <a:rPr/>
              <a:t> names it · the </a:t>
            </a:r>
            <a:r>
              <a:rPr b="1"/>
              <a:t>body</a:t>
            </a:r>
            <a:r>
              <a:rPr/>
              <a:t> is indented, like a loop</a:t>
            </a:r>
          </a:p>
          <a:p>
            <a:pPr lvl="1"/>
            <a:r>
              <a:rPr b="1"/>
              <a:t>Parameters</a:t>
            </a:r>
            <a:r>
              <a:rPr/>
              <a:t> are the names in the </a:t>
            </a:r>
            <a:r>
              <a:rPr>
                <a:latin typeface="Courier"/>
              </a:rPr>
              <a:t>def</a:t>
            </a:r>
            <a:r>
              <a:rPr/>
              <a:t> line</a:t>
            </a:r>
          </a:p>
          <a:p>
            <a:pPr lvl="1"/>
            <a:r>
              <a:rPr b="1"/>
              <a:t>Arguments</a:t>
            </a:r>
            <a:r>
              <a:rPr/>
              <a:t> are the values you pass at the call</a:t>
            </a:r>
          </a:p>
          <a:p>
            <a:pPr lvl="1"/>
            <a:r>
              <a:rPr/>
              <a:t>Defining ≠ running — the body runs only when </a:t>
            </a:r>
            <a:r>
              <a:rPr b="1"/>
              <a:t>called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return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invisible</a:t>
            </a:r>
            <a:r>
              <a:rPr/>
              <a:t> </a:t>
            </a:r>
            <a:r>
              <a:rPr>
                <a:latin typeface="Courier"/>
              </a:rPr>
              <a:t>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add(a, b):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          </a:t>
            </a:r>
            <a:r>
              <a:rPr i="1">
                <a:solidFill>
                  <a:srgbClr val="60A0B0"/>
                </a:solidFill>
                <a:latin typeface="Courier"/>
              </a:rPr>
              <a:t># hands a value back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shout(text):</a:t>
            </a:r>
            <a:br/>
            <a:r>
              <a:rPr>
                <a:latin typeface="Courier"/>
              </a:rPr>
              <a:t>    print(text.upper())   </a:t>
            </a:r>
            <a:r>
              <a:rPr i="1">
                <a:solidFill>
                  <a:srgbClr val="60A0B0"/>
                </a:solidFill>
                <a:latin typeface="Courier"/>
              </a:rPr>
              <a:t># prints, returns nothing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repr(shout("hi"))
'None'</a:t>
            </a:r>
          </a:p>
          <a:p>
            <a:pPr lvl="1"/>
            <a:r>
              <a:rPr/>
              <a:t>No </a:t>
            </a:r>
            <a:r>
              <a:rPr>
                <a:latin typeface="Courier"/>
              </a:rPr>
              <a:t>return</a:t>
            </a:r>
            <a:r>
              <a:rPr/>
              <a:t>? You still get </a:t>
            </a:r>
            <a:r>
              <a:rPr b="1">
                <a:latin typeface="Courier"/>
              </a:rPr>
              <a:t>None</a:t>
            </a:r>
            <a:r>
              <a:rPr/>
              <a:t> back</a:t>
            </a:r>
          </a:p>
          <a:p>
            <a:pPr lvl="1"/>
            <a:r>
              <a:rPr>
                <a:latin typeface="Courier"/>
              </a:rPr>
              <a:t>print</a:t>
            </a:r>
            <a:r>
              <a:rPr/>
              <a:t> </a:t>
            </a:r>
            <a:r>
              <a:rPr b="1"/>
              <a:t>shows</a:t>
            </a:r>
            <a:r>
              <a:rPr/>
              <a:t>; </a:t>
            </a:r>
            <a:r>
              <a:rPr>
                <a:latin typeface="Courier"/>
              </a:rPr>
              <a:t>return</a:t>
            </a:r>
            <a:r>
              <a:rPr/>
              <a:t> </a:t>
            </a:r>
            <a:r>
              <a:rPr b="1"/>
              <a:t>hands back</a:t>
            </a:r>
            <a:r>
              <a:rPr/>
              <a:t> — very different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Docstrings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>
                <a:latin typeface="Courier"/>
              </a:rPr>
              <a:t>help()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greet(name: str, greeting: str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str: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"""Return a friendly greeting."""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greeting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help(greet)
Help on function greet in module __main__:
greet(name: str, greeting: str = 'Hi') -&gt; str
    Return a friendly greeting.</a:t>
            </a:r>
          </a:p>
          <a:p>
            <a:pPr lvl="0" marL="0" indent="0">
              <a:buNone/>
            </a:pPr>
            <a:r>
              <a:rPr/>
              <a:t>A </a:t>
            </a:r>
            <a:r>
              <a:rPr b="1"/>
              <a:t>docstring</a:t>
            </a:r>
            <a:r>
              <a:rPr/>
              <a:t> is the first string in the body — </a:t>
            </a:r>
            <a:r>
              <a:rPr>
                <a:latin typeface="Courier"/>
              </a:rPr>
              <a:t>help()</a:t>
            </a:r>
            <a:r>
              <a:rPr/>
              <a:t> reads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write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kind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signature.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argument-grammar tour</a:t>
            </a:r>
          </a:p>
          <a:p>
            <a:pPr lvl="1"/>
            <a:r>
              <a:rPr>
                <a:latin typeface="Courier"/>
              </a:rPr>
              <a:t>def greet(name, greeting="Hi")</a:t>
            </a:r>
            <a:r>
              <a:rPr/>
              <a:t> — positional, keyword, default</a:t>
            </a:r>
          </a:p>
          <a:p>
            <a:pPr lvl="1"/>
            <a:r>
              <a:rPr/>
              <a:t>Add </a:t>
            </a:r>
            <a:r>
              <a:rPr b="1">
                <a:latin typeface="Courier"/>
              </a:rPr>
              <a:t>*args</a:t>
            </a:r>
            <a:r>
              <a:rPr/>
              <a:t> and </a:t>
            </a:r>
            <a:r>
              <a:rPr b="1">
                <a:latin typeface="Courier"/>
              </a:rPr>
              <a:t>**kwargs</a:t>
            </a:r>
            <a:r>
              <a:rPr/>
              <a:t> — see what they capture</a:t>
            </a:r>
          </a:p>
          <a:p>
            <a:pPr lvl="1"/>
            <a:r>
              <a:rPr b="1"/>
              <a:t>Keyword-only</a:t>
            </a:r>
            <a:r>
              <a:rPr/>
              <a:t> after </a:t>
            </a:r>
            <a:r>
              <a:rPr>
                <a:latin typeface="Courier"/>
              </a:rPr>
              <a:t>*</a:t>
            </a:r>
            <a:r>
              <a:rPr/>
              <a:t> · </a:t>
            </a:r>
            <a:r>
              <a:rPr b="1"/>
              <a:t>positional-only</a:t>
            </a:r>
            <a:r>
              <a:rPr/>
              <a:t> before </a:t>
            </a:r>
            <a:r>
              <a:rPr>
                <a:latin typeface="Courier"/>
              </a:rPr>
              <a:t>/</a:t>
            </a:r>
          </a:p>
          <a:p>
            <a:pPr lvl="1"/>
            <a:r>
              <a:rPr/>
              <a:t>The </a:t>
            </a:r>
            <a:r>
              <a:rPr b="1"/>
              <a:t>mutable-default trap</a:t>
            </a:r>
            <a:r>
              <a:rPr/>
              <a:t> — and the </a:t>
            </a:r>
            <a:r>
              <a:rPr>
                <a:latin typeface="Courier"/>
              </a:rPr>
              <a:t>None</a:t>
            </a:r>
            <a:r>
              <a:rPr/>
              <a:t> fix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Positional,</a:t>
            </a:r>
            <a:r>
              <a:rPr/>
              <a:t> </a:t>
            </a:r>
            <a:r>
              <a:rPr/>
              <a:t>keyword,</a:t>
            </a:r>
            <a:r>
              <a:rPr/>
              <a:t> </a:t>
            </a:r>
            <a:r>
              <a:rPr/>
              <a:t>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def greet(name, greeting="Hi"):
...     return f"{greeting}, {name}!"
&gt;&gt;&gt; greet("Asha")                        # positional
'Hi, Asha!'
&gt;&gt;&gt; greet("Asha", "Hello")               # override default
'Hello, Asha!'
&gt;&gt;&gt; greet(greeting="Welcome", name="Ravi")   # keyword — any order
'Welcome, Ravi!'
&gt;&gt;&gt; greet()
TypeError: greet() missing 1 required positional argument: 'name'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*args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>
                <a:latin typeface="Courier"/>
              </a:rPr>
              <a:t>**kwargs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def report(*args, **kwargs):
...     return f"args={args} kwargs={kwargs}"
&gt;&gt;&gt; report(1, 2, 3)
'args=(1, 2, 3) kwargs={}'
&gt;&gt;&gt; report(1, 2, mode="fast", debug=True)
"args=(1, 2) kwargs={'mode': 'fast', 'debug': True}"</a:t>
            </a:r>
          </a:p>
          <a:p>
            <a:pPr lvl="1"/>
            <a:r>
              <a:rPr>
                <a:latin typeface="Courier"/>
              </a:rPr>
              <a:t>*args</a:t>
            </a:r>
            <a:r>
              <a:rPr/>
              <a:t> → leftover </a:t>
            </a:r>
            <a:r>
              <a:rPr b="1"/>
              <a:t>positionals</a:t>
            </a:r>
            <a:r>
              <a:rPr/>
              <a:t> as a </a:t>
            </a:r>
            <a:r>
              <a:rPr b="1"/>
              <a:t>tuple</a:t>
            </a:r>
          </a:p>
          <a:p>
            <a:pPr lvl="1"/>
            <a:r>
              <a:rPr>
                <a:latin typeface="Courier"/>
              </a:rPr>
              <a:t>**kwargs</a:t>
            </a:r>
            <a:r>
              <a:rPr/>
              <a:t> → leftover </a:t>
            </a:r>
            <a:r>
              <a:rPr b="1"/>
              <a:t>keywords</a:t>
            </a:r>
            <a:r>
              <a:rPr/>
              <a:t> as a </a:t>
            </a:r>
            <a:r>
              <a:rPr b="1"/>
              <a:t>dict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*</a:t>
            </a:r>
            <a:r>
              <a:rPr/>
              <a:t> and </a:t>
            </a:r>
            <a:r>
              <a:rPr>
                <a:latin typeface="Courier"/>
              </a:rPr>
              <a:t>**</a:t>
            </a:r>
            <a:r>
              <a:rPr/>
              <a:t> are the syntax; the names are convention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Keyword-only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positional-only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def make_task(title, *, priority="normal"):
...     return f"{title!r} priority={priority}"
&gt;&gt;&gt; make_task("Buy milk", "high")
TypeError: make_task() takes 1 positional argument but 2 were given
&gt;&gt;&gt; def power(base, exp, /):
...     return base ** exp
&gt;&gt;&gt; power(base=2, exp=10)
TypeError: power() got some positional-only arguments
           passed as keyword arguments: 'base, exp'</a:t>
            </a:r>
          </a:p>
          <a:p>
            <a:pPr lvl="0" marL="0" indent="0">
              <a:buNone/>
            </a:pPr>
            <a:r>
              <a:rPr/>
              <a:t>Everything </a:t>
            </a:r>
            <a:r>
              <a:rPr b="1"/>
              <a:t>after </a:t>
            </a:r>
            <a:r>
              <a:rPr b="1">
                <a:latin typeface="Courier"/>
              </a:rPr>
              <a:t>*</a:t>
            </a:r>
            <a:r>
              <a:rPr/>
              <a:t> must be named · everything </a:t>
            </a:r>
            <a:r>
              <a:rPr b="1"/>
              <a:t>before </a:t>
            </a:r>
            <a:r>
              <a:rPr b="1">
                <a:latin typeface="Courier"/>
              </a:rPr>
              <a:t>/</a:t>
            </a:r>
            <a:r>
              <a:rPr/>
              <a:t> must not.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mutable-default</a:t>
            </a:r>
            <a:r>
              <a:rPr/>
              <a:t> </a:t>
            </a:r>
            <a:r>
              <a:rPr/>
              <a:t>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def add_item(item, basket=[]):
...     basket.append(item)
...     return basket
&gt;&gt;&gt; add_item("a")
['a']
&gt;&gt;&gt; add_item("b")
['a', 'b']          # ← where did "a" come from?!
&gt;&gt;&gt; add_item("c")
['a', 'b', 'c']</a:t>
            </a:r>
          </a:p>
          <a:p>
            <a:pPr lvl="0" marL="0" indent="0">
              <a:buNone/>
            </a:pPr>
            <a:r>
              <a:rPr/>
              <a:t>Defaults are evaluated </a:t>
            </a:r>
            <a:r>
              <a:rPr b="1"/>
              <a:t>once, at </a:t>
            </a:r>
            <a:r>
              <a:rPr b="1">
                <a:latin typeface="Courier"/>
              </a:rPr>
              <a:t>def</a:t>
            </a:r>
            <a:r>
              <a:rPr b="1"/>
              <a:t> time</a:t>
            </a:r>
            <a:r>
              <a:rPr/>
              <a:t> — that one list is </a:t>
            </a:r>
            <a:r>
              <a:rPr b="1"/>
              <a:t>shared forever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fix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Ruff</a:t>
            </a:r>
            <a:r>
              <a:rPr/>
              <a:t> </a:t>
            </a:r>
            <a:r>
              <a:rPr/>
              <a:t>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add_item(item, basket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basket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basket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          </a:t>
            </a:r>
            <a:r>
              <a:rPr i="1">
                <a:solidFill>
                  <a:srgbClr val="60A0B0"/>
                </a:solidFill>
                <a:latin typeface="Courier"/>
              </a:rPr>
              <a:t># a fresh list per call</a:t>
            </a:r>
            <a:br/>
            <a:r>
              <a:rPr>
                <a:latin typeface="Courier"/>
              </a:rPr>
              <a:t>    basket.append(item)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basket</a:t>
            </a:r>
          </a:p>
          <a:p>
            <a:pPr lvl="0" indent="0">
              <a:buNone/>
            </a:pPr>
            <a:r>
              <a:rPr>
                <a:latin typeface="Courier"/>
              </a:rPr>
              <a:t>$ ruff check --select B006 trap.py
B006 Do not use mutable data structures for argument defaults
 --&gt; trap.py:1:27
help: Replace with `None`; initialize within function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B006</a:t>
            </a:r>
            <a:r>
              <a:rPr/>
              <a:t> is </a:t>
            </a:r>
            <a:r>
              <a:rPr b="1"/>
              <a:t>not</a:t>
            </a:r>
            <a:r>
              <a:rPr/>
              <a:t> in Ruff’s default rules — you </a:t>
            </a:r>
            <a:r>
              <a:rPr b="1"/>
              <a:t>opt in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One function read </a:t>
            </a:r>
            <a:r>
              <a:rPr b="1"/>
              <a:t>four</a:t>
            </a:r>
            <a:r>
              <a:rPr/>
              <a:t> ways: positional, keyword, default, error</a:t>
            </a:r>
          </a:p>
          <a:p>
            <a:pPr lvl="1"/>
            <a:r>
              <a:rPr>
                <a:latin typeface="Courier"/>
              </a:rPr>
              <a:t>*args</a:t>
            </a:r>
            <a:r>
              <a:rPr/>
              <a:t> / </a:t>
            </a:r>
            <a:r>
              <a:rPr>
                <a:latin typeface="Courier"/>
              </a:rPr>
              <a:t>**kwargs</a:t>
            </a:r>
            <a:r>
              <a:rPr/>
              <a:t> soak up </a:t>
            </a:r>
            <a:r>
              <a:rPr b="1"/>
              <a:t>whatever’s left</a:t>
            </a:r>
          </a:p>
          <a:p>
            <a:pPr lvl="1"/>
            <a:r>
              <a:rPr>
                <a:latin typeface="Courier"/>
              </a:rPr>
              <a:t>*</a:t>
            </a:r>
            <a:r>
              <a:rPr/>
              <a:t> forces </a:t>
            </a:r>
            <a:r>
              <a:rPr b="1"/>
              <a:t>names</a:t>
            </a:r>
            <a:r>
              <a:rPr/>
              <a:t>; </a:t>
            </a:r>
            <a:r>
              <a:rPr>
                <a:latin typeface="Courier"/>
              </a:rPr>
              <a:t>/</a:t>
            </a:r>
            <a:r>
              <a:rPr/>
              <a:t> forbids them</a:t>
            </a:r>
          </a:p>
          <a:p>
            <a:pPr lvl="1"/>
            <a:r>
              <a:rPr/>
              <a:t>A mutable default is </a:t>
            </a:r>
            <a:r>
              <a:rPr b="1"/>
              <a:t>created once</a:t>
            </a:r>
            <a:r>
              <a:rPr/>
              <a:t> and shared — use </a:t>
            </a:r>
            <a:r>
              <a:rPr>
                <a:latin typeface="Courier"/>
              </a:rPr>
              <a:t>None</a:t>
            </a:r>
          </a:p>
          <a:p>
            <a:pPr lvl="1"/>
            <a:r>
              <a:rPr/>
              <a:t>Ruff catches it, </a:t>
            </a:r>
            <a:r>
              <a:rPr b="1"/>
              <a:t>but only if you ask for </a:t>
            </a:r>
            <a:r>
              <a:rPr b="1">
                <a:latin typeface="Courier"/>
              </a:rPr>
              <a:t>B006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names</a:t>
            </a:r>
            <a:r>
              <a:rPr/>
              <a:t> </a:t>
            </a:r>
            <a:r>
              <a:rPr/>
              <a:t>live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Scope,</a:t>
            </a:r>
            <a:r>
              <a:rPr/>
              <a:t> </a:t>
            </a:r>
            <a:r>
              <a:rPr/>
              <a:t>LEGB,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closures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Local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"global x"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show():</a:t>
            </a:r>
            <a:br/>
            <a:r>
              <a:rPr>
                <a:latin typeface="Courier"/>
              </a:rPr>
              <a:t>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"local x"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# a NEW name, inside this call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x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show()
'local x'
&gt;&gt;&gt; x
'global x'             # untouched</a:t>
            </a:r>
          </a:p>
          <a:p>
            <a:pPr lvl="0" marL="0" indent="0">
              <a:buNone/>
            </a:pPr>
            <a:r>
              <a:rPr/>
              <a:t>Assigning inside a function makes a </a:t>
            </a:r>
            <a:r>
              <a:rPr b="1"/>
              <a:t>local</a:t>
            </a:r>
            <a:r>
              <a:rPr/>
              <a:t> name by default.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LEGB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four-step</a:t>
            </a:r>
            <a:r>
              <a:rPr/>
              <a:t> </a:t>
            </a:r>
            <a:r>
              <a:rPr/>
              <a:t>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When Python meets a name, it looks in </a:t>
            </a:r>
            <a:r>
              <a:rPr b="1"/>
              <a:t>this order</a:t>
            </a:r>
            <a:r>
              <a:rPr/>
              <a:t> and stops at the first hit: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names</a:t>
                      </a:r>
                      <a:r>
                        <a:rPr/>
                        <a:t> </a:t>
                      </a:r>
                      <a:r>
                        <a:rPr/>
                        <a:t>assigned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 i="1"/>
                        <a:t>this</a:t>
                      </a:r>
                      <a:r>
                        <a:rPr/>
                        <a:t> </a:t>
                      </a:r>
                      <a:r>
                        <a:rPr/>
                        <a:t>function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Enclosing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outer</a:t>
                      </a:r>
                      <a:r>
                        <a:rPr/>
                        <a:t> </a:t>
                      </a:r>
                      <a:r>
                        <a:rPr/>
                        <a:t>function</a:t>
                      </a:r>
                      <a:r>
                        <a:rPr/>
                        <a:t> </a:t>
                      </a:r>
                      <a:r>
                        <a:rPr/>
                        <a:t>wrapping</a:t>
                      </a:r>
                      <a:r>
                        <a:rPr/>
                        <a:t> </a:t>
                      </a:r>
                      <a:r>
                        <a:rPr/>
                        <a:t>this</a:t>
                      </a:r>
                      <a:r>
                        <a:rPr/>
                        <a:t> </a:t>
                      </a:r>
                      <a:r>
                        <a:rPr/>
                        <a:t>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Global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names</a:t>
                      </a:r>
                      <a:r>
                        <a:rPr/>
                        <a:t> </a:t>
                      </a:r>
                      <a:r>
                        <a:rPr/>
                        <a:t>at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top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Built-in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len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print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range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/>
                        <a:t>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Not found in any of the four? → </a:t>
            </a:r>
            <a:r>
              <a:rPr b="1">
                <a:latin typeface="Courier"/>
              </a:rPr>
              <a:t>NameError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global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rare,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debug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enable_debug():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global</a:t>
            </a:r>
            <a:r>
              <a:rPr>
                <a:latin typeface="Courier"/>
              </a:rPr>
              <a:t> debug        </a:t>
            </a:r>
            <a:r>
              <a:rPr i="1">
                <a:solidFill>
                  <a:srgbClr val="60A0B0"/>
                </a:solidFill>
                <a:latin typeface="Courier"/>
              </a:rPr>
              <a:t># "assign to the MODULE-level name"</a:t>
            </a:r>
            <a:br/>
            <a:r>
              <a:rPr>
                <a:latin typeface="Courier"/>
              </a:rPr>
              <a:t>    debug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</a:p>
          <a:p>
            <a:pPr lvl="1"/>
            <a:r>
              <a:rPr/>
              <a:t>Without </a:t>
            </a:r>
            <a:r>
              <a:rPr>
                <a:latin typeface="Courier"/>
              </a:rPr>
              <a:t>global</a:t>
            </a:r>
            <a:r>
              <a:rPr/>
              <a:t>, </a:t>
            </a:r>
            <a:r>
              <a:rPr>
                <a:latin typeface="Courier"/>
              </a:rPr>
              <a:t>debug = True</a:t>
            </a:r>
            <a:r>
              <a:rPr/>
              <a:t> would make a </a:t>
            </a:r>
            <a:r>
              <a:rPr b="1"/>
              <a:t>local</a:t>
            </a:r>
            <a:r>
              <a:rPr/>
              <a:t> and vanish</a:t>
            </a:r>
          </a:p>
          <a:p>
            <a:pPr lvl="1"/>
            <a:r>
              <a:rPr/>
              <a:t>It works — but any caller can change your module’s state</a:t>
            </a:r>
          </a:p>
          <a:p>
            <a:pPr lvl="1"/>
            <a:r>
              <a:rPr b="1"/>
              <a:t>Prefer returning a value.</a:t>
            </a:r>
            <a:r>
              <a:rPr/>
              <a:t> Reach for </a:t>
            </a:r>
            <a:r>
              <a:rPr>
                <a:latin typeface="Courier"/>
              </a:rPr>
              <a:t>global</a:t>
            </a:r>
            <a:r>
              <a:rPr/>
              <a:t> rarely and deliberately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nonlocal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counter</a:t>
            </a:r>
            <a:r>
              <a:rPr/>
              <a:t> </a:t>
            </a:r>
            <a:r>
              <a:rPr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make_counter():</a:t>
            </a:r>
            <a:br/>
            <a:r>
              <a:rPr>
                <a:latin typeface="Courier"/>
              </a:rPr>
              <a:t>   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increment():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nonlocal</a:t>
            </a:r>
            <a:r>
              <a:rPr>
                <a:latin typeface="Courier"/>
              </a:rPr>
              <a:t> count      </a:t>
            </a:r>
            <a:r>
              <a:rPr i="1">
                <a:solidFill>
                  <a:srgbClr val="60A0B0"/>
                </a:solidFill>
                <a:latin typeface="Courier"/>
              </a:rPr>
              <a:t># the ENCLOSING count, not a new one</a:t>
            </a:r>
            <a:br/>
            <a:r>
              <a:rPr>
                <a:latin typeface="Courier"/>
              </a:rPr>
              <a:t>        count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count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increment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c = make_counter()
&gt;&gt;&gt; c(); c(); c()
1
2
3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nonlocal</a:t>
            </a:r>
            <a:r>
              <a:rPr/>
              <a:t> reaches </a:t>
            </a:r>
            <a:r>
              <a:rPr b="1"/>
              <a:t>one level out</a:t>
            </a:r>
            <a:r>
              <a:rPr/>
              <a:t> — not all the way to global.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Lambdas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one-expression</a:t>
            </a:r>
            <a:r>
              <a:rPr/>
              <a:t> </a:t>
            </a: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n: n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same as a tiny def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tasks = [("write report", 1), ("buy milk", 3), ("call bank", 2)]
&gt;&gt;&gt; sorted(tasks, key=lambda t: t[1])
[('write report', 1), ('call bank', 2), ('buy milk', 3)]</a:t>
            </a:r>
          </a:p>
          <a:p>
            <a:pPr lvl="1"/>
            <a:r>
              <a:rPr b="1"/>
              <a:t>One expression</a:t>
            </a:r>
            <a:r>
              <a:rPr/>
              <a:t>, no statements, result returned automatically</a:t>
            </a:r>
          </a:p>
          <a:p>
            <a:pPr lvl="1"/>
            <a:r>
              <a:rPr/>
              <a:t>Real home: a throwaway </a:t>
            </a:r>
            <a:r>
              <a:rPr>
                <a:latin typeface="Courier"/>
              </a:rPr>
              <a:t>key=</a:t>
            </a:r>
            <a:r>
              <a:rPr/>
              <a:t> for </a:t>
            </a:r>
            <a:r>
              <a:rPr>
                <a:latin typeface="Courier"/>
              </a:rPr>
              <a:t>sorted()</a:t>
            </a:r>
            <a:r>
              <a:rPr/>
              <a:t> / </a:t>
            </a:r>
            <a:r>
              <a:rPr>
                <a:latin typeface="Courier"/>
              </a:rPr>
              <a:t>min()</a:t>
            </a:r>
            <a:r>
              <a:rPr/>
              <a:t> / </a:t>
            </a:r>
            <a:r>
              <a:rPr>
                <a:latin typeface="Courier"/>
              </a:rPr>
              <a:t>max()</a:t>
            </a:r>
          </a:p>
          <a:p>
            <a:pPr lvl="1"/>
            <a:r>
              <a:rPr/>
              <a:t>Needs a name or a docstring? Use </a:t>
            </a:r>
            <a:r>
              <a:rPr b="1">
                <a:latin typeface="Courier"/>
              </a:rPr>
              <a:t>def</a:t>
            </a:r>
            <a:r>
              <a:rPr/>
              <a:t> instead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Type</a:t>
            </a:r>
            <a:r>
              <a:rPr/>
              <a:t> </a:t>
            </a:r>
            <a:r>
              <a:rPr/>
              <a:t>hints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Telling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editor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mean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Annotating</a:t>
            </a:r>
            <a:r>
              <a:rPr/>
              <a:t> </a:t>
            </a:r>
            <a:r>
              <a:rPr/>
              <a:t>parameters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add(a: int, b: int)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int: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</a:p>
          <a:p>
            <a:pPr lvl="1"/>
            <a:r>
              <a:rPr>
                <a:latin typeface="Courier"/>
              </a:rPr>
              <a:t>a: int</a:t>
            </a:r>
            <a:r>
              <a:rPr/>
              <a:t> — “this parameter is meant to be an </a:t>
            </a:r>
            <a:r>
              <a:rPr>
                <a:latin typeface="Courier"/>
              </a:rPr>
              <a:t>int</a:t>
            </a:r>
            <a:r>
              <a:rPr/>
              <a:t>”</a:t>
            </a:r>
          </a:p>
          <a:p>
            <a:pPr lvl="1"/>
            <a:r>
              <a:rPr>
                <a:latin typeface="Courier"/>
              </a:rPr>
              <a:t>-&gt; int</a:t>
            </a:r>
            <a:r>
              <a:rPr/>
              <a:t> — “this function is meant to hand back an </a:t>
            </a:r>
            <a:r>
              <a:rPr>
                <a:latin typeface="Courier"/>
              </a:rPr>
              <a:t>int</a:t>
            </a:r>
            <a:r>
              <a:rPr/>
              <a:t>”</a:t>
            </a:r>
          </a:p>
          <a:p>
            <a:pPr lvl="1"/>
            <a:r>
              <a:rPr b="1"/>
              <a:t>Documentation your editor can read</a:t>
            </a:r>
            <a:r>
              <a:rPr/>
              <a:t> — and act on</a:t>
            </a:r>
          </a:p>
          <a:p>
            <a:pPr lvl="1"/>
            <a:r>
              <a:rPr/>
              <a:t>Optional: add them where they earn their keep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Modern</a:t>
            </a:r>
            <a:r>
              <a:rPr/>
              <a:t> </a:t>
            </a:r>
            <a:r>
              <a:rPr/>
              <a:t>hint</a:t>
            </a:r>
            <a:r>
              <a:rPr/>
              <a:t> </a:t>
            </a:r>
            <a:r>
              <a:rPr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summarise(</a:t>
            </a:r>
            <a:br/>
            <a:r>
              <a:rPr>
                <a:latin typeface="Courier"/>
              </a:rPr>
              <a:t>    titles: list[str],</a:t>
            </a:r>
            <a:br/>
            <a:r>
              <a:rPr>
                <a:latin typeface="Courier"/>
              </a:rPr>
              <a:t>    counts: dict[str, int],</a:t>
            </a:r>
            <a:br/>
            <a:r>
              <a:rPr>
                <a:latin typeface="Courier"/>
              </a:rPr>
              <a:t>    note: str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str:</a:t>
            </a:r>
            <a:br/>
            <a:r>
              <a:rPr>
                <a:latin typeface="Courier"/>
              </a:rPr>
              <a:t>    ...</a:t>
            </a:r>
          </a:p>
          <a:p>
            <a:pPr lvl="1"/>
            <a:r>
              <a:rPr>
                <a:latin typeface="Courier"/>
              </a:rPr>
              <a:t>list[str]</a:t>
            </a:r>
            <a:r>
              <a:rPr/>
              <a:t>, </a:t>
            </a:r>
            <a:r>
              <a:rPr>
                <a:latin typeface="Courier"/>
              </a:rPr>
              <a:t>dict[str, int]</a:t>
            </a:r>
            <a:r>
              <a:rPr/>
              <a:t> — built-in generics, </a:t>
            </a:r>
            <a:r>
              <a:rPr b="1"/>
              <a:t>no import</a:t>
            </a:r>
          </a:p>
          <a:p>
            <a:pPr lvl="1"/>
            <a:r>
              <a:rPr>
                <a:latin typeface="Courier"/>
              </a:rPr>
              <a:t>str | None</a:t>
            </a:r>
            <a:r>
              <a:rPr/>
              <a:t> — “a string </a:t>
            </a:r>
            <a:r>
              <a:rPr b="1"/>
              <a:t>or</a:t>
            </a:r>
            <a:r>
              <a:rPr/>
              <a:t> nothing” (the old </a:t>
            </a:r>
            <a:r>
              <a:rPr>
                <a:latin typeface="Courier"/>
              </a:rPr>
              <a:t>Optional[str]</a:t>
            </a:r>
            <a:r>
              <a:rPr/>
              <a:t>)</a:t>
            </a:r>
          </a:p>
          <a:p>
            <a:pPr lvl="1"/>
            <a:r>
              <a:rPr/>
              <a:t>Skip </a:t>
            </a:r>
            <a:r>
              <a:rPr>
                <a:latin typeface="Courier"/>
              </a:rPr>
              <a:t>typing.List</a:t>
            </a:r>
            <a:r>
              <a:rPr/>
              <a:t> / </a:t>
            </a:r>
            <a:r>
              <a:rPr>
                <a:latin typeface="Courier"/>
              </a:rPr>
              <a:t>typing.Optional</a:t>
            </a:r>
            <a:r>
              <a:rPr/>
              <a:t> — the built-ins are current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Hints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 b="1"/>
              <a:t>not</a:t>
            </a:r>
            <a:r>
              <a:rPr/>
              <a:t> </a:t>
            </a:r>
            <a:r>
              <a:rPr/>
              <a:t>enforced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def add(a: int, b: int) -&gt; int:
...     return a + b
&gt;&gt;&gt; add("two", "three")
'twothree'                     # no error. none at all.</a:t>
            </a:r>
          </a:p>
          <a:p>
            <a:pPr lvl="1"/>
            <a:r>
              <a:rPr/>
              <a:t>Python </a:t>
            </a:r>
            <a:r>
              <a:rPr b="1"/>
              <a:t>ignores</a:t>
            </a:r>
            <a:r>
              <a:rPr/>
              <a:t> hints at runtime — they are not checks</a:t>
            </a:r>
          </a:p>
          <a:p>
            <a:pPr lvl="1"/>
            <a:r>
              <a:rPr/>
              <a:t>The payoff is </a:t>
            </a:r>
            <a:r>
              <a:rPr b="1"/>
              <a:t>before</a:t>
            </a:r>
            <a:r>
              <a:rPr/>
              <a:t> you run: editor, autocomplete, type checkers</a:t>
            </a:r>
          </a:p>
          <a:p>
            <a:pPr lvl="1"/>
            <a:r>
              <a:rPr/>
              <a:t>Part 2 turns these into real, enforced checks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Let’s</a:t>
            </a:r>
            <a:r>
              <a:rPr/>
              <a:t> </a:t>
            </a:r>
            <a:r>
              <a:rPr/>
              <a:t>watch</a:t>
            </a:r>
            <a:r>
              <a:rPr/>
              <a:t> </a:t>
            </a:r>
            <a:r>
              <a:rPr/>
              <a:t>names</a:t>
            </a:r>
            <a:r>
              <a:rPr/>
              <a:t> </a:t>
            </a:r>
            <a:r>
              <a:rPr/>
              <a:t>resolve.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Scope / LEGB + type hints in VS Code</a:t>
            </a:r>
          </a:p>
          <a:p>
            <a:pPr lvl="1"/>
            <a:r>
              <a:rPr/>
              <a:t>A name resolving </a:t>
            </a:r>
            <a:r>
              <a:rPr b="1"/>
              <a:t>L → E → G → B</a:t>
            </a:r>
            <a:r>
              <a:rPr/>
              <a:t>, live</a:t>
            </a:r>
          </a:p>
          <a:p>
            <a:pPr lvl="1"/>
            <a:r>
              <a:rPr/>
              <a:t>A </a:t>
            </a:r>
            <a:r>
              <a:rPr>
                <a:latin typeface="Courier"/>
              </a:rPr>
              <a:t>counter()</a:t>
            </a:r>
            <a:r>
              <a:rPr/>
              <a:t> that works only because of </a:t>
            </a:r>
            <a:r>
              <a:rPr b="1">
                <a:latin typeface="Courier"/>
              </a:rPr>
              <a:t>nonlocal</a:t>
            </a:r>
          </a:p>
          <a:p>
            <a:pPr lvl="1"/>
            <a:r>
              <a:rPr/>
              <a:t>A </a:t>
            </a:r>
            <a:r>
              <a:rPr b="1">
                <a:latin typeface="Courier"/>
              </a:rPr>
              <a:t>global</a:t>
            </a:r>
            <a:r>
              <a:rPr/>
              <a:t> toggle</a:t>
            </a:r>
          </a:p>
          <a:p>
            <a:pPr lvl="1"/>
            <a:r>
              <a:rPr b="1"/>
              <a:t>Pylance</a:t>
            </a:r>
            <a:r>
              <a:rPr/>
              <a:t> flagging a wrong-typed call — and autocompleting a typed param</a:t>
            </a:r>
          </a:p>
          <a:p>
            <a:pPr lvl="1"/>
            <a:r>
              <a:rPr/>
              <a:t>Proof the </a:t>
            </a:r>
            <a:r>
              <a:rPr b="1"/>
              <a:t>runtime doesn’t care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LEGB,</a:t>
            </a:r>
            <a:r>
              <a:rPr/>
              <a:t> </a:t>
            </a:r>
            <a:r>
              <a:rPr/>
              <a:t>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name = "global name"
&gt;&gt;&gt; def outer():
...     name = "enclosing name"
...     def inner():
...         return name          # no local -&gt; look Enclosing
...     return inner()
&gt;&gt;&gt; outer()
'enclosing name'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def broken():
...     count = count + 1        # count is local... and unset
&gt;&gt;&gt; broken()
UnboundLocalError: cannot access local variable 'count'
where it is not associated with a value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>
                <a:latin typeface="Courier"/>
              </a:rPr>
              <a:t>nonlocal</a:t>
            </a:r>
            <a:r>
              <a:rPr/>
              <a:t> </a:t>
            </a:r>
            <a:r>
              <a:rPr/>
              <a:t>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c = make_counter()
&gt;&gt;&gt; c()
1
&gt;&gt;&gt; c()
2
&gt;&gt;&gt; c2 = make_counter()          # a fresh, independent count
&gt;&gt;&gt; c2()
1</a:t>
            </a:r>
          </a:p>
          <a:p>
            <a:pPr lvl="0" marL="0" indent="0">
              <a:buNone/>
            </a:pPr>
            <a:r>
              <a:rPr/>
              <a:t>Remove </a:t>
            </a:r>
            <a:r>
              <a:rPr>
                <a:latin typeface="Courier"/>
              </a:rPr>
              <a:t>nonlocal</a:t>
            </a:r>
            <a:r>
              <a:rPr/>
              <a:t> and it breaks:</a:t>
            </a:r>
          </a:p>
          <a:p>
            <a:pPr lvl="0" indent="0">
              <a:buNone/>
            </a:pPr>
            <a:r>
              <a:rPr>
                <a:latin typeface="Courier"/>
              </a:rPr>
              <a:t>UnboundLocalError: cannot access local variable 'count'
where it is not associated with a value</a:t>
            </a:r>
          </a:p>
          <a:p>
            <a:pPr lvl="0" marL="0" indent="0">
              <a:buNone/>
            </a:pPr>
            <a:r>
              <a:rPr/>
              <a:t>Each closure keeps </a:t>
            </a:r>
            <a:r>
              <a:rPr b="1"/>
              <a:t>its own</a:t>
            </a:r>
            <a:r>
              <a:rPr/>
              <a:t> enclosing </a:t>
            </a:r>
            <a:r>
              <a:rPr>
                <a:latin typeface="Courier"/>
              </a:rPr>
              <a:t>count</a:t>
            </a:r>
            <a:r>
              <a:rPr/>
              <a:t> alive.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Pylance</a:t>
            </a:r>
            <a:r>
              <a:rPr/>
              <a:t> </a:t>
            </a:r>
            <a:r>
              <a:rPr/>
              <a:t>catches</a:t>
            </a:r>
            <a:r>
              <a:rPr/>
              <a:t> </a:t>
            </a:r>
            <a:r>
              <a:rPr/>
              <a:t>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greet(name: str, greeting: str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str: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greeting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  <a:br/>
            <a:br/>
            <a:r>
              <a:rPr>
                <a:latin typeface="Courier"/>
              </a:rPr>
              <a:t>greet(</a:t>
            </a:r>
            <a:r>
              <a:rPr>
                <a:solidFill>
                  <a:srgbClr val="40A070"/>
                </a:solidFill>
                <a:latin typeface="Courier"/>
              </a:rPr>
              <a:t>123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← red squiggle under 123</a:t>
            </a:r>
          </a:p>
          <a:p>
            <a:pPr lvl="0" marL="1270000" indent="0">
              <a:buNone/>
            </a:pPr>
            <a:r>
              <a:rPr sz="2000"/>
              <a:t>Argument of type </a:t>
            </a:r>
            <a:r>
              <a:rPr sz="2000">
                <a:latin typeface="Courier"/>
              </a:rPr>
              <a:t>"Literal[123]"</a:t>
            </a:r>
            <a:r>
              <a:rPr sz="2000"/>
              <a:t> cannot be assigned to parameter </a:t>
            </a:r>
            <a:r>
              <a:rPr sz="2000">
                <a:latin typeface="Courier"/>
              </a:rPr>
              <a:t>"name"</a:t>
            </a:r>
            <a:r>
              <a:rPr sz="2000"/>
              <a:t> of type </a:t>
            </a:r>
            <a:r>
              <a:rPr sz="2000">
                <a:latin typeface="Courier"/>
              </a:rPr>
              <a:t>"str"</a:t>
            </a:r>
            <a:r>
              <a:rPr sz="2000"/>
              <a:t> in function </a:t>
            </a:r>
            <a:r>
              <a:rPr sz="2000">
                <a:latin typeface="Courier"/>
              </a:rPr>
              <a:t>"greet"</a:t>
            </a:r>
          </a:p>
          <a:p>
            <a:pPr lvl="0" marL="0" indent="0">
              <a:buNone/>
            </a:pPr>
            <a:r>
              <a:rPr/>
              <a:t>Needs </a:t>
            </a:r>
            <a:r>
              <a:rPr>
                <a:latin typeface="Courier"/>
              </a:rPr>
              <a:t>python.analysis.typeCheckingMode</a:t>
            </a:r>
            <a:r>
              <a:rPr/>
              <a:t> set to </a:t>
            </a:r>
            <a:r>
              <a:rPr b="1">
                <a:latin typeface="Courier"/>
              </a:rPr>
              <a:t>basic</a:t>
            </a:r>
            <a:r>
              <a:rPr/>
              <a:t> — the default is </a:t>
            </a:r>
            <a:r>
              <a:rPr b="1">
                <a:latin typeface="Courier"/>
              </a:rPr>
              <a:t>off</a:t>
            </a:r>
            <a:r>
              <a:rPr/>
              <a:t>, which reports nothing.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runtime</a:t>
            </a:r>
            <a:r>
              <a:rPr/>
              <a:t> </a:t>
            </a:r>
            <a:r>
              <a:rPr/>
              <a:t>doesn’t</a:t>
            </a:r>
            <a:r>
              <a:rPr/>
              <a:t> </a:t>
            </a:r>
            <a:r>
              <a:rPr/>
              <a:t>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add("two", "three")
'twothree'
&gt;&gt;&gt; add.__annotations__
{'a': &lt;class 'int'&gt;, 'b': &lt;class 'int'&gt;, 'return': &lt;class 'int'&gt;}</a:t>
            </a:r>
          </a:p>
          <a:p>
            <a:pPr lvl="1"/>
            <a:r>
              <a:rPr/>
              <a:t>The hints are </a:t>
            </a:r>
            <a:r>
              <a:rPr b="1"/>
              <a:t>right there</a:t>
            </a:r>
            <a:r>
              <a:rPr/>
              <a:t> — and ignored</a:t>
            </a:r>
          </a:p>
          <a:p>
            <a:pPr lvl="1"/>
            <a:r>
              <a:rPr/>
              <a:t>The editor warned you; Python still ran it</a:t>
            </a:r>
          </a:p>
          <a:p>
            <a:pPr lvl="1"/>
            <a:r>
              <a:rPr/>
              <a:t>Hints are a </a:t>
            </a:r>
            <a:r>
              <a:rPr b="1"/>
              <a:t>contract for humans and tools</a:t>
            </a:r>
            <a:r>
              <a:rPr/>
              <a:t>, not a runtime guard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name resolved </a:t>
            </a:r>
            <a:r>
              <a:rPr b="1"/>
              <a:t>L → E → G → B</a:t>
            </a:r>
            <a:r>
              <a:rPr/>
              <a:t>, and a </a:t>
            </a:r>
            <a:r>
              <a:rPr>
                <a:latin typeface="Courier"/>
              </a:rPr>
              <a:t>NameError</a:t>
            </a:r>
            <a:r>
              <a:rPr/>
              <a:t>’s cousin: </a:t>
            </a:r>
            <a:r>
              <a:rPr b="1">
                <a:latin typeface="Courier"/>
              </a:rPr>
              <a:t>UnboundLocalError</a:t>
            </a:r>
          </a:p>
          <a:p>
            <a:pPr lvl="1"/>
            <a:r>
              <a:rPr>
                <a:latin typeface="Courier"/>
              </a:rPr>
              <a:t>nonlocal</a:t>
            </a:r>
            <a:r>
              <a:rPr/>
              <a:t> kept a </a:t>
            </a:r>
            <a:r>
              <a:rPr>
                <a:latin typeface="Courier"/>
              </a:rPr>
              <a:t>count</a:t>
            </a:r>
            <a:r>
              <a:rPr/>
              <a:t> alive </a:t>
            </a:r>
            <a:r>
              <a:rPr b="1"/>
              <a:t>between calls</a:t>
            </a:r>
          </a:p>
          <a:p>
            <a:pPr lvl="1"/>
            <a:r>
              <a:rPr/>
              <a:t>Each </a:t>
            </a:r>
            <a:r>
              <a:rPr>
                <a:latin typeface="Courier"/>
              </a:rPr>
              <a:t>make_counter()</a:t>
            </a:r>
            <a:r>
              <a:rPr/>
              <a:t> got its </a:t>
            </a:r>
            <a:r>
              <a:rPr b="1"/>
              <a:t>own</a:t>
            </a:r>
            <a:r>
              <a:rPr/>
              <a:t> independent counter</a:t>
            </a:r>
          </a:p>
          <a:p>
            <a:pPr lvl="1"/>
            <a:r>
              <a:rPr/>
              <a:t>Pylance flagged a bad call </a:t>
            </a:r>
            <a:r>
              <a:rPr b="1"/>
              <a:t>before running</a:t>
            </a:r>
            <a:r>
              <a:rPr/>
              <a:t> — once switched on</a:t>
            </a:r>
          </a:p>
          <a:p>
            <a:pPr lvl="1"/>
            <a:r>
              <a:rPr/>
              <a:t>Python ran the same bad call </a:t>
            </a:r>
            <a:r>
              <a:rPr b="1"/>
              <a:t>happily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Q&amp;A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week’s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refactor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>
                <a:latin typeface="Courier"/>
              </a:rPr>
              <a:t>calculator.py</a:t>
            </a:r>
            <a:r>
              <a:rPr/>
              <a:t> (Lab 2) → typed functions with docstrings: </a:t>
            </a:r>
            <a:r>
              <a:rPr>
                <a:latin typeface="Courier"/>
              </a:rPr>
              <a:t>add</a:t>
            </a:r>
            <a:r>
              <a:rPr/>
              <a:t>, </a:t>
            </a:r>
            <a:r>
              <a:rPr>
                <a:latin typeface="Courier"/>
              </a:rPr>
              <a:t>subtract</a:t>
            </a:r>
            <a:r>
              <a:rPr/>
              <a:t>, </a:t>
            </a:r>
            <a:r>
              <a:rPr>
                <a:latin typeface="Courier"/>
              </a:rPr>
              <a:t>floor_divide</a:t>
            </a:r>
            <a:r>
              <a:rPr/>
              <a:t>, </a:t>
            </a:r>
            <a:r>
              <a:rPr>
                <a:latin typeface="Courier"/>
              </a:rPr>
              <a:t>remainder</a:t>
            </a:r>
            <a:r>
              <a:rPr/>
              <a:t>, </a:t>
            </a:r>
            <a:r>
              <a:rPr>
                <a:latin typeface="Courier"/>
              </a:rPr>
              <a:t>percentage</a:t>
            </a:r>
          </a:p>
          <a:p>
            <a:pPr lvl="1">
              <a:buAutoNum type="arabicPeriod"/>
            </a:pPr>
            <a:r>
              <a:rPr b="1">
                <a:latin typeface="Courier"/>
              </a:rPr>
              <a:t>menu.py</a:t>
            </a:r>
            <a:r>
              <a:rPr/>
              <a:t> (Lab 4) → a typed </a:t>
            </a:r>
            <a:r>
              <a:rPr>
                <a:latin typeface="Courier"/>
              </a:rPr>
              <a:t>dispatch(command: str) -&gt; str</a:t>
            </a:r>
          </a:p>
          <a:p>
            <a:pPr lvl="1">
              <a:buAutoNum type="arabicPeriod"/>
            </a:pPr>
            <a:r>
              <a:rPr/>
              <a:t>Use a </a:t>
            </a:r>
            <a:r>
              <a:rPr b="1"/>
              <a:t>default</a:t>
            </a:r>
            <a:r>
              <a:rPr/>
              <a:t> and a </a:t>
            </a:r>
            <a:r>
              <a:rPr b="1"/>
              <a:t>keyword-only</a:t>
            </a:r>
            <a:r>
              <a:rPr/>
              <a:t> parameter where sensible</a:t>
            </a:r>
          </a:p>
          <a:p>
            <a:pPr lvl="1">
              <a:buAutoNum type="arabicPeriod"/>
            </a:pPr>
            <a:r>
              <a:rPr/>
              <a:t>Every function: a </a:t>
            </a:r>
            <a:r>
              <a:rPr b="1"/>
              <a:t>docstring</a:t>
            </a:r>
            <a:r>
              <a:rPr/>
              <a:t> + full </a:t>
            </a:r>
            <a:r>
              <a:rPr b="1"/>
              <a:t>type hints</a:t>
            </a:r>
          </a:p>
          <a:p>
            <a:pPr lvl="1">
              <a:buAutoNum type="arabicPeriod"/>
            </a:pPr>
            <a:r>
              <a:rPr b="1"/>
              <a:t>Behaviour must not change</a:t>
            </a:r>
            <a:r>
              <a:rPr/>
              <a:t> · </a:t>
            </a:r>
            <a:r>
              <a:rPr>
                <a:latin typeface="Courier"/>
              </a:rPr>
              <a:t>ruff check</a:t>
            </a:r>
            <a:r>
              <a:rPr/>
              <a:t> stays clean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9</a:t>
            </a:r>
            <a:r>
              <a:rPr/>
              <a:t> for signatures, </a:t>
            </a:r>
            <a:r>
              <a:rPr b="1"/>
              <a:t>Demo 10</a:t>
            </a:r>
            <a:r>
              <a:rPr/>
              <a:t> for hints.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Why does </a:t>
            </a:r>
            <a:r>
              <a:rPr>
                <a:latin typeface="Courier"/>
              </a:rPr>
              <a:t>count = count + 1</a:t>
            </a:r>
            <a:r>
              <a:rPr/>
              <a:t> fail but </a:t>
            </a:r>
            <a:r>
              <a:rPr>
                <a:latin typeface="Courier"/>
              </a:rPr>
              <a:t>print(count)</a:t>
            </a:r>
            <a:r>
              <a:rPr/>
              <a:t> work?</a:t>
            </a:r>
          </a:p>
          <a:p>
            <a:pPr lvl="1"/>
            <a:r>
              <a:rPr/>
              <a:t>When </a:t>
            </a:r>
            <a:r>
              <a:rPr i="1"/>
              <a:t>should</a:t>
            </a:r>
            <a:r>
              <a:rPr/>
              <a:t> I use </a:t>
            </a:r>
            <a:r>
              <a:rPr>
                <a:latin typeface="Courier"/>
              </a:rPr>
              <a:t>global</a:t>
            </a:r>
            <a:r>
              <a:rPr/>
              <a:t>?</a:t>
            </a:r>
          </a:p>
          <a:p>
            <a:pPr lvl="1"/>
            <a:r>
              <a:rPr/>
              <a:t>Do I have to annotate </a:t>
            </a:r>
            <a:r>
              <a:rPr b="1"/>
              <a:t>everything</a:t>
            </a:r>
            <a:r>
              <a:rPr/>
              <a:t>?</a:t>
            </a:r>
          </a:p>
          <a:p>
            <a:pPr lvl="1"/>
            <a:r>
              <a:rPr/>
              <a:t>Where do </a:t>
            </a:r>
            <a:r>
              <a:rPr>
                <a:latin typeface="Courier"/>
              </a:rPr>
              <a:t>*args</a:t>
            </a:r>
            <a:r>
              <a:rPr/>
              <a:t> / </a:t>
            </a:r>
            <a:r>
              <a:rPr>
                <a:latin typeface="Courier"/>
              </a:rPr>
              <a:t>**kwargs</a:t>
            </a:r>
            <a:r>
              <a:rPr/>
              <a:t> actually pay off?</a:t>
            </a:r>
          </a:p>
          <a:p>
            <a:pPr lvl="0" marL="0" indent="0">
              <a:buNone/>
            </a:pPr>
            <a:r>
              <a:rPr/>
              <a:t>Ask anything — this is the week to get scope straight.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6 — Lists &amp; Tuples</a:t>
            </a:r>
          </a:p>
          <a:p>
            <a:pPr lvl="1"/>
            <a:r>
              <a:rPr/>
              <a:t>The containers your functions will </a:t>
            </a:r>
            <a:r>
              <a:rPr b="1"/>
              <a:t>take in</a:t>
            </a:r>
            <a:r>
              <a:rPr/>
              <a:t> and </a:t>
            </a:r>
            <a:r>
              <a:rPr b="1"/>
              <a:t>hand back</a:t>
            </a:r>
          </a:p>
          <a:p>
            <a:pPr lvl="1"/>
            <a:r>
              <a:rPr>
                <a:latin typeface="Courier"/>
              </a:rPr>
              <a:t>list[str]</a:t>
            </a:r>
            <a:r>
              <a:rPr/>
              <a:t> stops being a hint and becomes a </a:t>
            </a:r>
            <a:r>
              <a:rPr b="1"/>
              <a:t>thing you build</a:t>
            </a:r>
          </a:p>
          <a:p>
            <a:pPr lvl="1"/>
            <a:r>
              <a:rPr/>
              <a:t>Your typed </a:t>
            </a:r>
            <a:r>
              <a:rPr>
                <a:latin typeface="Courier"/>
              </a:rPr>
              <a:t>dispatch()</a:t>
            </a:r>
            <a:r>
              <a:rPr/>
              <a:t> starts managing </a:t>
            </a:r>
            <a:r>
              <a:rPr b="1"/>
              <a:t>real tasks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2026-07-16T12:14:40Z</dcterms:created>
  <dcterms:modified xsi:type="dcterms:W3CDTF">2026-07-16T12:14:40Z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tyle">
    <vt:lpwstr>/* Deck-local table fix. The tech theme does @import 'default', which brings in Marp’s GitHub-style rules table tr { background-color: var(--bgColor-default) } (white) and table tr:nth-child(2n) { background-color: var(--bgColor-muted) }. Since the theme’s section sets light body text (#dde7f7) on a dark navy slide, table bodies render light-on-white and are unreadable. The theme’s own tr:nth-child(even) td rule can’t win because it paints the td, not the tr. Repaint rows transparent and pin the body text colour. Remove this block once marp-tech.css fixes it upstream. */ section table tr, section table tbody tr { background-color: transparent; border-top: none; } section table tr:nth-child(2n), section table tbody tr:nth-child(2n) { background-color: rgba(255, 255, 255, 0.05); } section table td { color: #dde7f7; border-bottom: 1px solid rgba(255, 255, 255, 0.12); } section table td strong { color: #ffffff; }</vt:lpwstr>
  </property>
  <property fmtid="{D5CDD505-2E9C-101B-9397-08002B2CF9AE}" pid="5" name="theme">
    <vt:lpwstr>tech</vt:lpwstr>
  </property>
</Properties>
</file>