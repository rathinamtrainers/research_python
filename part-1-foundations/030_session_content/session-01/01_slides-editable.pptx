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marp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  <a:r>
              <a:rPr/>
              <a:t> </a:t>
            </a:r>
            <a:r>
              <a:rPr/>
              <a:t>theme</a:t>
            </a:r>
            <a:r>
              <a:rPr/>
              <a:t>:</a:t>
            </a:r>
            <a:r>
              <a:rPr/>
              <a:t> </a:t>
            </a:r>
            <a:r>
              <a:rPr/>
              <a:t>tech</a:t>
            </a:r>
            <a:r>
              <a:rPr/>
              <a:t> </a:t>
            </a:r>
            <a:r>
              <a:rPr/>
              <a:t>paginate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Getting</a:t>
            </a:r>
            <a:r>
              <a:rPr/>
              <a:t> </a:t>
            </a:r>
            <a:r>
              <a:rPr/>
              <a:t>Started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Model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Welcome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course</a:t>
            </a:r>
            <a:r>
              <a:rPr/>
              <a:t> </a:t>
            </a:r>
            <a:r>
              <a:rPr/>
              <a:t>works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Part 1 — Foundations</a:t>
            </a:r>
            <a:r>
              <a:rPr/>
              <a:t> (you are here) · 16 weeks</a:t>
            </a:r>
          </a:p>
          <a:p>
            <a:pPr lvl="1"/>
            <a:r>
              <a:rPr/>
              <a:t>Parts 2–4: Intermediate &amp; OOP → Advanced → Expert</a:t>
            </a:r>
          </a:p>
          <a:p>
            <a:pPr lvl="1"/>
            <a:r>
              <a:rPr/>
              <a:t>From "never written a line" to confident, idiomatic Python</a:t>
            </a:r>
          </a:p>
          <a:p>
            <a:pPr lvl="0" marL="0" indent="0">
              <a:buNone/>
            </a:pPr>
            <a:r>
              <a:rPr/>
              <a:t>This part: </a:t>
            </a:r>
            <a:r>
              <a:rPr b="1"/>
              <a:t>the core language + standard library</a:t>
            </a:r>
            <a:r>
              <a:rPr/>
              <a:t>, ending in a real CLI app.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2 hours, live, recorded</a:t>
            </a:r>
            <a:r>
              <a:rPr/>
              <a:t> — same time each week</a:t>
            </a:r>
          </a:p>
          <a:p>
            <a:pPr lvl="1"/>
            <a:r>
              <a:rPr/>
              <a:t>I </a:t>
            </a:r>
            <a:r>
              <a:rPr b="1"/>
              <a:t>teach</a:t>
            </a:r>
            <a:r>
              <a:rPr/>
              <a:t> the concept, then </a:t>
            </a:r>
            <a:r>
              <a:rPr b="1"/>
              <a:t>demo it live</a:t>
            </a:r>
            <a:r>
              <a:rPr/>
              <a:t> on screen</a:t>
            </a:r>
          </a:p>
          <a:p>
            <a:pPr lvl="1"/>
            <a:r>
              <a:rPr/>
              <a:t>You </a:t>
            </a:r>
            <a:r>
              <a:rPr b="1"/>
              <a:t>practice after</a:t>
            </a:r>
            <a:r>
              <a:rPr/>
              <a:t> from the recording + the lab guide</a:t>
            </a:r>
          </a:p>
          <a:p>
            <a:pPr lvl="1"/>
            <a:r>
              <a:rPr/>
              <a:t>A weekly </a:t>
            </a:r>
            <a:r>
              <a:rPr b="1"/>
              <a:t>lab</a:t>
            </a:r>
            <a:r>
              <a:rPr/>
              <a:t> rebuilds what the demo showed, then extends it</a:t>
            </a:r>
          </a:p>
          <a:p>
            <a:pPr lvl="0" marL="1270000" indent="0">
              <a:buNone/>
            </a:pPr>
            <a:r>
              <a:rPr sz="2000"/>
              <a:t>The recording </a:t>
            </a:r>
            <a:r>
              <a:rPr sz="2000" i="1"/>
              <a:t>is</a:t>
            </a:r>
            <a:r>
              <a:rPr sz="2000"/>
              <a:t> part of the courseware — scrub back any time.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loop,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concept  -&gt;  live demo  -&gt;  your lab  -&gt;  checkpoint
   (me)        (me, on        (you,         (you submit,
                screen)        after)        I confirm)
</a:t>
            </a:r>
          </a:p>
          <a:p>
            <a:pPr lvl="0" marL="0" indent="0">
              <a:buNone/>
            </a:pPr>
            <a:r>
              <a:rPr/>
              <a:t>No in-session typing by you — watch now, build after.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Any laptop you can </a:t>
            </a:r>
            <a:r>
              <a:rPr b="1"/>
              <a:t>install software</a:t>
            </a:r>
            <a:r>
              <a:rPr/>
              <a:t> on (Windows / macOS / Linux)</a:t>
            </a:r>
          </a:p>
          <a:p>
            <a:pPr lvl="1"/>
            <a:r>
              <a:rPr b="1"/>
              <a:t>No prior programming</a:t>
            </a:r>
            <a:r>
              <a:rPr/>
              <a:t> — absolute beginners welcome</a:t>
            </a:r>
          </a:p>
          <a:p>
            <a:pPr lvl="1"/>
            <a:r>
              <a:rPr/>
              <a:t>Coming from Java / C# / JS / Go? You'll move faster; the demos will point out where Python differs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Today's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you'll understand how to:</a:t>
            </a:r>
          </a:p>
          <a:p>
            <a:pPr lvl="1"/>
            <a:r>
              <a:rPr/>
              <a:t>Install </a:t>
            </a:r>
            <a:r>
              <a:rPr b="1"/>
              <a:t>Python 3.14</a:t>
            </a:r>
            <a:r>
              <a:rPr/>
              <a:t> and open the </a:t>
            </a:r>
            <a:r>
              <a:rPr b="1"/>
              <a:t>new REPL</a:t>
            </a:r>
          </a:p>
          <a:p>
            <a:pPr lvl="1"/>
            <a:r>
              <a:rPr/>
              <a:t>Run a </a:t>
            </a:r>
            <a:r>
              <a:rPr>
                <a:latin typeface="Courier"/>
              </a:rPr>
              <a:t>.py</a:t>
            </a:r>
            <a:r>
              <a:rPr/>
              <a:t> file </a:t>
            </a:r>
            <a:r>
              <a:rPr b="1"/>
              <a:t>two ways</a:t>
            </a:r>
          </a:p>
          <a:p>
            <a:pPr lvl="1"/>
            <a:r>
              <a:rPr/>
              <a:t>Say in one sentence what </a:t>
            </a:r>
            <a:r>
              <a:rPr i="1"/>
              <a:t>"the interpreter runs bytecode"</a:t>
            </a:r>
            <a:r>
              <a:rPr/>
              <a:t> means</a:t>
            </a:r>
          </a:p>
          <a:p>
            <a:pPr lvl="1"/>
            <a:r>
              <a:rPr/>
              <a:t>Scaffold a project with </a:t>
            </a:r>
            <a:r>
              <a:rPr b="1">
                <a:latin typeface="Courier"/>
              </a:rPr>
              <a:t>uv</a:t>
            </a:r>
            <a:r>
              <a:rPr/>
              <a:t> and tidy it with </a:t>
            </a:r>
            <a:r>
              <a:rPr b="1"/>
              <a:t>Ruff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And</a:t>
            </a:r>
            <a:r>
              <a:rPr/>
              <a:t> </a:t>
            </a:r>
            <a:r>
              <a:rPr/>
              <a:t>where</a:t>
            </a:r>
            <a:r>
              <a:rPr/>
              <a:t> </a:t>
            </a:r>
            <a:r>
              <a:rPr/>
              <a:t>3.14</a:t>
            </a:r>
            <a:r>
              <a:rPr/>
              <a:t> </a:t>
            </a:r>
            <a:r>
              <a:rPr/>
              <a:t>fits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</a:t>
            </a:r>
            <a:r>
              <a:rPr b="1"/>
              <a:t>high-level, general-purpose</a:t>
            </a:r>
            <a:r>
              <a:rPr/>
              <a:t> language — readable, batteries-included</a:t>
            </a:r>
          </a:p>
          <a:p>
            <a:pPr lvl="1"/>
            <a:r>
              <a:rPr/>
              <a:t>You write </a:t>
            </a:r>
            <a:r>
              <a:rPr b="1"/>
              <a:t>source code</a:t>
            </a:r>
            <a:r>
              <a:rPr/>
              <a:t>; you don't manage memory or compile by hand</a:t>
            </a:r>
          </a:p>
          <a:p>
            <a:pPr lvl="1"/>
            <a:r>
              <a:rPr b="1"/>
              <a:t>CPython</a:t>
            </a:r>
            <a:r>
              <a:rPr/>
              <a:t> is the standard build — the one we install and run</a:t>
            </a:r>
          </a:p>
          <a:p>
            <a:pPr lvl="1"/>
            <a:r>
              <a:rPr/>
              <a:t>Used for scripting, web, data, automation, AI — one language, many doors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3.14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current</a:t>
            </a:r>
            <a:r>
              <a:rPr/>
              <a:t> </a:t>
            </a:r>
            <a:r>
              <a:rPr/>
              <a:t>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3.14.0</a:t>
            </a:r>
            <a:r>
              <a:rPr/>
              <a:t> released </a:t>
            </a:r>
            <a:r>
              <a:rPr b="1"/>
              <a:t>Oct 2025</a:t>
            </a:r>
            <a:r>
              <a:rPr/>
              <a:t>; </a:t>
            </a:r>
            <a:r>
              <a:rPr b="1"/>
              <a:t>3.14.6</a:t>
            </a:r>
            <a:r>
              <a:rPr/>
              <a:t> is current stable (Jun 2026)</a:t>
            </a:r>
          </a:p>
          <a:p>
            <a:pPr lvl="1"/>
            <a:r>
              <a:rPr/>
              <a:t>We pin the whole course to </a:t>
            </a:r>
            <a:r>
              <a:rPr b="1"/>
              <a:t>3.14</a:t>
            </a:r>
            <a:r>
              <a:rPr/>
              <a:t> so every demo reproduces</a:t>
            </a:r>
          </a:p>
          <a:p>
            <a:pPr lvl="1"/>
            <a:r>
              <a:rPr/>
              <a:t>Headline 3.14 features we'll touch in Part 1:</a:t>
            </a:r>
          </a:p>
          <a:p>
            <a:pPr lvl="2"/>
            <a:r>
              <a:rPr/>
              <a:t>A much-improved </a:t>
            </a:r>
            <a:r>
              <a:rPr b="1"/>
              <a:t>interactive REPL</a:t>
            </a:r>
          </a:p>
          <a:p>
            <a:pPr lvl="2"/>
            <a:r>
              <a:rPr b="1"/>
              <a:t>t-strings</a:t>
            </a:r>
            <a:r>
              <a:rPr/>
              <a:t> (PEP 750) — a peek in Week 3</a:t>
            </a:r>
          </a:p>
          <a:p>
            <a:pPr lvl="2"/>
            <a:r>
              <a:rPr/>
              <a:t>Friendlier </a:t>
            </a:r>
            <a:r>
              <a:rPr b="1"/>
              <a:t>exception</a:t>
            </a:r>
            <a:r>
              <a:rPr/>
              <a:t> syntax — Week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your source            Python                  the CPython
   hello.py     -----&gt;   compiles to   -----&gt;   interpreter loop
  (text you     (auto)    bytecode      runs     executes it
   write)                (.pyc, internal)         step by step
</a:t>
            </a:r>
          </a:p>
          <a:p>
            <a:pPr lvl="1"/>
            <a:r>
              <a:rPr/>
              <a:t>You never do this by hand — it happens when you run the file</a:t>
            </a:r>
          </a:p>
          <a:p>
            <a:pPr lvl="1"/>
            <a:r>
              <a:rPr b="1"/>
              <a:t>One sentence:</a:t>
            </a:r>
            <a:r>
              <a:rPr/>
              <a:t> </a:t>
            </a:r>
            <a:r>
              <a:rPr i="1"/>
              <a:t>Python turns your text into bytecode, then the interpreter runs that bytecode.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REPL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script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ways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run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Script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line,</a:t>
                      </a:r>
                      <a:r>
                        <a:rPr/>
                        <a:t> </a:t>
                      </a:r>
                      <a:r>
                        <a:rPr/>
                        <a:t>see</a:t>
                      </a:r>
                      <a:r>
                        <a:rPr/>
                        <a:t> </a:t>
                      </a:r>
                      <a:r>
                        <a:rPr/>
                        <a:t>it</a:t>
                      </a:r>
                      <a:r>
                        <a:rPr/>
                        <a:t> </a:t>
                      </a:r>
                      <a:r>
                        <a:rPr b="1"/>
                        <a:t>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Save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.py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  <a:r>
                        <a:rPr/>
                        <a:t> </a:t>
                      </a:r>
                      <a:r>
                        <a:rPr/>
                        <a:t>it</a:t>
                      </a:r>
                      <a:r>
                        <a:rPr/>
                        <a:t> </a:t>
                      </a:r>
                      <a:r>
                        <a:rPr b="1"/>
                        <a:t>later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 b="1"/>
                        <a:t>exploring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 b="1"/>
                        <a:t>keeping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repeating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Forgets</a:t>
                      </a:r>
                      <a:r>
                        <a:rPr/>
                        <a:t> </a:t>
                      </a:r>
                      <a:r>
                        <a:rPr/>
                        <a:t>when</a:t>
                      </a:r>
                      <a:r>
                        <a:rPr/>
                        <a:t> </a:t>
                      </a:r>
                      <a:r>
                        <a:rPr/>
                        <a:t>you</a:t>
                      </a:r>
                      <a:r>
                        <a:rPr/>
                        <a:t> </a:t>
                      </a:r>
                      <a:r>
                        <a:rPr/>
                        <a:t>close</a:t>
                      </a:r>
                      <a:r>
                        <a:rPr/>
                        <a:t> </a:t>
                      </a:r>
                      <a:r>
                        <a:rPr/>
                        <a:t>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Lives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disk,</a:t>
                      </a:r>
                      <a:r>
                        <a:rPr/>
                        <a:t> </a:t>
                      </a:r>
                      <a:r>
                        <a:rPr/>
                        <a:t>re-runnable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You'll use </a:t>
            </a:r>
            <a:r>
              <a:rPr b="1"/>
              <a:t>both</a:t>
            </a:r>
            <a:r>
              <a:rPr/>
              <a:t> every day. Today: meet both.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open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talk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REPL tour + your first script</a:t>
            </a:r>
          </a:p>
          <a:p>
            <a:pPr lvl="1"/>
            <a:r>
              <a:rPr/>
              <a:t>Launch the </a:t>
            </a:r>
            <a:r>
              <a:rPr b="1"/>
              <a:t>3.14 REPL</a:t>
            </a:r>
            <a:r>
              <a:rPr/>
              <a:t> — colours &amp; autocomplete</a:t>
            </a:r>
          </a:p>
          <a:p>
            <a:pPr lvl="1"/>
            <a:r>
              <a:rPr/>
              <a:t>Evaluate </a:t>
            </a:r>
            <a:r>
              <a:rPr>
                <a:latin typeface="Courier"/>
              </a:rPr>
              <a:t>2 + 2</a:t>
            </a:r>
            <a:r>
              <a:rPr/>
              <a:t>, a string, </a:t>
            </a:r>
            <a:r>
              <a:rPr>
                <a:latin typeface="Courier"/>
              </a:rPr>
              <a:t>print(...)</a:t>
            </a:r>
          </a:p>
          <a:p>
            <a:pPr lvl="1"/>
            <a:r>
              <a:rPr>
                <a:latin typeface="Courier"/>
              </a:rPr>
              <a:t>import ma</a:t>
            </a:r>
            <a:r>
              <a:rPr/>
              <a:t> + </a:t>
            </a:r>
            <a:r>
              <a:rPr b="1"/>
              <a:t>Tab</a:t>
            </a:r>
            <a:r>
              <a:rPr/>
              <a:t> → it completes to </a:t>
            </a:r>
            <a:r>
              <a:rPr>
                <a:latin typeface="Courier"/>
              </a:rPr>
              <a:t>math</a:t>
            </a:r>
          </a:p>
          <a:p>
            <a:pPr lvl="1"/>
            <a:r>
              <a:rPr>
                <a:latin typeface="Courier"/>
              </a:rPr>
              <a:t>help(len)</a:t>
            </a:r>
          </a:p>
          <a:p>
            <a:pPr lvl="1"/>
            <a:r>
              <a:rPr/>
              <a:t>Write </a:t>
            </a:r>
            <a:r>
              <a:rPr>
                <a:latin typeface="Courier"/>
              </a:rPr>
              <a:t>hello.py</a:t>
            </a:r>
            <a:r>
              <a:rPr/>
              <a:t>, run it </a:t>
            </a:r>
            <a:r>
              <a:rPr>
                <a:latin typeface="Courier"/>
              </a:rPr>
              <a:t>python hello.py</a:t>
            </a:r>
            <a:r>
              <a:rPr/>
              <a:t>, then </a:t>
            </a:r>
            <a:r>
              <a:rPr>
                <a:latin typeface="Courier"/>
              </a:rPr>
              <a:t>python -m hello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3.14</a:t>
            </a:r>
            <a:r>
              <a:rPr/>
              <a:t> </a:t>
            </a:r>
            <a:r>
              <a:rPr/>
              <a:t>REPL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2 + 2
4
&gt;&gt;&gt; "Python".upper()
'PYTHON'
&gt;&gt;&gt; import ma     # press Tab
import math
&gt;&gt;&gt; help(len)
</a:t>
            </a:r>
          </a:p>
          <a:p>
            <a:pPr lvl="1"/>
            <a:r>
              <a:rPr b="1"/>
              <a:t>Syntax highlighting</a:t>
            </a:r>
            <a:r>
              <a:rPr/>
              <a:t> on by default</a:t>
            </a:r>
          </a:p>
          <a:p>
            <a:pPr lvl="1"/>
            <a:r>
              <a:rPr b="1"/>
              <a:t>Tab</a:t>
            </a:r>
            <a:r>
              <a:rPr/>
              <a:t> completes import names</a:t>
            </a:r>
          </a:p>
          <a:p>
            <a:pPr lvl="1"/>
            <a:r>
              <a:rPr>
                <a:latin typeface="Courier"/>
              </a:rPr>
              <a:t>exit()</a:t>
            </a:r>
            <a:r>
              <a:rPr/>
              <a:t> or Ctrl-D to leave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One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ways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python hello.py</a:t>
            </a:r>
            <a:br/>
            <a:r>
              <a:rPr>
                <a:latin typeface="Courier"/>
              </a:rPr>
              <a:t>Hello, Python 3.14</a:t>
            </a:r>
            <a:br/>
            <a:r>
              <a:rPr>
                <a:latin typeface="Courier"/>
              </a:rPr>
              <a:t>$ python -m hello</a:t>
            </a:r>
            <a:br/>
            <a:r>
              <a:rPr>
                <a:latin typeface="Courier"/>
              </a:rPr>
              <a:t>Hello, Python 3.14</a:t>
            </a:r>
          </a:p>
          <a:p>
            <a:pPr lvl="1"/>
            <a:r>
              <a:rPr>
                <a:latin typeface="Courier"/>
              </a:rPr>
              <a:t>python hello.py</a:t>
            </a:r>
            <a:r>
              <a:rPr/>
              <a:t> → run </a:t>
            </a:r>
            <a:r>
              <a:rPr b="1"/>
              <a:t>this file</a:t>
            </a:r>
            <a:r>
              <a:rPr/>
              <a:t> by path</a:t>
            </a:r>
          </a:p>
          <a:p>
            <a:pPr lvl="1"/>
            <a:r>
              <a:rPr>
                <a:latin typeface="Courier"/>
              </a:rPr>
              <a:t>python -m hello</a:t>
            </a:r>
            <a:r>
              <a:rPr/>
              <a:t> → run the </a:t>
            </a:r>
            <a:r>
              <a:rPr b="1"/>
              <a:t>module</a:t>
            </a:r>
            <a:r>
              <a:rPr/>
              <a:t> named </a:t>
            </a:r>
            <a:r>
              <a:rPr>
                <a:latin typeface="Courier"/>
              </a:rPr>
              <a:t>hello</a:t>
            </a:r>
          </a:p>
          <a:p>
            <a:pPr lvl="1"/>
            <a:r>
              <a:rPr/>
              <a:t>Same output — the </a:t>
            </a:r>
            <a:r>
              <a:rPr>
                <a:latin typeface="Courier"/>
              </a:rPr>
              <a:t>-m</a:t>
            </a:r>
            <a:r>
              <a:rPr/>
              <a:t> form matters later for packages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REPL </a:t>
            </a:r>
            <a:r>
              <a:rPr b="1"/>
              <a:t>answers instantly</a:t>
            </a:r>
            <a:r>
              <a:rPr/>
              <a:t> — great for trying things</a:t>
            </a:r>
          </a:p>
          <a:p>
            <a:pPr lvl="1"/>
            <a:r>
              <a:rPr b="1"/>
              <a:t>Tab</a:t>
            </a:r>
            <a:r>
              <a:rPr/>
              <a:t> completes imports; </a:t>
            </a:r>
            <a:r>
              <a:rPr>
                <a:latin typeface="Courier"/>
              </a:rPr>
              <a:t>help()</a:t>
            </a:r>
            <a:r>
              <a:rPr/>
              <a:t> reads the docs to you</a:t>
            </a:r>
          </a:p>
          <a:p>
            <a:pPr lvl="1"/>
            <a:r>
              <a:rPr/>
              <a:t>A script is </a:t>
            </a:r>
            <a:r>
              <a:rPr b="1"/>
              <a:t>saved code</a:t>
            </a:r>
            <a:r>
              <a:rPr/>
              <a:t> you run again and again</a:t>
            </a:r>
          </a:p>
          <a:p>
            <a:pPr lvl="1"/>
            <a:r>
              <a:rPr>
                <a:latin typeface="Courier"/>
              </a:rPr>
              <a:t>python file.py</a:t>
            </a:r>
            <a:r>
              <a:rPr/>
              <a:t> and </a:t>
            </a:r>
            <a:r>
              <a:rPr>
                <a:latin typeface="Courier"/>
              </a:rPr>
              <a:t>python -m file</a:t>
            </a:r>
            <a:r>
              <a:rPr/>
              <a:t> both ran it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modern</a:t>
            </a:r>
            <a:r>
              <a:rPr/>
              <a:t> </a:t>
            </a:r>
            <a:r>
              <a:rPr/>
              <a:t>toolchain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uv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Ruff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day</a:t>
            </a:r>
            <a:r>
              <a:rPr/>
              <a:t> </a:t>
            </a:r>
            <a:r>
              <a:rPr/>
              <a:t>one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tools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day</a:t>
            </a:r>
            <a:r>
              <a:rPr/>
              <a:t> </a:t>
            </a:r>
            <a:r>
              <a:rPr/>
              <a:t>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Real projects are </a:t>
            </a:r>
            <a:r>
              <a:rPr b="1"/>
              <a:t>not</a:t>
            </a:r>
            <a:r>
              <a:rPr/>
              <a:t> one loose </a:t>
            </a:r>
            <a:r>
              <a:rPr>
                <a:latin typeface="Courier"/>
              </a:rPr>
              <a:t>.py</a:t>
            </a:r>
            <a:r>
              <a:rPr/>
              <a:t> file</a:t>
            </a:r>
          </a:p>
          <a:p>
            <a:pPr lvl="1"/>
            <a:r>
              <a:rPr/>
              <a:t>Two everyday needs, even for beginners:</a:t>
            </a:r>
          </a:p>
          <a:p>
            <a:pPr lvl="2"/>
            <a:r>
              <a:rPr b="1"/>
              <a:t>Isolation</a:t>
            </a:r>
            <a:r>
              <a:rPr/>
              <a:t> — each project gets its own clean setup</a:t>
            </a:r>
          </a:p>
          <a:p>
            <a:pPr lvl="2"/>
            <a:r>
              <a:rPr b="1"/>
              <a:t>Tidy code</a:t>
            </a:r>
            <a:r>
              <a:rPr/>
              <a:t> — consistent formatting + early mistake catching</a:t>
            </a:r>
          </a:p>
          <a:p>
            <a:pPr lvl="1"/>
            <a:r>
              <a:rPr/>
              <a:t>We start the good habits now so they're invisible later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uv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One fast tool (from </a:t>
            </a:r>
            <a:r>
              <a:rPr b="1"/>
              <a:t>Astral</a:t>
            </a:r>
            <a:r>
              <a:rPr/>
              <a:t>) for:</a:t>
            </a:r>
          </a:p>
          <a:p>
            <a:pPr lvl="2"/>
            <a:r>
              <a:rPr/>
              <a:t>Installing </a:t>
            </a:r>
            <a:r>
              <a:rPr b="1"/>
              <a:t>Python</a:t>
            </a:r>
            <a:r>
              <a:rPr/>
              <a:t> itself — </a:t>
            </a:r>
            <a:r>
              <a:rPr>
                <a:latin typeface="Courier"/>
              </a:rPr>
              <a:t>uv python install 3.14</a:t>
            </a:r>
          </a:p>
          <a:p>
            <a:pPr lvl="2"/>
            <a:r>
              <a:rPr/>
              <a:t>Scaffolding a </a:t>
            </a:r>
            <a:r>
              <a:rPr b="1"/>
              <a:t>project</a:t>
            </a:r>
            <a:r>
              <a:rPr/>
              <a:t> — </a:t>
            </a:r>
            <a:r>
              <a:rPr>
                <a:latin typeface="Courier"/>
              </a:rPr>
              <a:t>uv init</a:t>
            </a:r>
          </a:p>
          <a:p>
            <a:pPr lvl="2"/>
            <a:r>
              <a:rPr/>
              <a:t>Running it — </a:t>
            </a:r>
            <a:r>
              <a:rPr>
                <a:latin typeface="Courier"/>
              </a:rPr>
              <a:t>uv run</a:t>
            </a:r>
          </a:p>
          <a:p>
            <a:pPr lvl="2"/>
            <a:r>
              <a:rPr/>
              <a:t>(Later) dependencies &amp; lockfiles — Week 10</a:t>
            </a:r>
          </a:p>
          <a:p>
            <a:pPr lvl="1"/>
            <a:r>
              <a:rPr/>
              <a:t>Replaces a pile of older tools with one command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Ruff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format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lint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Also from </a:t>
            </a:r>
            <a:r>
              <a:rPr b="1"/>
              <a:t>Astral</a:t>
            </a:r>
            <a:r>
              <a:rPr/>
              <a:t>, extremely fast</a:t>
            </a:r>
          </a:p>
          <a:p>
            <a:pPr lvl="1"/>
            <a:r>
              <a:rPr b="1">
                <a:latin typeface="Courier"/>
              </a:rPr>
              <a:t>ruff format</a:t>
            </a:r>
            <a:r>
              <a:rPr/>
              <a:t> → consistent style, automatically</a:t>
            </a:r>
          </a:p>
          <a:p>
            <a:pPr lvl="1"/>
            <a:r>
              <a:rPr b="1">
                <a:latin typeface="Courier"/>
              </a:rPr>
              <a:t>ruff check</a:t>
            </a:r>
            <a:r>
              <a:rPr/>
              <a:t> → flags likely mistakes &amp; messy code</a:t>
            </a:r>
          </a:p>
          <a:p>
            <a:pPr lvl="1"/>
            <a:r>
              <a:rPr/>
              <a:t>Run it with no install: </a:t>
            </a:r>
            <a:r>
              <a:rPr b="1">
                <a:latin typeface="Courier"/>
              </a:rPr>
              <a:t>uvx ruff format</a:t>
            </a:r>
          </a:p>
          <a:p>
            <a:pPr lvl="1"/>
            <a:r>
              <a:rPr/>
              <a:t>Free, open-source — like everything in Part 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turn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loose</a:t>
            </a:r>
            <a:r>
              <a:rPr/>
              <a:t> </a:t>
            </a:r>
            <a:r>
              <a:rPr/>
              <a:t>idea</a:t>
            </a:r>
            <a:r>
              <a:rPr/>
              <a:t> </a:t>
            </a:r>
            <a:r>
              <a:rPr/>
              <a:t>into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real</a:t>
            </a:r>
            <a:r>
              <a:rPr/>
              <a:t> </a:t>
            </a:r>
            <a:r>
              <a:rPr/>
              <a:t>project.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>
                <a:latin typeface="Courier"/>
              </a:rPr>
              <a:t>uv init</a:t>
            </a:r>
            <a:r>
              <a:rPr b="1"/>
              <a:t> project + Ruff</a:t>
            </a:r>
          </a:p>
          <a:p>
            <a:pPr lvl="1"/>
            <a:r>
              <a:rPr>
                <a:latin typeface="Courier"/>
              </a:rPr>
              <a:t>uv init taskapp</a:t>
            </a:r>
            <a:r>
              <a:rPr/>
              <a:t> → a real project appears</a:t>
            </a:r>
          </a:p>
          <a:p>
            <a:pPr lvl="1"/>
            <a:r>
              <a:rPr/>
              <a:t>Tour </a:t>
            </a:r>
            <a:r>
              <a:rPr>
                <a:latin typeface="Courier"/>
              </a:rPr>
              <a:t>pyproject.toml</a:t>
            </a:r>
            <a:r>
              <a:rPr/>
              <a:t>, </a:t>
            </a:r>
            <a:r>
              <a:rPr>
                <a:latin typeface="Courier"/>
              </a:rPr>
              <a:t>main.py</a:t>
            </a:r>
            <a:r>
              <a:rPr/>
              <a:t>, </a:t>
            </a:r>
            <a:r>
              <a:rPr>
                <a:latin typeface="Courier"/>
              </a:rPr>
              <a:t>README.md</a:t>
            </a:r>
            <a:r>
              <a:rPr/>
              <a:t>, </a:t>
            </a:r>
            <a:r>
              <a:rPr>
                <a:latin typeface="Courier"/>
              </a:rPr>
              <a:t>.python-version</a:t>
            </a:r>
          </a:p>
          <a:p>
            <a:pPr lvl="1"/>
            <a:r>
              <a:rPr/>
              <a:t>Run it: </a:t>
            </a:r>
            <a:r>
              <a:rPr>
                <a:latin typeface="Courier"/>
              </a:rPr>
              <a:t>uv run main.py</a:t>
            </a:r>
          </a:p>
          <a:p>
            <a:pPr lvl="1"/>
            <a:r>
              <a:rPr/>
              <a:t>Paste messy code → </a:t>
            </a:r>
            <a:r>
              <a:rPr>
                <a:latin typeface="Courier"/>
              </a:rPr>
              <a:t>ruff format</a:t>
            </a:r>
            <a:r>
              <a:rPr/>
              <a:t> fixes it</a:t>
            </a:r>
          </a:p>
          <a:p>
            <a:pPr lvl="1"/>
            <a:r>
              <a:rPr>
                <a:latin typeface="Courier"/>
              </a:rPr>
              <a:t>ruff check</a:t>
            </a:r>
            <a:r>
              <a:rPr/>
              <a:t> flags a problem → fix it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>
                <a:latin typeface="Courier"/>
              </a:rPr>
              <a:t>uv init</a:t>
            </a:r>
            <a:r>
              <a:rPr/>
              <a:t> </a:t>
            </a:r>
            <a:r>
              <a:rPr/>
              <a:t>creates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taskapp/
├── .python-version     # pins Python 3.14
├── README.md
├── main.py             # def main(): print("Hello...")
└── pyproject.toml      # project metadata
</a:t>
            </a:r>
          </a:p>
          <a:p>
            <a:pPr lvl="0" indent="0">
              <a:buNone/>
            </a:pPr>
            <a:r>
              <a:rPr>
                <a:latin typeface="Courier"/>
              </a:rPr>
              <a:t>$ uv run main.py</a:t>
            </a:r>
            <a:br/>
            <a:r>
              <a:rPr>
                <a:latin typeface="Courier"/>
              </a:rPr>
              <a:t>Hello from taskapp!</a:t>
            </a:r>
          </a:p>
          <a:p>
            <a:pPr lvl="0" marL="0" indent="0">
              <a:buNone/>
            </a:pPr>
            <a:r>
              <a:rPr/>
              <a:t>This </a:t>
            </a:r>
            <a:r>
              <a:rPr>
                <a:latin typeface="Courier"/>
              </a:rPr>
              <a:t>taskapp</a:t>
            </a:r>
            <a:r>
              <a:rPr/>
              <a:t> is the </a:t>
            </a:r>
            <a:r>
              <a:rPr b="1"/>
              <a:t>seed of your capstone</a:t>
            </a:r>
            <a:r>
              <a:rPr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Ruff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$ uvx ruff format</a:t>
            </a:r>
            <a:br/>
            <a:r>
              <a:rPr>
                <a:latin typeface="Courier"/>
              </a:rPr>
              <a:t>1 file reformatted</a:t>
            </a:r>
            <a:br/>
            <a:br/>
            <a:r>
              <a:rPr>
                <a:latin typeface="Courier"/>
              </a:rPr>
              <a:t>$ uvx ruff check</a:t>
            </a:r>
            <a:br/>
            <a:r>
              <a:rPr>
                <a:latin typeface="Courier"/>
              </a:rPr>
              <a:t>All checks passed!</a:t>
            </a:r>
          </a:p>
          <a:p>
            <a:pPr lvl="1"/>
            <a:r>
              <a:rPr>
                <a:latin typeface="Courier"/>
              </a:rPr>
              <a:t>format</a:t>
            </a:r>
            <a:r>
              <a:rPr/>
              <a:t> rewrites spacing, quotes, line length for you</a:t>
            </a:r>
          </a:p>
          <a:p>
            <a:pPr lvl="1"/>
            <a:r>
              <a:rPr>
                <a:latin typeface="Courier"/>
              </a:rPr>
              <a:t>check</a:t>
            </a:r>
            <a:r>
              <a:rPr/>
              <a:t> reports issues; </a:t>
            </a:r>
            <a:r>
              <a:rPr>
                <a:latin typeface="Courier"/>
              </a:rPr>
              <a:t>ruff check --fix</a:t>
            </a:r>
            <a:r>
              <a:rPr/>
              <a:t> fixes the safe ones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uv init</a:t>
            </a:r>
            <a:r>
              <a:rPr/>
              <a:t> made a </a:t>
            </a:r>
            <a:r>
              <a:rPr b="1"/>
              <a:t>complete, runnable project</a:t>
            </a:r>
            <a:r>
              <a:rPr/>
              <a:t> in seconds</a:t>
            </a:r>
          </a:p>
          <a:p>
            <a:pPr lvl="1"/>
            <a:r>
              <a:rPr>
                <a:latin typeface="Courier"/>
              </a:rPr>
              <a:t>uv run</a:t>
            </a:r>
            <a:r>
              <a:rPr/>
              <a:t> ran it inside its own managed environment</a:t>
            </a:r>
          </a:p>
          <a:p>
            <a:pPr lvl="1"/>
            <a:r>
              <a:rPr b="1"/>
              <a:t>Ruff</a:t>
            </a:r>
            <a:r>
              <a:rPr/>
              <a:t> cleaned the formatting and verified the code</a:t>
            </a:r>
          </a:p>
          <a:p>
            <a:pPr lvl="1"/>
            <a:r>
              <a:rPr>
                <a:latin typeface="Courier"/>
              </a:rPr>
              <a:t>taskapp</a:t>
            </a:r>
            <a:r>
              <a:rPr/>
              <a:t> is now the project we grow for 16 weeks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install</a:t>
            </a:r>
            <a:r>
              <a:rPr/>
              <a:t> </a:t>
            </a:r>
            <a:r>
              <a:rPr/>
              <a:t>help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Common</a:t>
            </a:r>
            <a:r>
              <a:rPr/>
              <a:t> </a:t>
            </a:r>
            <a:r>
              <a:rPr/>
              <a:t>pitfalls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OS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Install</a:t>
            </a:r>
            <a:r>
              <a:rPr/>
              <a:t> </a:t>
            </a:r>
            <a:r>
              <a:rPr/>
              <a:t>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Windows:</a:t>
            </a:r>
            <a:r>
              <a:rPr/>
              <a:t> use the Microsoft Store / Python Install Manager; or tick </a:t>
            </a:r>
            <a:r>
              <a:rPr b="1"/>
              <a:t>"Add Python to PATH"</a:t>
            </a:r>
            <a:r>
              <a:rPr/>
              <a:t> in the classic installer</a:t>
            </a:r>
          </a:p>
          <a:p>
            <a:pPr lvl="1"/>
            <a:r>
              <a:rPr b="1"/>
              <a:t>macOS:</a:t>
            </a:r>
            <a:r>
              <a:rPr/>
              <a:t> use the </a:t>
            </a:r>
            <a:r>
              <a:rPr>
                <a:latin typeface="Courier"/>
              </a:rPr>
              <a:t>.pkg</a:t>
            </a:r>
            <a:r>
              <a:rPr/>
              <a:t> from python.org, or </a:t>
            </a:r>
            <a:r>
              <a:rPr>
                <a:latin typeface="Courier"/>
              </a:rPr>
              <a:t>uv python install 3.14</a:t>
            </a:r>
          </a:p>
          <a:p>
            <a:pPr lvl="1"/>
            <a:r>
              <a:rPr b="1"/>
              <a:t>Linux:</a:t>
            </a:r>
            <a:r>
              <a:rPr/>
              <a:t> your distro's Python may be old — </a:t>
            </a:r>
            <a:r>
              <a:rPr>
                <a:latin typeface="Courier"/>
              </a:rPr>
              <a:t>uv python install 3.14</a:t>
            </a:r>
          </a:p>
          <a:p>
            <a:pPr lvl="1"/>
            <a:r>
              <a:rPr/>
              <a:t>Simplest cross-OS path: install </a:t>
            </a:r>
            <a:r>
              <a:rPr b="1">
                <a:latin typeface="Courier"/>
              </a:rPr>
              <a:t>uv</a:t>
            </a:r>
            <a:r>
              <a:rPr/>
              <a:t> first, let it fetch Python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python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python3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macOS / Linux: often </a:t>
            </a:r>
            <a:r>
              <a:rPr b="1">
                <a:latin typeface="Courier"/>
              </a:rPr>
              <a:t>python3</a:t>
            </a:r>
            <a:r>
              <a:rPr/>
              <a:t> (and </a:t>
            </a:r>
            <a:r>
              <a:rPr>
                <a:latin typeface="Courier"/>
              </a:rPr>
              <a:t>python3.14</a:t>
            </a:r>
            <a:r>
              <a:rPr/>
              <a:t>)</a:t>
            </a:r>
          </a:p>
          <a:p>
            <a:pPr lvl="1"/>
            <a:r>
              <a:rPr/>
              <a:t>Windows: the </a:t>
            </a:r>
            <a:r>
              <a:rPr b="1">
                <a:latin typeface="Courier"/>
              </a:rPr>
              <a:t>py</a:t>
            </a:r>
            <a:r>
              <a:rPr/>
              <a:t> launcher, e.g. </a:t>
            </a:r>
            <a:r>
              <a:rPr>
                <a:latin typeface="Courier"/>
              </a:rPr>
              <a:t>py -3.14</a:t>
            </a:r>
          </a:p>
          <a:p>
            <a:pPr lvl="1"/>
            <a:r>
              <a:rPr/>
              <a:t>Inside a </a:t>
            </a:r>
            <a:r>
              <a:rPr>
                <a:latin typeface="Courier"/>
              </a:rPr>
              <a:t>uv</a:t>
            </a:r>
            <a:r>
              <a:rPr/>
              <a:t> project: just </a:t>
            </a:r>
            <a:r>
              <a:rPr b="1">
                <a:latin typeface="Courier"/>
              </a:rPr>
              <a:t>uv run ...</a:t>
            </a:r>
            <a:r>
              <a:rPr/>
              <a:t> — no guessing</a:t>
            </a:r>
          </a:p>
          <a:p>
            <a:pPr lvl="1"/>
            <a:r>
              <a:rPr/>
              <a:t>If a command "isn't found", it's almost always a </a:t>
            </a:r>
            <a:r>
              <a:rPr b="1"/>
              <a:t>PATH</a:t>
            </a:r>
            <a:r>
              <a:rPr/>
              <a:t> issue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week's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prove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toolchain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Install </a:t>
            </a:r>
            <a:r>
              <a:rPr b="1"/>
              <a:t>Python 3.14</a:t>
            </a:r>
            <a:r>
              <a:rPr/>
              <a:t>, </a:t>
            </a:r>
            <a:r>
              <a:rPr b="1"/>
              <a:t>uv</a:t>
            </a:r>
            <a:r>
              <a:rPr/>
              <a:t>, </a:t>
            </a:r>
            <a:r>
              <a:rPr b="1"/>
              <a:t>Ruff</a:t>
            </a:r>
            <a:r>
              <a:rPr/>
              <a:t>, </a:t>
            </a:r>
            <a:r>
              <a:rPr b="1"/>
              <a:t>VS Code</a:t>
            </a:r>
          </a:p>
          <a:p>
            <a:pPr lvl="1">
              <a:buAutoNum type="arabicPeriod"/>
            </a:pPr>
            <a:r>
              <a:rPr/>
              <a:t>In the </a:t>
            </a:r>
            <a:r>
              <a:rPr b="1"/>
              <a:t>REPL</a:t>
            </a:r>
            <a:r>
              <a:rPr/>
              <a:t>: evaluate three expressions</a:t>
            </a:r>
          </a:p>
          <a:p>
            <a:pPr lvl="1">
              <a:buAutoNum type="arabicPeriod"/>
            </a:pPr>
            <a:r>
              <a:rPr/>
              <a:t>Write </a:t>
            </a:r>
            <a:r>
              <a:rPr>
                <a:latin typeface="Courier"/>
              </a:rPr>
              <a:t>hello.py</a:t>
            </a:r>
            <a:r>
              <a:rPr/>
              <a:t>; run it </a:t>
            </a:r>
            <a:r>
              <a:rPr b="1"/>
              <a:t>both ways</a:t>
            </a:r>
          </a:p>
          <a:p>
            <a:pPr lvl="1">
              <a:buAutoNum type="arabicPeriod"/>
            </a:pPr>
            <a:r>
              <a:rPr>
                <a:latin typeface="Courier"/>
              </a:rPr>
              <a:t>uv init taskapp</a:t>
            </a:r>
            <a:r>
              <a:rPr/>
              <a:t>; run it; </a:t>
            </a:r>
            <a:r>
              <a:rPr b="1"/>
              <a:t>format</a:t>
            </a:r>
            <a:r>
              <a:rPr/>
              <a:t> with Ruff</a:t>
            </a:r>
          </a:p>
          <a:p>
            <a:pPr lvl="1">
              <a:buAutoNum type="arabicPeriod"/>
            </a:pPr>
            <a:r>
              <a:rPr b="1"/>
              <a:t>Submit:</a:t>
            </a:r>
            <a:r>
              <a:rPr/>
              <a:t> screenshots of the REPL + script, and your formatted project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1</a:t>
            </a:r>
            <a:r>
              <a:rPr/>
              <a:t> then </a:t>
            </a:r>
            <a:r>
              <a:rPr b="1"/>
              <a:t>Demo 2</a:t>
            </a:r>
            <a:r>
              <a:rPr/>
              <a:t> from the recording.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2 — Numbers, Variables &amp; Expressions</a:t>
            </a:r>
          </a:p>
          <a:p>
            <a:pPr lvl="1"/>
            <a:r>
              <a:rPr/>
              <a:t>We'll use the REPL and </a:t>
            </a:r>
            <a:r>
              <a:rPr>
                <a:latin typeface="Courier"/>
              </a:rPr>
              <a:t>taskapp</a:t>
            </a:r>
            <a:r>
              <a:rPr/>
              <a:t> you set up today</a:t>
            </a:r>
          </a:p>
          <a:p>
            <a:pPr lvl="1"/>
            <a:r>
              <a:rPr/>
              <a:t>Bring your working environment — everything builds on it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2026-06-22T16:13:22Z</dcterms:created>
  <dcterms:modified xsi:type="dcterms:W3CDTF">2026-06-22T16:13:22Z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