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50" Type="http://schemas.openxmlformats.org/officeDocument/2006/relationships/viewProps" Target="viewProps.xml" /><Relationship Id="rId4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2" Type="http://schemas.openxmlformats.org/officeDocument/2006/relationships/tableStyles" Target="tableStyles.xml" /><Relationship Id="rId5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Lists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Tuples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Python</a:t>
            </a:r>
            <a:r>
              <a:rPr/>
              <a:t> </a:t>
            </a:r>
            <a:r>
              <a:rPr/>
              <a:t>Mastery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Part</a:t>
            </a:r>
            <a:r>
              <a:rPr/>
              <a:t> </a:t>
            </a:r>
            <a:r>
              <a:rPr/>
              <a:t>1:</a:t>
            </a:r>
            <a:r>
              <a:rPr/>
              <a:t> </a:t>
            </a:r>
            <a:r>
              <a:rPr/>
              <a:t>Foundations</a:t>
            </a:r>
            <a:r>
              <a:rPr/>
              <a:t> </a:t>
            </a:r>
            <a:r>
              <a:rPr/>
              <a:t>·</a:t>
            </a:r>
            <a:r>
              <a:rPr/>
              <a:t> </a:t>
            </a:r>
            <a:r>
              <a:rPr/>
              <a:t>Week</a:t>
            </a:r>
            <a:r>
              <a:rPr/>
              <a:t> </a:t>
            </a:r>
            <a:r>
              <a:rPr/>
              <a:t>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Rathinam Trainers &amp; Consultants</a:t>
            </a:r>
            <a:r>
              <a:rPr/>
              <a:t> Live on Microsoft Teams · recorded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Recap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today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Where</a:t>
            </a:r>
            <a:r>
              <a:rPr/>
              <a:t> </a:t>
            </a:r>
            <a:r>
              <a:rPr/>
              <a:t>we</a:t>
            </a:r>
            <a:r>
              <a:rPr/>
              <a:t> </a:t>
            </a:r>
            <a:r>
              <a:rPr/>
              <a:t>are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journey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Last</a:t>
            </a:r>
            <a:r>
              <a:rPr/>
              <a:t> </a:t>
            </a:r>
            <a:r>
              <a:rPr/>
              <a:t>week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Functions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Type</a:t>
            </a:r>
            <a:r>
              <a:rPr/>
              <a:t> </a:t>
            </a:r>
            <a:r>
              <a:rPr/>
              <a:t>Hints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>
                <a:latin typeface="Courier"/>
              </a:rPr>
              <a:t>def</a:t>
            </a:r>
            <a:r>
              <a:rPr/>
              <a:t> / </a:t>
            </a:r>
            <a:r>
              <a:rPr>
                <a:latin typeface="Courier"/>
              </a:rPr>
              <a:t>return</a:t>
            </a:r>
            <a:r>
              <a:rPr/>
              <a:t>, and the full </a:t>
            </a:r>
            <a:r>
              <a:rPr b="1"/>
              <a:t>argument grammar</a:t>
            </a:r>
          </a:p>
          <a:p>
            <a:pPr lvl="1"/>
            <a:r>
              <a:rPr/>
              <a:t>Defaults, </a:t>
            </a:r>
            <a:r>
              <a:rPr>
                <a:latin typeface="Courier"/>
              </a:rPr>
              <a:t>*args</a:t>
            </a:r>
            <a:r>
              <a:rPr/>
              <a:t>, </a:t>
            </a:r>
            <a:r>
              <a:rPr>
                <a:latin typeface="Courier"/>
              </a:rPr>
              <a:t>**kwargs</a:t>
            </a:r>
            <a:r>
              <a:rPr/>
              <a:t>, keyword-only, positional-only</a:t>
            </a:r>
          </a:p>
          <a:p>
            <a:pPr lvl="1"/>
            <a:r>
              <a:rPr b="1"/>
              <a:t>LEGB</a:t>
            </a:r>
            <a:r>
              <a:rPr/>
              <a:t> scope, </a:t>
            </a:r>
            <a:r>
              <a:rPr>
                <a:latin typeface="Courier"/>
              </a:rPr>
              <a:t>global</a:t>
            </a:r>
            <a:r>
              <a:rPr/>
              <a:t> / </a:t>
            </a:r>
            <a:r>
              <a:rPr>
                <a:latin typeface="Courier"/>
              </a:rPr>
              <a:t>nonlocal</a:t>
            </a:r>
            <a:r>
              <a:rPr/>
              <a:t>, lambdas</a:t>
            </a:r>
          </a:p>
          <a:p>
            <a:pPr lvl="1"/>
            <a:r>
              <a:rPr b="1"/>
              <a:t>Type hints</a:t>
            </a:r>
            <a:r>
              <a:rPr/>
              <a:t>: </a:t>
            </a:r>
            <a:r>
              <a:rPr>
                <a:latin typeface="Courier"/>
              </a:rPr>
              <a:t>def add(a: int, b: int) -&gt; int:</a:t>
            </a:r>
          </a:p>
          <a:p>
            <a:pPr lvl="0" marL="1270000" indent="0">
              <a:buNone/>
            </a:pPr>
            <a:r>
              <a:rPr sz="2000"/>
              <a:t>You can now package logic into reusable units. Today: what those units </a:t>
            </a:r>
            <a:r>
              <a:rPr sz="2000" b="1"/>
              <a:t>carry</a:t>
            </a:r>
            <a:r>
              <a:rPr sz="2000"/>
              <a:t>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Today’s</a:t>
            </a:r>
            <a:r>
              <a:rPr/>
              <a:t> </a:t>
            </a:r>
            <a:r>
              <a:rPr/>
              <a:t>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By the end of this session you’ll understand how to:</a:t>
            </a:r>
          </a:p>
          <a:p>
            <a:pPr lvl="1"/>
            <a:r>
              <a:rPr/>
              <a:t>Build and change </a:t>
            </a:r>
            <a:r>
              <a:rPr b="1"/>
              <a:t>lists</a:t>
            </a:r>
            <a:r>
              <a:rPr/>
              <a:t> with the core methods</a:t>
            </a:r>
          </a:p>
          <a:p>
            <a:pPr lvl="1"/>
            <a:r>
              <a:rPr/>
              <a:t>Slice, slice-</a:t>
            </a:r>
            <a:r>
              <a:rPr b="1"/>
              <a:t>assign</a:t>
            </a:r>
            <a:r>
              <a:rPr/>
              <a:t>, and delete with </a:t>
            </a:r>
            <a:r>
              <a:rPr>
                <a:latin typeface="Courier"/>
              </a:rPr>
              <a:t>del</a:t>
            </a:r>
          </a:p>
          <a:p>
            <a:pPr lvl="1"/>
            <a:r>
              <a:rPr/>
              <a:t>Reason about </a:t>
            </a:r>
            <a:r>
              <a:rPr b="1"/>
              <a:t>mutability</a:t>
            </a:r>
            <a:r>
              <a:rPr/>
              <a:t> and the </a:t>
            </a:r>
            <a:r>
              <a:rPr b="1"/>
              <a:t>aliasing</a:t>
            </a:r>
            <a:r>
              <a:rPr/>
              <a:t> trap</a:t>
            </a:r>
          </a:p>
          <a:p>
            <a:pPr lvl="1"/>
            <a:r>
              <a:rPr/>
              <a:t>Use </a:t>
            </a:r>
            <a:r>
              <a:rPr b="1"/>
              <a:t>tuples</a:t>
            </a:r>
            <a:r>
              <a:rPr/>
              <a:t> for fixed records, and </a:t>
            </a:r>
            <a:r>
              <a:rPr b="1"/>
              <a:t>unpack</a:t>
            </a:r>
            <a:r>
              <a:rPr/>
              <a:t> them fluently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Working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lists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Python’s</a:t>
            </a:r>
            <a:r>
              <a:rPr/>
              <a:t> </a:t>
            </a:r>
            <a:r>
              <a:rPr/>
              <a:t>everyday</a:t>
            </a:r>
            <a:r>
              <a:rPr/>
              <a:t> </a:t>
            </a:r>
            <a:r>
              <a:rPr/>
              <a:t>container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list?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tasks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70A0"/>
                </a:solidFill>
                <a:latin typeface="Courier"/>
              </a:rPr>
              <a:t>"write report"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"buy milk"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"call bank"</a:t>
            </a:r>
            <a:r>
              <a:rPr>
                <a:latin typeface="Courier"/>
              </a:rPr>
              <a:t>]</a:t>
            </a:r>
          </a:p>
          <a:p>
            <a:pPr lvl="1"/>
            <a:r>
              <a:rPr b="1"/>
              <a:t>Ordered</a:t>
            </a:r>
            <a:r>
              <a:rPr/>
              <a:t> — items keep the position you put them in</a:t>
            </a:r>
          </a:p>
          <a:p>
            <a:pPr lvl="1"/>
            <a:r>
              <a:rPr b="1"/>
              <a:t>Mutable</a:t>
            </a:r>
            <a:r>
              <a:rPr/>
              <a:t> — it can be changed </a:t>
            </a:r>
            <a:r>
              <a:rPr i="1"/>
              <a:t>in place</a:t>
            </a:r>
            <a:r>
              <a:rPr/>
              <a:t>, after it’s built</a:t>
            </a:r>
          </a:p>
          <a:p>
            <a:pPr lvl="1"/>
            <a:r>
              <a:rPr/>
              <a:t>Can hold </a:t>
            </a:r>
            <a:r>
              <a:rPr b="1"/>
              <a:t>anything</a:t>
            </a:r>
            <a:r>
              <a:rPr/>
              <a:t>, even mixed types</a:t>
            </a:r>
          </a:p>
          <a:p>
            <a:pPr lvl="1"/>
            <a:r>
              <a:rPr>
                <a:latin typeface="Courier"/>
              </a:rPr>
              <a:t>len(tasks)</a:t>
            </a:r>
            <a:r>
              <a:rPr/>
              <a:t> → </a:t>
            </a:r>
            <a:r>
              <a:rPr>
                <a:latin typeface="Courier"/>
              </a:rPr>
              <a:t>3</a:t>
            </a:r>
            <a:r>
              <a:rPr/>
              <a:t> · </a:t>
            </a:r>
            <a:r>
              <a:rPr>
                <a:latin typeface="Courier"/>
              </a:rPr>
              <a:t>"buy milk" in tasks</a:t>
            </a:r>
            <a:r>
              <a:rPr/>
              <a:t> → </a:t>
            </a:r>
            <a:r>
              <a:rPr>
                <a:latin typeface="Courier"/>
              </a:rPr>
              <a:t>True</a:t>
            </a:r>
          </a:p>
          <a:p>
            <a:pPr lvl="0" marL="0" indent="0">
              <a:buNone/>
            </a:pPr>
            <a:r>
              <a:rPr/>
              <a:t>Square brackets </a:t>
            </a:r>
            <a:r>
              <a:rPr>
                <a:latin typeface="Courier"/>
              </a:rPr>
              <a:t>[]</a:t>
            </a:r>
            <a:r>
              <a:rPr/>
              <a:t> make a list. Square brackets also </a:t>
            </a:r>
            <a:r>
              <a:rPr i="1"/>
              <a:t>index</a:t>
            </a:r>
            <a:r>
              <a:rPr/>
              <a:t> one.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Growing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tasks.append("call bank")        # one item, at the end
&gt;&gt;&gt; tasks.insert(0, "pay rent")      # one item, at a position
&gt;&gt;&gt; tasks.extend(["water plants", "book flights"])   # many items</a:t>
            </a:r>
          </a:p>
          <a:p>
            <a:pPr lvl="1"/>
            <a:r>
              <a:rPr>
                <a:latin typeface="Courier"/>
              </a:rPr>
              <a:t>append</a:t>
            </a:r>
            <a:r>
              <a:rPr/>
              <a:t> adds </a:t>
            </a:r>
            <a:r>
              <a:rPr b="1"/>
              <a:t>one</a:t>
            </a:r>
            <a:r>
              <a:rPr/>
              <a:t> item — even if that item is a list</a:t>
            </a:r>
          </a:p>
          <a:p>
            <a:pPr lvl="1"/>
            <a:r>
              <a:rPr>
                <a:latin typeface="Courier"/>
              </a:rPr>
              <a:t>insert(i, x)</a:t>
            </a:r>
            <a:r>
              <a:rPr/>
              <a:t> puts </a:t>
            </a:r>
            <a:r>
              <a:rPr>
                <a:latin typeface="Courier"/>
              </a:rPr>
              <a:t>x</a:t>
            </a:r>
            <a:r>
              <a:rPr/>
              <a:t> </a:t>
            </a:r>
            <a:r>
              <a:rPr b="1"/>
              <a:t>before</a:t>
            </a:r>
            <a:r>
              <a:rPr/>
              <a:t> index </a:t>
            </a:r>
            <a:r>
              <a:rPr>
                <a:latin typeface="Courier"/>
              </a:rPr>
              <a:t>i</a:t>
            </a:r>
          </a:p>
          <a:p>
            <a:pPr lvl="1"/>
            <a:r>
              <a:rPr>
                <a:latin typeface="Courier"/>
              </a:rPr>
              <a:t>extend</a:t>
            </a:r>
            <a:r>
              <a:rPr/>
              <a:t> unpacks an iterable and adds </a:t>
            </a:r>
            <a:r>
              <a:rPr b="1"/>
              <a:t>each</a:t>
            </a:r>
            <a:r>
              <a:rPr/>
              <a:t> item</a:t>
            </a:r>
          </a:p>
          <a:p>
            <a:pPr lvl="0" marL="0" indent="0">
              <a:buNone/>
            </a:pPr>
            <a:r>
              <a:rPr/>
              <a:t>All three change the list </a:t>
            </a:r>
            <a:r>
              <a:rPr b="1"/>
              <a:t>in place</a:t>
            </a:r>
            <a:r>
              <a:rPr/>
              <a:t> and return </a:t>
            </a:r>
            <a:r>
              <a:rPr>
                <a:latin typeface="Courier"/>
              </a:rPr>
              <a:t>None</a:t>
            </a:r>
            <a:r>
              <a:rPr/>
              <a:t>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Shrinking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tasks.remove("buy milk")   # by VALUE — first match only
&gt;&gt;&gt; tasks.pop()                # by POSITION — returns the item
'book flights'
&gt;&gt;&gt; tasks.pop(0)               # pop from the front
'pay rent'
&gt;&gt;&gt; tasks.clear()              # empty it</a:t>
            </a:r>
          </a:p>
          <a:p>
            <a:pPr lvl="1"/>
            <a:r>
              <a:rPr>
                <a:latin typeface="Courier"/>
              </a:rPr>
              <a:t>remove</a:t>
            </a:r>
            <a:r>
              <a:rPr/>
              <a:t> takes a </a:t>
            </a:r>
            <a:r>
              <a:rPr b="1"/>
              <a:t>value</a:t>
            </a:r>
            <a:r>
              <a:rPr/>
              <a:t>; </a:t>
            </a:r>
            <a:r>
              <a:rPr>
                <a:latin typeface="Courier"/>
              </a:rPr>
              <a:t>pop</a:t>
            </a:r>
            <a:r>
              <a:rPr/>
              <a:t> takes an </a:t>
            </a:r>
            <a:r>
              <a:rPr b="1"/>
              <a:t>index</a:t>
            </a:r>
          </a:p>
          <a:p>
            <a:pPr lvl="1"/>
            <a:r>
              <a:rPr>
                <a:latin typeface="Courier"/>
              </a:rPr>
              <a:t>pop</a:t>
            </a:r>
            <a:r>
              <a:rPr/>
              <a:t> </a:t>
            </a:r>
            <a:r>
              <a:rPr b="1"/>
              <a:t>returns</a:t>
            </a:r>
            <a:r>
              <a:rPr/>
              <a:t> what it removed — </a:t>
            </a:r>
            <a:r>
              <a:rPr>
                <a:latin typeface="Courier"/>
              </a:rPr>
              <a:t>remove</a:t>
            </a:r>
            <a:r>
              <a:rPr/>
              <a:t> returns </a:t>
            </a:r>
            <a:r>
              <a:rPr>
                <a:latin typeface="Courier"/>
              </a:rPr>
              <a:t>None</a:t>
            </a:r>
          </a:p>
          <a:p>
            <a:pPr lvl="1"/>
            <a:r>
              <a:rPr>
                <a:latin typeface="Courier"/>
              </a:rPr>
              <a:t>remove</a:t>
            </a:r>
            <a:r>
              <a:rPr/>
              <a:t> on a missing value → </a:t>
            </a:r>
            <a:r>
              <a:rPr>
                <a:latin typeface="Courier"/>
              </a:rPr>
              <a:t>ValueError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Finding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counting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tasks.index("call bank")
1
&gt;&gt;&gt; tasks.count("call bank")
1</a:t>
            </a:r>
          </a:p>
          <a:p>
            <a:pPr lvl="1"/>
            <a:r>
              <a:rPr>
                <a:latin typeface="Courier"/>
              </a:rPr>
              <a:t>index(value)</a:t>
            </a:r>
            <a:r>
              <a:rPr/>
              <a:t> → position of the </a:t>
            </a:r>
            <a:r>
              <a:rPr b="1"/>
              <a:t>first</a:t>
            </a:r>
            <a:r>
              <a:rPr/>
              <a:t> match, else </a:t>
            </a:r>
            <a:r>
              <a:rPr>
                <a:latin typeface="Courier"/>
              </a:rPr>
              <a:t>ValueError</a:t>
            </a:r>
          </a:p>
          <a:p>
            <a:pPr lvl="1"/>
            <a:r>
              <a:rPr>
                <a:latin typeface="Courier"/>
              </a:rPr>
              <a:t>count(value)</a:t>
            </a:r>
            <a:r>
              <a:rPr/>
              <a:t> → how many times it appears (</a:t>
            </a:r>
            <a:r>
              <a:rPr>
                <a:latin typeface="Courier"/>
              </a:rPr>
              <a:t>0</a:t>
            </a:r>
            <a:r>
              <a:rPr/>
              <a:t> is safe)</a:t>
            </a:r>
          </a:p>
          <a:p>
            <a:pPr lvl="0" marL="1270000" indent="0">
              <a:buNone/>
            </a:pPr>
            <a:r>
              <a:rPr sz="2000">
                <a:latin typeface="Courier"/>
              </a:rPr>
              <a:t>index</a:t>
            </a:r>
            <a:r>
              <a:rPr sz="2000"/>
              <a:t> accepts optional </a:t>
            </a:r>
            <a:r>
              <a:rPr sz="2000">
                <a:latin typeface="Courier"/>
              </a:rPr>
              <a:t>start</a:t>
            </a:r>
            <a:r>
              <a:rPr sz="2000"/>
              <a:t> / </a:t>
            </a:r>
            <a:r>
              <a:rPr sz="2000">
                <a:latin typeface="Courier"/>
              </a:rPr>
              <a:t>stop</a:t>
            </a:r>
            <a:r>
              <a:rPr sz="2000"/>
              <a:t> — but </a:t>
            </a:r>
            <a:r>
              <a:rPr sz="2000" b="1"/>
              <a:t>positionally only</a:t>
            </a:r>
            <a:r>
              <a:rPr sz="2000"/>
              <a:t>: </a:t>
            </a:r>
            <a:r>
              <a:rPr sz="2000">
                <a:latin typeface="Courier"/>
              </a:rPr>
              <a:t>tasks.index("x", start=0)</a:t>
            </a:r>
            <a:r>
              <a:rPr sz="2000"/>
              <a:t> raises </a:t>
            </a:r>
            <a:r>
              <a:rPr sz="2000">
                <a:latin typeface="Courier"/>
              </a:rPr>
              <a:t>TypeError</a:t>
            </a:r>
            <a:r>
              <a:rPr sz="2000"/>
              <a:t>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Reordering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copying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nums = [3, 1, 2]
&gt;&gt;&gt; nums.sort()          # in place, returns None
&gt;&gt;&gt; nums.reverse()       # in place, returns None
&gt;&gt;&gt; shallow = nums.copy()</a:t>
            </a:r>
          </a:p>
          <a:p>
            <a:pPr lvl="1"/>
            <a:r>
              <a:rPr>
                <a:latin typeface="Courier"/>
              </a:rPr>
              <a:t>sort()</a:t>
            </a:r>
            <a:r>
              <a:rPr/>
              <a:t> and </a:t>
            </a:r>
            <a:r>
              <a:rPr>
                <a:latin typeface="Courier"/>
              </a:rPr>
              <a:t>reverse()</a:t>
            </a:r>
            <a:r>
              <a:rPr/>
              <a:t> rearrange </a:t>
            </a:r>
            <a:r>
              <a:rPr b="1"/>
              <a:t>this</a:t>
            </a:r>
            <a:r>
              <a:rPr/>
              <a:t> list and return </a:t>
            </a:r>
            <a:r>
              <a:rPr>
                <a:latin typeface="Courier"/>
              </a:rPr>
              <a:t>None</a:t>
            </a:r>
          </a:p>
          <a:p>
            <a:pPr lvl="1"/>
            <a:r>
              <a:rPr>
                <a:latin typeface="Courier"/>
              </a:rPr>
              <a:t>sort(key=..., reverse=...)</a:t>
            </a:r>
            <a:r>
              <a:rPr/>
              <a:t> — </a:t>
            </a:r>
            <a:r>
              <a:rPr b="1"/>
              <a:t>keyword-only</a:t>
            </a:r>
            <a:r>
              <a:rPr/>
              <a:t> arguments</a:t>
            </a:r>
          </a:p>
          <a:p>
            <a:pPr lvl="1"/>
            <a:r>
              <a:rPr>
                <a:latin typeface="Courier"/>
              </a:rPr>
              <a:t>copy()</a:t>
            </a:r>
            <a:r>
              <a:rPr/>
              <a:t> hands back a </a:t>
            </a:r>
            <a:r>
              <a:rPr b="1"/>
              <a:t>new</a:t>
            </a:r>
            <a:r>
              <a:rPr/>
              <a:t> list — we’ll see why that matters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Indexing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slicing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tasks[0]        # first
'pay rent'
&gt;&gt;&gt; tasks[-1]       # last
'water plants'
&gt;&gt;&gt; tasks[1:3]      # a NEW list, items 1 and 2
['write report', 'call bank']</a:t>
            </a:r>
          </a:p>
          <a:p>
            <a:pPr lvl="1"/>
            <a:r>
              <a:rPr/>
              <a:t>Indexing gives you </a:t>
            </a:r>
            <a:r>
              <a:rPr b="1"/>
              <a:t>one item</a:t>
            </a:r>
          </a:p>
          <a:p>
            <a:pPr lvl="1"/>
            <a:r>
              <a:rPr/>
              <a:t>Slicing gives you a </a:t>
            </a:r>
            <a:r>
              <a:rPr b="1"/>
              <a:t>new list</a:t>
            </a:r>
            <a:r>
              <a:rPr/>
              <a:t> — the original is untouched</a:t>
            </a:r>
          </a:p>
          <a:p>
            <a:pPr lvl="1"/>
            <a:r>
              <a:rPr/>
              <a:t>Same </a:t>
            </a:r>
            <a:r>
              <a:rPr>
                <a:latin typeface="Courier"/>
              </a:rPr>
              <a:t>[start:stop:step]</a:t>
            </a:r>
            <a:r>
              <a:rPr/>
              <a:t> grammar you learned on strings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Slice</a:t>
            </a:r>
            <a:r>
              <a:rPr/>
              <a:t> </a:t>
            </a:r>
            <a:r>
              <a:rPr/>
              <a:t>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tasks
['pay rent', 'write report', 'call bank', 'water plants']
&gt;&gt;&gt; tasks[1:3] = ["ring the bank"]
&gt;&gt;&gt; tasks
['pay rent', 'ring the bank', 'water plants']</a:t>
            </a:r>
          </a:p>
          <a:p>
            <a:pPr lvl="1"/>
            <a:r>
              <a:rPr/>
              <a:t>Assign </a:t>
            </a:r>
            <a:r>
              <a:rPr b="1"/>
              <a:t>to a slice</a:t>
            </a:r>
            <a:r>
              <a:rPr/>
              <a:t> to replace a whole range at once</a:t>
            </a:r>
          </a:p>
          <a:p>
            <a:pPr lvl="1"/>
            <a:r>
              <a:rPr/>
              <a:t>The replacement can be </a:t>
            </a:r>
            <a:r>
              <a:rPr b="1"/>
              <a:t>longer or shorter</a:t>
            </a:r>
            <a:r>
              <a:rPr/>
              <a:t> — the list resizes</a:t>
            </a:r>
          </a:p>
          <a:p>
            <a:pPr lvl="1"/>
            <a:r>
              <a:rPr/>
              <a:t>Strings can’t do this. Lists can, because lists are </a:t>
            </a:r>
            <a:r>
              <a:rPr b="1"/>
              <a:t>mutable</a:t>
            </a:r>
            <a:r>
              <a:rPr/>
              <a:t>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>
                <a:latin typeface="Courier"/>
              </a:rPr>
              <a:t>del</a:t>
            </a:r>
            <a:r>
              <a:rPr/>
              <a:t> </a:t>
            </a:r>
            <a:r>
              <a:rPr/>
              <a:t>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a = [-1, 1, 66.25, 333, 333, 1234.5]
&gt;&gt;&gt; del a[0]        # [1, 66.25, 333, 333, 1234.5]
&gt;&gt;&gt; del a[2:4]      # [1, 66.25, 1234.5]
&gt;&gt;&gt; del a[:]        # []       — empties it
&gt;&gt;&gt; del a           # the NAME a is gone</a:t>
            </a:r>
          </a:p>
          <a:p>
            <a:pPr lvl="1"/>
            <a:r>
              <a:rPr>
                <a:latin typeface="Courier"/>
              </a:rPr>
              <a:t>del</a:t>
            </a:r>
            <a:r>
              <a:rPr/>
              <a:t> removes </a:t>
            </a:r>
            <a:r>
              <a:rPr b="1"/>
              <a:t>by position</a:t>
            </a:r>
            <a:r>
              <a:rPr/>
              <a:t>, and returns nothing</a:t>
            </a:r>
          </a:p>
          <a:p>
            <a:pPr lvl="1"/>
            <a:r>
              <a:rPr>
                <a:latin typeface="Courier"/>
              </a:rPr>
              <a:t>pop</a:t>
            </a:r>
            <a:r>
              <a:rPr/>
              <a:t> removes </a:t>
            </a:r>
            <a:r>
              <a:rPr i="1"/>
              <a:t>and hands the item back</a:t>
            </a:r>
            <a:r>
              <a:rPr/>
              <a:t>; </a:t>
            </a:r>
            <a:r>
              <a:rPr>
                <a:latin typeface="Courier"/>
              </a:rPr>
              <a:t>del</a:t>
            </a:r>
            <a:r>
              <a:rPr/>
              <a:t> just deletes</a:t>
            </a:r>
          </a:p>
          <a:p>
            <a:pPr lvl="1"/>
            <a:r>
              <a:rPr>
                <a:latin typeface="Courier"/>
              </a:rPr>
              <a:t>del a[:]</a:t>
            </a:r>
            <a:r>
              <a:rPr/>
              <a:t> empties the list; </a:t>
            </a:r>
            <a:r>
              <a:rPr>
                <a:latin typeface="Courier"/>
              </a:rPr>
              <a:t>del a</a:t>
            </a:r>
            <a:r>
              <a:rPr/>
              <a:t> removes the variable itself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Mutation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aliasing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trap</a:t>
            </a:r>
            <a:r>
              <a:rPr/>
              <a:t> </a:t>
            </a:r>
            <a:r>
              <a:rPr/>
              <a:t>that</a:t>
            </a:r>
            <a:r>
              <a:rPr/>
              <a:t> </a:t>
            </a:r>
            <a:r>
              <a:rPr/>
              <a:t>catches</a:t>
            </a:r>
            <a:r>
              <a:rPr/>
              <a:t> </a:t>
            </a:r>
            <a:r>
              <a:rPr/>
              <a:t>everyone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Mutable</a:t>
            </a:r>
            <a:r>
              <a:rPr/>
              <a:t> </a:t>
            </a:r>
            <a:r>
              <a:rPr/>
              <a:t>means</a:t>
            </a:r>
            <a:r>
              <a:rPr/>
              <a:t> </a:t>
            </a:r>
            <a:r>
              <a:rPr/>
              <a:t>it</a:t>
            </a:r>
            <a:r>
              <a:rPr/>
              <a:t> </a:t>
            </a:r>
            <a:r>
              <a:rPr/>
              <a:t>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Strings are </a:t>
            </a:r>
            <a:r>
              <a:rPr b="1"/>
              <a:t>immutable</a:t>
            </a:r>
            <a:r>
              <a:rPr/>
              <a:t> — methods hand back a </a:t>
            </a:r>
            <a:r>
              <a:rPr i="1"/>
              <a:t>new</a:t>
            </a:r>
            <a:r>
              <a:rPr/>
              <a:t> string:</a:t>
            </a:r>
          </a:p>
          <a:p>
            <a:pPr lvl="0" indent="0">
              <a:buNone/>
            </a:pPr>
            <a:r>
              <a:rPr>
                <a:latin typeface="Courier"/>
              </a:rPr>
              <a:t>name.upper()          </a:t>
            </a:r>
            <a:r>
              <a:rPr i="1">
                <a:solidFill>
                  <a:srgbClr val="60A0B0"/>
                </a:solidFill>
                <a:latin typeface="Courier"/>
              </a:rPr>
              <a:t># returns a new string</a:t>
            </a:r>
          </a:p>
          <a:p>
            <a:pPr lvl="0" marL="0" indent="0">
              <a:buNone/>
            </a:pPr>
            <a:r>
              <a:rPr/>
              <a:t>Lists are </a:t>
            </a:r>
            <a:r>
              <a:rPr b="1"/>
              <a:t>mutable</a:t>
            </a:r>
            <a:r>
              <a:rPr/>
              <a:t> — methods change the </a:t>
            </a:r>
            <a:r>
              <a:rPr i="1"/>
              <a:t>same</a:t>
            </a:r>
            <a:r>
              <a:rPr/>
              <a:t> list:</a:t>
            </a:r>
          </a:p>
          <a:p>
            <a:pPr lvl="0" indent="0">
              <a:buNone/>
            </a:pPr>
            <a:r>
              <a:rPr>
                <a:latin typeface="Courier"/>
              </a:rPr>
              <a:t>tasks.append(</a:t>
            </a:r>
            <a:r>
              <a:rPr>
                <a:solidFill>
                  <a:srgbClr val="4070A0"/>
                </a:solidFill>
                <a:latin typeface="Courier"/>
              </a:rPr>
              <a:t>"x"</a:t>
            </a:r>
            <a:r>
              <a:rPr>
                <a:latin typeface="Courier"/>
              </a:rPr>
              <a:t>)     </a:t>
            </a:r>
            <a:r>
              <a:rPr i="1">
                <a:solidFill>
                  <a:srgbClr val="60A0B0"/>
                </a:solidFill>
                <a:latin typeface="Courier"/>
              </a:rPr>
              <a:t># returns None; tasks itself changed</a:t>
            </a:r>
          </a:p>
          <a:p>
            <a:pPr lvl="0" marL="1270000" indent="0">
              <a:buNone/>
            </a:pPr>
            <a:r>
              <a:rPr sz="2000"/>
              <a:t>A name doesn’t hold a list. A name </a:t>
            </a:r>
            <a:r>
              <a:rPr sz="2000" b="1"/>
              <a:t>points at</a:t>
            </a:r>
            <a:r>
              <a:rPr sz="2000"/>
              <a:t> one.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Aliasing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two</a:t>
            </a:r>
            <a:r>
              <a:rPr/>
              <a:t> </a:t>
            </a:r>
            <a:r>
              <a:rPr/>
              <a:t>names,</a:t>
            </a:r>
            <a:r>
              <a:rPr/>
              <a:t> </a:t>
            </a:r>
            <a:r>
              <a:rPr/>
              <a:t>one</a:t>
            </a:r>
            <a:r>
              <a:rPr/>
              <a:t> </a:t>
            </a:r>
            <a:r>
              <a:rPr/>
              <a:t>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a = ["write report", "buy milk"]
&gt;&gt;&gt; b = a                 # NOT a copy — a second name
&gt;&gt;&gt; b.append("call bank")
&gt;&gt;&gt; a
['write report', 'buy milk', 'call bank']</a:t>
            </a:r>
          </a:p>
          <a:p>
            <a:pPr lvl="1"/>
            <a:r>
              <a:rPr>
                <a:latin typeface="Courier"/>
              </a:rPr>
              <a:t>b = a</a:t>
            </a:r>
            <a:r>
              <a:rPr/>
              <a:t> copies the </a:t>
            </a:r>
            <a:r>
              <a:rPr b="1"/>
              <a:t>arrow</a:t>
            </a:r>
            <a:r>
              <a:rPr/>
              <a:t>, not the list</a:t>
            </a:r>
          </a:p>
          <a:p>
            <a:pPr lvl="1"/>
            <a:r>
              <a:rPr>
                <a:latin typeface="Courier"/>
              </a:rPr>
              <a:t>a is b</a:t>
            </a:r>
            <a:r>
              <a:rPr/>
              <a:t> → </a:t>
            </a:r>
            <a:r>
              <a:rPr>
                <a:latin typeface="Courier"/>
              </a:rPr>
              <a:t>True</a:t>
            </a:r>
            <a:r>
              <a:rPr/>
              <a:t> — one single list, two names</a:t>
            </a:r>
          </a:p>
          <a:p>
            <a:pPr lvl="1"/>
            <a:r>
              <a:rPr/>
              <a:t>Change it through </a:t>
            </a:r>
            <a:r>
              <a:rPr>
                <a:latin typeface="Courier"/>
              </a:rPr>
              <a:t>b</a:t>
            </a:r>
            <a:r>
              <a:rPr/>
              <a:t>, and </a:t>
            </a:r>
            <a:r>
              <a:rPr>
                <a:latin typeface="Courier"/>
              </a:rPr>
              <a:t>a</a:t>
            </a:r>
            <a:r>
              <a:rPr/>
              <a:t> sees it too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copy</a:t>
            </a:r>
            <a:r>
              <a:rPr/>
              <a:t> </a:t>
            </a:r>
            <a:r>
              <a:rPr/>
              <a:t>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c = a.copy()      # or  a[:]   or  list(a)
&gt;&gt;&gt; c is a
False
&gt;&gt;&gt; c == a
True</a:t>
            </a:r>
          </a:p>
          <a:p>
            <a:pPr lvl="1"/>
            <a:r>
              <a:rPr/>
              <a:t>Three ways to copy: </a:t>
            </a:r>
            <a:r>
              <a:rPr>
                <a:latin typeface="Courier"/>
              </a:rPr>
              <a:t>.copy()</a:t>
            </a:r>
            <a:r>
              <a:rPr/>
              <a:t>, </a:t>
            </a:r>
            <a:r>
              <a:rPr>
                <a:latin typeface="Courier"/>
              </a:rPr>
              <a:t>[:]</a:t>
            </a:r>
            <a:r>
              <a:rPr/>
              <a:t>, </a:t>
            </a:r>
            <a:r>
              <a:rPr>
                <a:latin typeface="Courier"/>
              </a:rPr>
              <a:t>list(a)</a:t>
            </a:r>
          </a:p>
          <a:p>
            <a:pPr lvl="1"/>
            <a:r>
              <a:rPr>
                <a:latin typeface="Courier"/>
              </a:rPr>
              <a:t>is</a:t>
            </a:r>
            <a:r>
              <a:rPr/>
              <a:t> asks </a:t>
            </a:r>
            <a:r>
              <a:rPr b="1"/>
              <a:t>same object?</a:t>
            </a:r>
            <a:r>
              <a:rPr/>
              <a:t> · </a:t>
            </a:r>
            <a:r>
              <a:rPr>
                <a:latin typeface="Courier"/>
              </a:rPr>
              <a:t>==</a:t>
            </a:r>
            <a:r>
              <a:rPr/>
              <a:t> asks </a:t>
            </a:r>
            <a:r>
              <a:rPr b="1"/>
              <a:t>same contents?</a:t>
            </a:r>
          </a:p>
          <a:p>
            <a:pPr lvl="1"/>
            <a:r>
              <a:rPr/>
              <a:t>This is a </a:t>
            </a:r>
            <a:r>
              <a:rPr b="1"/>
              <a:t>shallow</a:t>
            </a:r>
            <a:r>
              <a:rPr/>
              <a:t> copy — fine for our tuples of text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Let’s</a:t>
            </a:r>
            <a:r>
              <a:rPr/>
              <a:t> </a:t>
            </a:r>
            <a:r>
              <a:rPr/>
              <a:t>mutate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list,</a:t>
            </a:r>
            <a:r>
              <a:rPr/>
              <a:t> </a:t>
            </a:r>
            <a:r>
              <a:rPr/>
              <a:t>live.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Watch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Demo</a:t>
            </a:r>
            <a:r>
              <a:rPr/>
              <a:t> </a:t>
            </a:r>
            <a:r>
              <a:rPr/>
              <a:t>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List mutation &amp; aliasing pitfalls</a:t>
            </a:r>
          </a:p>
          <a:p>
            <a:pPr lvl="1"/>
            <a:r>
              <a:rPr/>
              <a:t>Build a to-do list, then </a:t>
            </a:r>
            <a:r>
              <a:rPr>
                <a:latin typeface="Courier"/>
              </a:rPr>
              <a:t>append</a:t>
            </a:r>
            <a:r>
              <a:rPr/>
              <a:t> / </a:t>
            </a:r>
            <a:r>
              <a:rPr>
                <a:latin typeface="Courier"/>
              </a:rPr>
              <a:t>insert</a:t>
            </a:r>
            <a:r>
              <a:rPr/>
              <a:t> / </a:t>
            </a:r>
            <a:r>
              <a:rPr>
                <a:latin typeface="Courier"/>
              </a:rPr>
              <a:t>extend</a:t>
            </a:r>
            <a:r>
              <a:rPr/>
              <a:t> / </a:t>
            </a:r>
            <a:r>
              <a:rPr>
                <a:latin typeface="Courier"/>
              </a:rPr>
              <a:t>remove</a:t>
            </a:r>
            <a:r>
              <a:rPr/>
              <a:t> / </a:t>
            </a:r>
            <a:r>
              <a:rPr>
                <a:latin typeface="Courier"/>
              </a:rPr>
              <a:t>pop</a:t>
            </a:r>
          </a:p>
          <a:p>
            <a:pPr lvl="1"/>
            <a:r>
              <a:rPr/>
              <a:t>Slice-assign a whole range away</a:t>
            </a:r>
          </a:p>
          <a:p>
            <a:pPr lvl="1"/>
            <a:r>
              <a:rPr/>
              <a:t>The </a:t>
            </a:r>
            <a:r>
              <a:rPr b="1"/>
              <a:t>aliasing bug</a:t>
            </a:r>
            <a:r>
              <a:rPr/>
              <a:t>: </a:t>
            </a:r>
            <a:r>
              <a:rPr>
                <a:latin typeface="Courier"/>
              </a:rPr>
              <a:t>b = a</a:t>
            </a:r>
            <a:r>
              <a:rPr/>
              <a:t>, then </a:t>
            </a:r>
            <a:r>
              <a:rPr>
                <a:latin typeface="Courier"/>
              </a:rPr>
              <a:t>b.append(...)</a:t>
            </a:r>
            <a:r>
              <a:rPr/>
              <a:t> changes </a:t>
            </a:r>
            <a:r>
              <a:rPr>
                <a:latin typeface="Courier"/>
              </a:rPr>
              <a:t>a</a:t>
            </a:r>
          </a:p>
          <a:p>
            <a:pPr lvl="1"/>
            <a:r>
              <a:rPr/>
              <a:t>The fix: </a:t>
            </a:r>
            <a:r>
              <a:rPr>
                <a:latin typeface="Courier"/>
              </a:rPr>
              <a:t>b = a.copy()</a:t>
            </a:r>
          </a:p>
          <a:p>
            <a:pPr lvl="1"/>
            <a:r>
              <a:rPr>
                <a:latin typeface="Courier"/>
              </a:rPr>
              <a:t>.sort()</a:t>
            </a:r>
            <a:r>
              <a:rPr/>
              <a:t> mutating vs </a:t>
            </a:r>
            <a:r>
              <a:rPr>
                <a:latin typeface="Courier"/>
              </a:rPr>
              <a:t>sorted()</a:t>
            </a:r>
            <a:r>
              <a:rPr/>
              <a:t> returning a new list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aliasing</a:t>
            </a:r>
            <a:r>
              <a:rPr/>
              <a:t> </a:t>
            </a:r>
            <a:r>
              <a:rPr/>
              <a:t>bug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a = ["write report", "buy milk"]
&gt;&gt;&gt; b = a
&gt;&gt;&gt; b.append("call bank")
&gt;&gt;&gt; a
['write report', 'buy milk', 'call bank']
&gt;&gt;&gt; a is b
True</a:t>
            </a:r>
          </a:p>
          <a:p>
            <a:pPr lvl="0" marL="0" indent="0">
              <a:buNone/>
            </a:pPr>
            <a:r>
              <a:rPr/>
              <a:t>Two names. </a:t>
            </a:r>
            <a:r>
              <a:rPr b="1"/>
              <a:t>One</a:t>
            </a:r>
            <a:r>
              <a:rPr/>
              <a:t> list.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just</a:t>
            </a:r>
            <a:r>
              <a:rPr/>
              <a:t> </a:t>
            </a:r>
            <a:r>
              <a:rPr/>
              <a:t>saw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List methods change the list </a:t>
            </a:r>
            <a:r>
              <a:rPr b="1"/>
              <a:t>in place</a:t>
            </a:r>
            <a:r>
              <a:rPr/>
              <a:t> and return </a:t>
            </a:r>
            <a:r>
              <a:rPr>
                <a:latin typeface="Courier"/>
              </a:rPr>
              <a:t>None</a:t>
            </a:r>
          </a:p>
          <a:p>
            <a:pPr lvl="1"/>
            <a:r>
              <a:rPr>
                <a:latin typeface="Courier"/>
              </a:rPr>
              <a:t>pop</a:t>
            </a:r>
            <a:r>
              <a:rPr/>
              <a:t> hands the item back; </a:t>
            </a:r>
            <a:r>
              <a:rPr>
                <a:latin typeface="Courier"/>
              </a:rPr>
              <a:t>remove</a:t>
            </a:r>
            <a:r>
              <a:rPr/>
              <a:t> matches by value</a:t>
            </a:r>
          </a:p>
          <a:p>
            <a:pPr lvl="1"/>
            <a:r>
              <a:rPr>
                <a:latin typeface="Courier"/>
              </a:rPr>
              <a:t>b = a</a:t>
            </a:r>
            <a:r>
              <a:rPr/>
              <a:t> is an </a:t>
            </a:r>
            <a:r>
              <a:rPr b="1"/>
              <a:t>alias</a:t>
            </a:r>
            <a:r>
              <a:rPr/>
              <a:t> — not a copy</a:t>
            </a:r>
          </a:p>
          <a:p>
            <a:pPr lvl="1"/>
            <a:r>
              <a:rPr>
                <a:latin typeface="Courier"/>
              </a:rPr>
              <a:t>.copy()</a:t>
            </a:r>
            <a:r>
              <a:rPr/>
              <a:t> / </a:t>
            </a:r>
            <a:r>
              <a:rPr>
                <a:latin typeface="Courier"/>
              </a:rPr>
              <a:t>[:]</a:t>
            </a:r>
            <a:r>
              <a:rPr/>
              <a:t> / </a:t>
            </a:r>
            <a:r>
              <a:rPr>
                <a:latin typeface="Courier"/>
              </a:rPr>
              <a:t>list(a)</a:t>
            </a:r>
            <a:r>
              <a:rPr/>
              <a:t> break the link</a:t>
            </a:r>
          </a:p>
          <a:p>
            <a:pPr lvl="1"/>
            <a:r>
              <a:rPr>
                <a:latin typeface="Courier"/>
              </a:rPr>
              <a:t>is</a:t>
            </a:r>
            <a:r>
              <a:rPr/>
              <a:t> compares </a:t>
            </a:r>
            <a:r>
              <a:rPr b="1"/>
              <a:t>identity</a:t>
            </a:r>
            <a:r>
              <a:rPr/>
              <a:t>; </a:t>
            </a:r>
            <a:r>
              <a:rPr>
                <a:latin typeface="Courier"/>
              </a:rPr>
              <a:t>==</a:t>
            </a:r>
            <a:r>
              <a:rPr/>
              <a:t> compares </a:t>
            </a:r>
            <a:r>
              <a:rPr b="1"/>
              <a:t>contents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Tuples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Fixed</a:t>
            </a:r>
            <a:r>
              <a:rPr/>
              <a:t> </a:t>
            </a:r>
            <a:r>
              <a:rPr/>
              <a:t>records</a:t>
            </a:r>
            <a:r>
              <a:rPr/>
              <a:t> </a:t>
            </a:r>
            <a:r>
              <a:rPr/>
              <a:t>that</a:t>
            </a:r>
            <a:r>
              <a:rPr/>
              <a:t> </a:t>
            </a:r>
            <a:r>
              <a:rPr/>
              <a:t>can’t</a:t>
            </a:r>
            <a:r>
              <a:rPr/>
              <a:t> </a:t>
            </a:r>
            <a:r>
              <a:rPr/>
              <a:t>wobble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tuple?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task = (1, "write report", False)
&gt;&gt;&gt; task[1]
'write report'
&gt;&gt;&gt; task[0] = 9
TypeError: 'tuple' object does not support item assignment</a:t>
            </a:r>
          </a:p>
          <a:p>
            <a:pPr lvl="1"/>
            <a:r>
              <a:rPr b="1"/>
              <a:t>Ordered</a:t>
            </a:r>
            <a:r>
              <a:rPr/>
              <a:t> like a list, but </a:t>
            </a:r>
            <a:r>
              <a:rPr b="1"/>
              <a:t>immutable</a:t>
            </a:r>
            <a:r>
              <a:rPr/>
              <a:t> — no </a:t>
            </a:r>
            <a:r>
              <a:rPr>
                <a:latin typeface="Courier"/>
              </a:rPr>
              <a:t>append</a:t>
            </a:r>
            <a:r>
              <a:rPr/>
              <a:t>, no </a:t>
            </a:r>
            <a:r>
              <a:rPr>
                <a:latin typeface="Courier"/>
              </a:rPr>
              <a:t>del</a:t>
            </a:r>
          </a:p>
          <a:p>
            <a:pPr lvl="1"/>
            <a:r>
              <a:rPr/>
              <a:t>Use a </a:t>
            </a:r>
            <a:r>
              <a:rPr b="1"/>
              <a:t>list</a:t>
            </a:r>
            <a:r>
              <a:rPr/>
              <a:t> for “many of the same thing” that grows</a:t>
            </a:r>
          </a:p>
          <a:p>
            <a:pPr lvl="1"/>
            <a:r>
              <a:rPr/>
              <a:t>Use a </a:t>
            </a:r>
            <a:r>
              <a:rPr b="1"/>
              <a:t>tuple</a:t>
            </a:r>
            <a:r>
              <a:rPr/>
              <a:t> for “one record with fixed fields”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one-element</a:t>
            </a:r>
            <a:r>
              <a:rPr/>
              <a:t> </a:t>
            </a:r>
            <a:r>
              <a:rPr/>
              <a:t>trap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type((1))
&lt;class 'int'&gt;
&gt;&gt;&gt; type((1,))
&lt;class 'tuple'&gt;</a:t>
            </a:r>
          </a:p>
          <a:p>
            <a:pPr lvl="1"/>
            <a:r>
              <a:rPr/>
              <a:t>It’s the </a:t>
            </a:r>
            <a:r>
              <a:rPr b="1"/>
              <a:t>comma</a:t>
            </a:r>
            <a:r>
              <a:rPr/>
              <a:t> that makes a tuple — not the brackets!</a:t>
            </a:r>
          </a:p>
          <a:p>
            <a:pPr lvl="1"/>
            <a:r>
              <a:rPr>
                <a:latin typeface="Courier"/>
              </a:rPr>
              <a:t>(1)</a:t>
            </a:r>
            <a:r>
              <a:rPr/>
              <a:t> is just the number </a:t>
            </a:r>
            <a:r>
              <a:rPr>
                <a:latin typeface="Courier"/>
              </a:rPr>
              <a:t>1</a:t>
            </a:r>
            <a:r>
              <a:rPr/>
              <a:t> in parentheses</a:t>
            </a:r>
          </a:p>
          <a:p>
            <a:pPr lvl="1"/>
            <a:r>
              <a:rPr>
                <a:latin typeface="Courier"/>
              </a:rPr>
              <a:t>1, 2, 3</a:t>
            </a:r>
            <a:r>
              <a:rPr/>
              <a:t> is a tuple even with </a:t>
            </a:r>
            <a:r>
              <a:rPr b="1"/>
              <a:t>no</a:t>
            </a:r>
            <a:r>
              <a:rPr/>
              <a:t> brackets at all</a:t>
            </a:r>
          </a:p>
          <a:p>
            <a:pPr lvl="1"/>
            <a:r>
              <a:rPr>
                <a:latin typeface="Courier"/>
              </a:rPr>
              <a:t>()</a:t>
            </a:r>
            <a:r>
              <a:rPr/>
              <a:t> is the empty tuple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Packing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unpacking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task = (1, "write report", False)      # packing
&gt;&gt;&gt; tid, title, done = task                # unpacking
&gt;&gt;&gt; title
'write report'</a:t>
            </a:r>
          </a:p>
          <a:p>
            <a:pPr lvl="1"/>
            <a:r>
              <a:rPr/>
              <a:t>The count must match, or </a:t>
            </a:r>
            <a:r>
              <a:rPr>
                <a:latin typeface="Courier"/>
              </a:rPr>
              <a:t>ValueError</a:t>
            </a:r>
          </a:p>
          <a:p>
            <a:pPr lvl="1"/>
            <a:r>
              <a:rPr/>
              <a:t>Too many → </a:t>
            </a:r>
            <a:r>
              <a:rPr>
                <a:latin typeface="Courier"/>
              </a:rPr>
              <a:t>too many values to unpack (expected 2, got 3)</a:t>
            </a:r>
          </a:p>
          <a:p>
            <a:pPr lvl="1"/>
            <a:r>
              <a:rPr/>
              <a:t>This is why </a:t>
            </a:r>
            <a:r>
              <a:rPr>
                <a:latin typeface="Courier"/>
              </a:rPr>
              <a:t>for tid, title, done in tasks:</a:t>
            </a:r>
            <a:r>
              <a:rPr/>
              <a:t> works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Star-unpacking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swap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first, *rest = [10, 20, 30, 40]
&gt;&gt;&gt; first, rest
(10, [20, 30, 40])
&gt;&gt;&gt; a, b = b, a          # the swap idiom</a:t>
            </a:r>
          </a:p>
          <a:p>
            <a:pPr lvl="1"/>
            <a:r>
              <a:rPr>
                <a:latin typeface="Courier"/>
              </a:rPr>
              <a:t>*rest</a:t>
            </a:r>
            <a:r>
              <a:rPr/>
              <a:t> soaks up </a:t>
            </a:r>
            <a:r>
              <a:rPr b="1"/>
              <a:t>whatever’s left</a:t>
            </a:r>
            <a:r>
              <a:rPr/>
              <a:t> — always a </a:t>
            </a:r>
            <a:r>
              <a:rPr b="1"/>
              <a:t>list</a:t>
            </a:r>
          </a:p>
          <a:p>
            <a:pPr lvl="1"/>
            <a:r>
              <a:rPr/>
              <a:t>Works anywhere: </a:t>
            </a:r>
            <a:r>
              <a:rPr>
                <a:latin typeface="Courier"/>
              </a:rPr>
              <a:t>*most, last</a:t>
            </a:r>
            <a:r>
              <a:rPr/>
              <a:t> · </a:t>
            </a:r>
            <a:r>
              <a:rPr>
                <a:latin typeface="Courier"/>
              </a:rPr>
              <a:t>head, *mid, tail</a:t>
            </a:r>
          </a:p>
          <a:p>
            <a:pPr lvl="1"/>
            <a:r>
              <a:rPr/>
              <a:t>The swap needs </a:t>
            </a:r>
            <a:r>
              <a:rPr b="1"/>
              <a:t>no temporary variable</a:t>
            </a:r>
            <a:r>
              <a:rPr/>
              <a:t> — the right side builds first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</a:t>
            </a:r>
            <a:r>
              <a:rPr/>
              <a:t> </a:t>
            </a:r>
            <a:r>
              <a:rPr/>
              <a:t>list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tuples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tasks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br/>
            <a:r>
              <a:rPr>
                <a:latin typeface="Courier"/>
              </a:rPr>
              <a:t>    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"write report"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"buy milk"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]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tid, title, done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tasks:</a:t>
            </a:r>
            <a:br/>
            <a:r>
              <a:rPr>
                <a:latin typeface="Courier"/>
              </a:rPr>
              <a:t>    print(tid, title, done)</a:t>
            </a:r>
          </a:p>
          <a:p>
            <a:pPr lvl="1"/>
            <a:r>
              <a:rPr/>
              <a:t>A </a:t>
            </a:r>
            <a:r>
              <a:rPr b="1"/>
              <a:t>mutable</a:t>
            </a:r>
            <a:r>
              <a:rPr/>
              <a:t> list of </a:t>
            </a:r>
            <a:r>
              <a:rPr b="1"/>
              <a:t>immutable</a:t>
            </a:r>
            <a:r>
              <a:rPr/>
              <a:t> records — the classic shape</a:t>
            </a:r>
          </a:p>
          <a:p>
            <a:pPr lvl="1"/>
            <a:r>
              <a:rPr/>
              <a:t>The list grows and shrinks; each record stays trustworthy</a:t>
            </a:r>
          </a:p>
          <a:p>
            <a:pPr lvl="1"/>
            <a:r>
              <a:rPr/>
              <a:t>Unpack right in the </a:t>
            </a:r>
            <a:r>
              <a:rPr>
                <a:latin typeface="Courier"/>
              </a:rPr>
              <a:t>for</a:t>
            </a:r>
            <a:r>
              <a:rPr/>
              <a:t> — no </a:t>
            </a:r>
            <a:r>
              <a:rPr>
                <a:latin typeface="Courier"/>
              </a:rPr>
              <a:t>task[0]</a:t>
            </a:r>
            <a:r>
              <a:rPr/>
              <a:t>, </a:t>
            </a:r>
            <a:r>
              <a:rPr>
                <a:latin typeface="Courier"/>
              </a:rPr>
              <a:t>task[1]</a:t>
            </a:r>
            <a:r>
              <a:rPr/>
              <a:t> noise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Sequence</a:t>
            </a:r>
            <a:r>
              <a:rPr/>
              <a:t> </a:t>
            </a:r>
            <a:r>
              <a:rPr/>
              <a:t>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(1, 2, 3) &lt; (1, 2, 4)
True
&gt;&gt;&gt; (1, 2) &lt; (1, 2, 3)
True</a:t>
            </a:r>
          </a:p>
          <a:p>
            <a:pPr lvl="1"/>
            <a:r>
              <a:rPr/>
              <a:t>Compared </a:t>
            </a:r>
            <a:r>
              <a:rPr b="1"/>
              <a:t>item by item</a:t>
            </a:r>
            <a:r>
              <a:rPr/>
              <a:t>, left to right — like a dictionary</a:t>
            </a:r>
          </a:p>
          <a:p>
            <a:pPr lvl="1"/>
            <a:r>
              <a:rPr/>
              <a:t>First difference decides; if all equal, </a:t>
            </a:r>
            <a:r>
              <a:rPr b="1"/>
              <a:t>shorter is smaller</a:t>
            </a:r>
          </a:p>
          <a:p>
            <a:pPr lvl="1"/>
            <a:r>
              <a:rPr/>
              <a:t>This is exactly </a:t>
            </a:r>
            <a:r>
              <a:rPr i="1"/>
              <a:t>why</a:t>
            </a:r>
            <a:r>
              <a:rPr/>
              <a:t> </a:t>
            </a:r>
            <a:r>
              <a:rPr>
                <a:latin typeface="Courier"/>
              </a:rPr>
              <a:t>sorted()</a:t>
            </a:r>
            <a:r>
              <a:rPr/>
              <a:t> can sort a list of tuples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Let’s</a:t>
            </a:r>
            <a:r>
              <a:rPr/>
              <a:t> </a:t>
            </a:r>
            <a:r>
              <a:rPr/>
              <a:t>model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task</a:t>
            </a:r>
            <a:r>
              <a:rPr/>
              <a:t> </a:t>
            </a:r>
            <a:r>
              <a:rPr/>
              <a:t>as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tuple.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Watch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Demo</a:t>
            </a:r>
            <a:r>
              <a:rPr/>
              <a:t> </a:t>
            </a:r>
            <a:r>
              <a:rPr/>
              <a:t>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Tuple unpacking &amp; swap</a:t>
            </a:r>
          </a:p>
          <a:p>
            <a:pPr lvl="1"/>
            <a:r>
              <a:rPr/>
              <a:t>Model a task as </a:t>
            </a:r>
            <a:r>
              <a:rPr>
                <a:latin typeface="Courier"/>
              </a:rPr>
              <a:t>(id, title, done)</a:t>
            </a:r>
            <a:r>
              <a:rPr/>
              <a:t> and prove it’s immutable</a:t>
            </a:r>
          </a:p>
          <a:p>
            <a:pPr lvl="1"/>
            <a:r>
              <a:rPr/>
              <a:t>Unpack it: </a:t>
            </a:r>
            <a:r>
              <a:rPr>
                <a:latin typeface="Courier"/>
              </a:rPr>
              <a:t>tid, title, done = task</a:t>
            </a:r>
          </a:p>
          <a:p>
            <a:pPr lvl="1"/>
            <a:r>
              <a:rPr/>
              <a:t>Swap two names: </a:t>
            </a:r>
            <a:r>
              <a:rPr>
                <a:latin typeface="Courier"/>
              </a:rPr>
              <a:t>a, b = b, a</a:t>
            </a:r>
          </a:p>
          <a:p>
            <a:pPr lvl="1"/>
            <a:r>
              <a:rPr>
                <a:latin typeface="Courier"/>
              </a:rPr>
              <a:t>first, *rest = numbers</a:t>
            </a:r>
          </a:p>
          <a:p>
            <a:pPr lvl="1"/>
            <a:r>
              <a:rPr/>
              <a:t>Iterate a list of task tuples, unpacking in the </a:t>
            </a:r>
            <a:r>
              <a:rPr>
                <a:latin typeface="Courier"/>
              </a:rPr>
              <a:t>for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Unpacking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>
                <a:latin typeface="Courier"/>
              </a:rPr>
              <a:t>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tasks = [(1, "write report", False),
...          (2, "buy milk", True)]
&gt;&gt;&gt; for tid, title, done in tasks:
...     mark = "x" if done else " "
...     print(f"[{mark}] {tid}. {title}")
[ ] 1. write report
[x] 2. buy milk</a:t>
            </a:r>
          </a:p>
          <a:p>
            <a:pPr lvl="0" marL="0" indent="0">
              <a:buNone/>
            </a:pPr>
            <a:r>
              <a:rPr/>
              <a:t>Each tuple unpacks straight into three friendly names.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just</a:t>
            </a:r>
            <a:r>
              <a:rPr/>
              <a:t> </a:t>
            </a:r>
            <a:r>
              <a:rPr/>
              <a:t>saw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A tuple is a </a:t>
            </a:r>
            <a:r>
              <a:rPr b="1"/>
              <a:t>fixed record</a:t>
            </a:r>
            <a:r>
              <a:rPr/>
              <a:t> — it refuses to be reassigned</a:t>
            </a:r>
          </a:p>
          <a:p>
            <a:pPr lvl="1"/>
            <a:r>
              <a:rPr/>
              <a:t>The </a:t>
            </a:r>
            <a:r>
              <a:rPr b="1"/>
              <a:t>comma</a:t>
            </a:r>
            <a:r>
              <a:rPr/>
              <a:t> makes the tuple, not the brackets</a:t>
            </a:r>
          </a:p>
          <a:p>
            <a:pPr lvl="1"/>
            <a:r>
              <a:rPr/>
              <a:t>Unpacking mirrors packing — counts must match</a:t>
            </a:r>
          </a:p>
          <a:p>
            <a:pPr lvl="1"/>
            <a:r>
              <a:rPr>
                <a:latin typeface="Courier"/>
              </a:rPr>
              <a:t>*rest</a:t>
            </a:r>
            <a:r>
              <a:rPr/>
              <a:t> collects the remainder into a </a:t>
            </a:r>
            <a:r>
              <a:rPr b="1"/>
              <a:t>list</a:t>
            </a:r>
          </a:p>
          <a:p>
            <a:pPr lvl="1"/>
            <a:r>
              <a:rPr/>
              <a:t>A </a:t>
            </a:r>
            <a:r>
              <a:rPr b="1"/>
              <a:t>list of tuples</a:t>
            </a:r>
            <a:r>
              <a:rPr/>
              <a:t> is our first real task model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.sort()</a:t>
            </a:r>
            <a:r>
              <a:rPr/>
              <a:t> </a:t>
            </a:r>
            <a:r>
              <a:rPr/>
              <a:t>vs</a:t>
            </a:r>
            <a:r>
              <a:rPr/>
              <a:t> </a:t>
            </a:r>
            <a:r>
              <a:rPr>
                <a:latin typeface="Courier"/>
              </a:rPr>
              <a:t>sorted()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nums = [3, 1, 2]
&gt;&gt;&gt; sorted(nums)        # a NEW list
[1, 2, 3]
&gt;&gt;&gt; nums                # untouched
[3, 1, 2]
&gt;&gt;&gt; nums.sort()         # in place -&gt; returns None
&gt;&gt;&gt; nums
[1, 2, 3]</a:t>
            </a:r>
          </a:p>
          <a:p>
            <a:pPr lvl="0" marL="1270000" indent="0">
              <a:buNone/>
            </a:pPr>
            <a:r>
              <a:rPr sz="2000" b="1"/>
              <a:t>The trap:</a:t>
            </a:r>
            <a:r>
              <a:rPr sz="2000"/>
              <a:t> </a:t>
            </a:r>
            <a:r>
              <a:rPr sz="2000">
                <a:latin typeface="Courier"/>
              </a:rPr>
              <a:t>nums = nums.sort()</a:t>
            </a:r>
            <a:r>
              <a:rPr sz="2000"/>
              <a:t> sets </a:t>
            </a:r>
            <a:r>
              <a:rPr sz="2000">
                <a:latin typeface="Courier"/>
              </a:rPr>
              <a:t>nums</a:t>
            </a:r>
            <a:r>
              <a:rPr sz="2000"/>
              <a:t> to </a:t>
            </a:r>
            <a:r>
              <a:rPr sz="2000" b="1">
                <a:latin typeface="Courier"/>
              </a:rPr>
              <a:t>None</a:t>
            </a:r>
            <a:r>
              <a:rPr sz="2000"/>
              <a:t>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Sorting</a:t>
            </a:r>
            <a:r>
              <a:rPr/>
              <a:t> </a:t>
            </a:r>
            <a:r>
              <a:rPr/>
              <a:t>by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sorted(tasks, key=lambda t: t[1])
[(2, 'buy milk', True), (1, 'write report', False)]</a:t>
            </a:r>
          </a:p>
          <a:p>
            <a:pPr lvl="1"/>
            <a:r>
              <a:rPr>
                <a:latin typeface="Courier"/>
              </a:rPr>
              <a:t>key=</a:t>
            </a:r>
            <a:r>
              <a:rPr/>
              <a:t> says </a:t>
            </a:r>
            <a:r>
              <a:rPr b="1"/>
              <a:t>what to sort by</a:t>
            </a:r>
            <a:r>
              <a:rPr/>
              <a:t> — here, the title</a:t>
            </a:r>
          </a:p>
          <a:p>
            <a:pPr lvl="1"/>
            <a:r>
              <a:rPr>
                <a:latin typeface="Courier"/>
              </a:rPr>
              <a:t>.sort()</a:t>
            </a:r>
            <a:r>
              <a:rPr/>
              <a:t> only works on a </a:t>
            </a:r>
            <a:r>
              <a:rPr b="1"/>
              <a:t>list</a:t>
            </a:r>
            <a:r>
              <a:rPr/>
              <a:t>; </a:t>
            </a:r>
            <a:r>
              <a:rPr>
                <a:latin typeface="Courier"/>
              </a:rPr>
              <a:t>sorted()</a:t>
            </a:r>
            <a:r>
              <a:rPr/>
              <a:t> takes </a:t>
            </a:r>
            <a:r>
              <a:rPr b="1"/>
              <a:t>any</a:t>
            </a:r>
            <a:r>
              <a:rPr/>
              <a:t> sequence</a:t>
            </a:r>
          </a:p>
          <a:p>
            <a:pPr lvl="1"/>
            <a:r>
              <a:rPr/>
              <a:t>Mixed types → </a:t>
            </a:r>
            <a:r>
              <a:rPr>
                <a:latin typeface="Courier"/>
              </a:rPr>
              <a:t>TypeError: '&lt;' not supported between ...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Questions?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Ask</a:t>
            </a:r>
            <a:r>
              <a:rPr/>
              <a:t> </a:t>
            </a:r>
            <a:r>
              <a:rPr/>
              <a:t>me</a:t>
            </a:r>
            <a:r>
              <a:rPr/>
              <a:t> </a:t>
            </a:r>
            <a:r>
              <a:rPr/>
              <a:t>anything</a:t>
            </a:r>
            <a:r>
              <a:rPr/>
              <a:t> </a:t>
            </a:r>
            <a:r>
              <a:rPr/>
              <a:t>about</a:t>
            </a:r>
            <a:r>
              <a:rPr/>
              <a:t> </a:t>
            </a:r>
            <a:r>
              <a:rPr/>
              <a:t>lists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tuples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Wrap-up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This</a:t>
            </a:r>
            <a:r>
              <a:rPr/>
              <a:t> </a:t>
            </a:r>
            <a:r>
              <a:rPr/>
              <a:t>week’s</a:t>
            </a:r>
            <a:r>
              <a:rPr/>
              <a:t> </a:t>
            </a:r>
            <a:r>
              <a:rPr/>
              <a:t>homework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Lab</a:t>
            </a:r>
            <a:r>
              <a:rPr/>
              <a:t> </a:t>
            </a:r>
            <a:r>
              <a:rPr/>
              <a:t>6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your</a:t>
            </a:r>
            <a:r>
              <a:rPr/>
              <a:t> </a:t>
            </a:r>
            <a:r>
              <a:rPr/>
              <a:t>task</a:t>
            </a:r>
            <a:r>
              <a:rPr/>
              <a:t> </a:t>
            </a:r>
            <a:r>
              <a:rPr/>
              <a:t>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Build </a:t>
            </a:r>
            <a:r>
              <a:rPr>
                <a:latin typeface="Courier"/>
              </a:rPr>
              <a:t>tasks.py</a:t>
            </a:r>
            <a:r>
              <a:rPr/>
              <a:t> — an in-memory task list of </a:t>
            </a:r>
            <a:r>
              <a:rPr>
                <a:latin typeface="Courier"/>
              </a:rPr>
              <a:t>(id, title, done)</a:t>
            </a:r>
            <a:r>
              <a:rPr/>
              <a:t> tuples:</a:t>
            </a:r>
          </a:p>
          <a:p>
            <a:pPr lvl="1"/>
            <a:r>
              <a:rPr>
                <a:latin typeface="Courier"/>
              </a:rPr>
              <a:t>add_task</a:t>
            </a:r>
            <a:r>
              <a:rPr/>
              <a:t> · </a:t>
            </a:r>
            <a:r>
              <a:rPr>
                <a:latin typeface="Courier"/>
              </a:rPr>
              <a:t>remove_task</a:t>
            </a:r>
            <a:r>
              <a:rPr/>
              <a:t> (by id) · </a:t>
            </a:r>
            <a:r>
              <a:rPr>
                <a:latin typeface="Courier"/>
              </a:rPr>
              <a:t>mark_done</a:t>
            </a:r>
            <a:r>
              <a:rPr/>
              <a:t> · </a:t>
            </a:r>
            <a:r>
              <a:rPr>
                <a:latin typeface="Courier"/>
              </a:rPr>
              <a:t>sorted_by_title</a:t>
            </a:r>
          </a:p>
          <a:p>
            <a:pPr lvl="1"/>
            <a:r>
              <a:rPr/>
              <a:t>Write them as </a:t>
            </a:r>
            <a:r>
              <a:rPr b="1"/>
              <a:t>typed, documented functions</a:t>
            </a:r>
            <a:r>
              <a:rPr/>
              <a:t> (Week 5 habit)</a:t>
            </a:r>
          </a:p>
          <a:p>
            <a:pPr lvl="1"/>
            <a:r>
              <a:rPr>
                <a:latin typeface="Courier"/>
              </a:rPr>
              <a:t>mark_done</a:t>
            </a:r>
            <a:r>
              <a:rPr/>
              <a:t> must </a:t>
            </a:r>
            <a:r>
              <a:rPr b="1"/>
              <a:t>replace</a:t>
            </a:r>
            <a:r>
              <a:rPr/>
              <a:t> the tuple — it can’t edit one</a:t>
            </a:r>
          </a:p>
          <a:p>
            <a:pPr lvl="1"/>
            <a:r>
              <a:rPr>
                <a:latin typeface="Courier"/>
              </a:rPr>
              <a:t>sorted_by_title</a:t>
            </a:r>
            <a:r>
              <a:rPr/>
              <a:t> returns a </a:t>
            </a:r>
            <a:r>
              <a:rPr b="1"/>
              <a:t>new</a:t>
            </a:r>
            <a:r>
              <a:rPr/>
              <a:t> list; stored order stays put</a:t>
            </a:r>
          </a:p>
          <a:p>
            <a:pPr lvl="0" marL="0" indent="0">
              <a:buNone/>
            </a:pPr>
            <a:r>
              <a:rPr/>
              <a:t>Submit to the </a:t>
            </a:r>
            <a:r>
              <a:rPr b="1"/>
              <a:t>Teams course channel</a:t>
            </a:r>
            <a:r>
              <a:rPr/>
              <a:t> · </a:t>
            </a:r>
            <a:r>
              <a:rPr>
                <a:latin typeface="Courier"/>
              </a:rPr>
              <a:t>uvx ruff check</a:t>
            </a:r>
            <a:r>
              <a:rPr/>
              <a:t> clean.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Next</a:t>
            </a:r>
            <a:r>
              <a:rPr/>
              <a:t> </a:t>
            </a:r>
            <a:r>
              <a:rPr/>
              <a:t>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Week 7 — Sets &amp; Dictionaries</a:t>
            </a:r>
          </a:p>
          <a:p>
            <a:pPr lvl="1"/>
            <a:r>
              <a:rPr/>
              <a:t>Sets and set algebra: </a:t>
            </a:r>
            <a:r>
              <a:rPr>
                <a:latin typeface="Courier"/>
              </a:rPr>
              <a:t>|</a:t>
            </a:r>
            <a:r>
              <a:rPr/>
              <a:t>, </a:t>
            </a:r>
            <a:r>
              <a:rPr>
                <a:latin typeface="Courier"/>
              </a:rPr>
              <a:t>&amp;</a:t>
            </a:r>
            <a:r>
              <a:rPr/>
              <a:t>, </a:t>
            </a:r>
            <a:r>
              <a:rPr>
                <a:latin typeface="Courier"/>
              </a:rPr>
              <a:t>-</a:t>
            </a:r>
            <a:r>
              <a:rPr/>
              <a:t>, </a:t>
            </a:r>
            <a:r>
              <a:rPr>
                <a:latin typeface="Courier"/>
              </a:rPr>
              <a:t>^</a:t>
            </a:r>
          </a:p>
          <a:p>
            <a:pPr lvl="1"/>
            <a:r>
              <a:rPr/>
              <a:t>Dictionaries: keyed access, </a:t>
            </a:r>
            <a:r>
              <a:rPr>
                <a:latin typeface="Courier"/>
              </a:rPr>
              <a:t>.items()</a:t>
            </a:r>
            <a:r>
              <a:rPr/>
              <a:t>, </a:t>
            </a:r>
            <a:r>
              <a:rPr>
                <a:latin typeface="Courier"/>
              </a:rPr>
              <a:t>get</a:t>
            </a:r>
          </a:p>
          <a:p>
            <a:pPr lvl="1"/>
            <a:r>
              <a:rPr/>
              <a:t>Choosing: list vs set vs dict</a:t>
            </a:r>
          </a:p>
          <a:p>
            <a:pPr lvl="1"/>
            <a:r>
              <a:rPr>
                <a:latin typeface="Courier"/>
              </a:rPr>
              <a:t>Counter</a:t>
            </a:r>
            <a:r>
              <a:rPr/>
              <a:t>, </a:t>
            </a:r>
            <a:r>
              <a:rPr>
                <a:latin typeface="Courier"/>
              </a:rPr>
              <a:t>defaultdict</a:t>
            </a:r>
            <a:r>
              <a:rPr/>
              <a:t>, </a:t>
            </a:r>
            <a:r>
              <a:rPr>
                <a:latin typeface="Courier"/>
              </a:rPr>
              <a:t>namedtuple</a:t>
            </a:r>
          </a:p>
          <a:p>
            <a:pPr lvl="0" marL="1270000" indent="0">
              <a:buNone/>
            </a:pPr>
            <a:r>
              <a:rPr sz="2000"/>
              <a:t>Your list of tuples becomes a </a:t>
            </a:r>
            <a:r>
              <a:rPr sz="2000" b="1"/>
              <a:t>dict keyed by id</a:t>
            </a:r>
            <a:r>
              <a:rPr sz="2000"/>
              <a:t>.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See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lab.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Bring</a:t>
            </a:r>
            <a:r>
              <a:rPr/>
              <a:t> </a:t>
            </a:r>
            <a:r>
              <a:rPr/>
              <a:t>your</a:t>
            </a:r>
            <a:r>
              <a:rPr/>
              <a:t> </a:t>
            </a:r>
            <a:r>
              <a:rPr/>
              <a:t>task</a:t>
            </a:r>
            <a:r>
              <a:rPr/>
              <a:t> </a:t>
            </a:r>
            <a:r>
              <a:rPr/>
              <a:t>list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Week</a:t>
            </a:r>
            <a:r>
              <a:rPr/>
              <a:t> </a:t>
            </a:r>
            <a:r>
              <a:rPr/>
              <a:t>7.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2026-07-16T12:07:52Z</dcterms:created>
  <dcterms:modified xsi:type="dcterms:W3CDTF">2026-07-16T12:07:52Z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  <property fmtid="{D5CDD505-2E9C-101B-9397-08002B2CF9AE}" pid="4" name="theme">
    <vt:lpwstr>tech</vt:lpwstr>
  </property>
</Properties>
</file>