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84" d="100"/>
          <a:sy n="84" d="100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4" Type="http://schemas.openxmlformats.org/officeDocument/2006/relationships/viewProps" Target="viewProps.xml" /><Relationship Id="rId4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6" Type="http://schemas.openxmlformats.org/officeDocument/2006/relationships/tableStyles" Target="tableStyles.xml" /><Relationship Id="rId4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Comprehensions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Looping</a:t>
            </a:r>
            <a:r>
              <a:rPr/>
              <a:t> </a:t>
            </a:r>
            <a:r>
              <a:rPr/>
              <a:t>Idioms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Python</a:t>
            </a:r>
            <a:r>
              <a:rPr/>
              <a:t> </a:t>
            </a:r>
            <a:r>
              <a:rPr/>
              <a:t>Mastery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Part</a:t>
            </a:r>
            <a:r>
              <a:rPr/>
              <a:t> </a:t>
            </a:r>
            <a:r>
              <a:rPr/>
              <a:t>1:</a:t>
            </a:r>
            <a:r>
              <a:rPr/>
              <a:t> </a:t>
            </a:r>
            <a:r>
              <a:rPr/>
              <a:t>Foundations</a:t>
            </a:r>
            <a:r>
              <a:rPr/>
              <a:t> </a:t>
            </a:r>
            <a:r>
              <a:rPr/>
              <a:t>·</a:t>
            </a:r>
            <a:r>
              <a:rPr/>
              <a:t> </a:t>
            </a:r>
            <a:r>
              <a:rPr/>
              <a:t>Week</a:t>
            </a:r>
            <a:r>
              <a:rPr/>
              <a:t> </a:t>
            </a:r>
            <a:r>
              <a:rPr/>
              <a:t>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Rathinam Trainers &amp; Consultants</a:t>
            </a:r>
            <a:r>
              <a:rPr/>
              <a:t> Live on Microsoft Teams · recorded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Recap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today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Where</a:t>
            </a:r>
            <a:r>
              <a:rPr/>
              <a:t> </a:t>
            </a:r>
            <a:r>
              <a:rPr/>
              <a:t>we</a:t>
            </a:r>
            <a:r>
              <a:rPr/>
              <a:t> </a:t>
            </a:r>
            <a:r>
              <a:rPr/>
              <a:t>are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journey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Last</a:t>
            </a:r>
            <a:r>
              <a:rPr/>
              <a:t> </a:t>
            </a:r>
            <a:r>
              <a:rPr/>
              <a:t>week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Sets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Dictionaries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Sets</a:t>
            </a:r>
            <a:r>
              <a:rPr/>
              <a:t> for uniqueness: </a:t>
            </a:r>
            <a:r>
              <a:rPr>
                <a:latin typeface="Courier"/>
              </a:rPr>
              <a:t>|</a:t>
            </a:r>
            <a:r>
              <a:rPr/>
              <a:t> </a:t>
            </a:r>
            <a:r>
              <a:rPr>
                <a:latin typeface="Courier"/>
              </a:rPr>
              <a:t>&amp;</a:t>
            </a:r>
            <a:r>
              <a:rPr/>
              <a:t> </a:t>
            </a:r>
            <a:r>
              <a:rPr>
                <a:latin typeface="Courier"/>
              </a:rPr>
              <a:t>-</a:t>
            </a:r>
            <a:r>
              <a:rPr/>
              <a:t> </a:t>
            </a:r>
            <a:r>
              <a:rPr>
                <a:latin typeface="Courier"/>
              </a:rPr>
              <a:t>^</a:t>
            </a:r>
            <a:r>
              <a:rPr/>
              <a:t>, and the </a:t>
            </a:r>
            <a:r>
              <a:rPr>
                <a:latin typeface="Courier"/>
              </a:rPr>
              <a:t>set(...)</a:t>
            </a:r>
            <a:r>
              <a:rPr/>
              <a:t> dedupe</a:t>
            </a:r>
          </a:p>
          <a:p>
            <a:pPr lvl="1"/>
            <a:r>
              <a:rPr b="1"/>
              <a:t>Dicts</a:t>
            </a:r>
            <a:r>
              <a:rPr/>
              <a:t> keyed by id: </a:t>
            </a:r>
            <a:r>
              <a:rPr>
                <a:latin typeface="Courier"/>
              </a:rPr>
              <a:t>get</a:t>
            </a:r>
            <a:r>
              <a:rPr/>
              <a:t>, </a:t>
            </a:r>
            <a:r>
              <a:rPr>
                <a:latin typeface="Courier"/>
              </a:rPr>
              <a:t>.items()</a:t>
            </a:r>
            <a:r>
              <a:rPr/>
              <a:t>, add &amp; remove keys</a:t>
            </a:r>
          </a:p>
          <a:p>
            <a:pPr lvl="1"/>
            <a:r>
              <a:rPr/>
              <a:t>Choosing the container: </a:t>
            </a:r>
            <a:r>
              <a:rPr b="1"/>
              <a:t>list</a:t>
            </a:r>
            <a:r>
              <a:rPr/>
              <a:t> vs </a:t>
            </a:r>
            <a:r>
              <a:rPr b="1"/>
              <a:t>set</a:t>
            </a:r>
            <a:r>
              <a:rPr/>
              <a:t> vs </a:t>
            </a:r>
            <a:r>
              <a:rPr b="1"/>
              <a:t>dict</a:t>
            </a:r>
          </a:p>
          <a:p>
            <a:pPr lvl="1"/>
            <a:r>
              <a:rPr>
                <a:latin typeface="Courier"/>
              </a:rPr>
              <a:t>collections</a:t>
            </a:r>
            <a:r>
              <a:rPr/>
              <a:t>: </a:t>
            </a:r>
            <a:r>
              <a:rPr>
                <a:latin typeface="Courier"/>
              </a:rPr>
              <a:t>Counter</a:t>
            </a:r>
            <a:r>
              <a:rPr/>
              <a:t>, </a:t>
            </a:r>
            <a:r>
              <a:rPr>
                <a:latin typeface="Courier"/>
              </a:rPr>
              <a:t>defaultdict</a:t>
            </a:r>
            <a:r>
              <a:rPr/>
              <a:t>, </a:t>
            </a:r>
            <a:r>
              <a:rPr>
                <a:latin typeface="Courier"/>
              </a:rPr>
              <a:t>namedtuple</a:t>
            </a:r>
          </a:p>
          <a:p>
            <a:pPr lvl="0" marL="1270000" indent="0">
              <a:buNone/>
            </a:pPr>
            <a:r>
              <a:rPr sz="2000"/>
              <a:t>You can now model tasks properly. Today we learn to </a:t>
            </a:r>
            <a:r>
              <a:rPr sz="2000" b="1"/>
              <a:t>say it in one line</a:t>
            </a:r>
            <a:r>
              <a:rPr sz="2000"/>
              <a:t>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Today’s</a:t>
            </a:r>
            <a:r>
              <a:rPr/>
              <a:t> </a:t>
            </a:r>
            <a:r>
              <a:rPr/>
              <a:t>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By the end of this session you’ll understand how to:</a:t>
            </a:r>
          </a:p>
          <a:p>
            <a:pPr lvl="1"/>
            <a:r>
              <a:rPr/>
              <a:t>Write </a:t>
            </a:r>
            <a:r>
              <a:rPr b="1"/>
              <a:t>list</a:t>
            </a:r>
            <a:r>
              <a:rPr/>
              <a:t>, </a:t>
            </a:r>
            <a:r>
              <a:rPr b="1"/>
              <a:t>set</a:t>
            </a:r>
            <a:r>
              <a:rPr/>
              <a:t>, and </a:t>
            </a:r>
            <a:r>
              <a:rPr b="1"/>
              <a:t>dict</a:t>
            </a:r>
            <a:r>
              <a:rPr/>
              <a:t> comprehensions</a:t>
            </a:r>
          </a:p>
          <a:p>
            <a:pPr lvl="1"/>
            <a:r>
              <a:rPr/>
              <a:t>Filter with </a:t>
            </a:r>
            <a:r>
              <a:rPr>
                <a:latin typeface="Courier"/>
              </a:rPr>
              <a:t>if</a:t>
            </a:r>
            <a:r>
              <a:rPr/>
              <a:t> and transform with </a:t>
            </a:r>
            <a:r>
              <a:rPr>
                <a:latin typeface="Courier"/>
              </a:rPr>
              <a:t>a if cond else b</a:t>
            </a:r>
          </a:p>
          <a:p>
            <a:pPr lvl="1"/>
            <a:r>
              <a:rPr/>
              <a:t>Use </a:t>
            </a:r>
            <a:r>
              <a:rPr b="1">
                <a:latin typeface="Courier"/>
              </a:rPr>
              <a:t>enumerate</a:t>
            </a:r>
            <a:r>
              <a:rPr/>
              <a:t>, </a:t>
            </a:r>
            <a:r>
              <a:rPr b="1">
                <a:latin typeface="Courier"/>
              </a:rPr>
              <a:t>zip</a:t>
            </a:r>
            <a:r>
              <a:rPr/>
              <a:t>, </a:t>
            </a:r>
            <a:r>
              <a:rPr b="1">
                <a:latin typeface="Courier"/>
              </a:rPr>
              <a:t>reversed</a:t>
            </a:r>
            <a:r>
              <a:rPr/>
              <a:t>, </a:t>
            </a:r>
            <a:r>
              <a:rPr b="1">
                <a:latin typeface="Courier"/>
              </a:rPr>
              <a:t>sorted(key=...)</a:t>
            </a:r>
          </a:p>
          <a:p>
            <a:pPr lvl="1"/>
            <a:r>
              <a:rPr/>
              <a:t>Judge when a comprehension </a:t>
            </a:r>
            <a:r>
              <a:rPr b="1"/>
              <a:t>helps</a:t>
            </a:r>
            <a:r>
              <a:rPr/>
              <a:t> — and when it hurts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Comprehensions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Saying</a:t>
            </a:r>
            <a:r>
              <a:rPr/>
              <a:t> </a:t>
            </a:r>
            <a:r>
              <a:rPr/>
              <a:t>“</a:t>
            </a:r>
            <a:r>
              <a:rPr/>
              <a:t>build</a:t>
            </a:r>
            <a:r>
              <a:rPr/>
              <a:t> </a:t>
            </a:r>
            <a:r>
              <a:rPr/>
              <a:t>me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list</a:t>
            </a:r>
            <a:r>
              <a:rPr/>
              <a:t>”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one</a:t>
            </a:r>
            <a:r>
              <a:rPr/>
              <a:t> </a:t>
            </a:r>
            <a:r>
              <a:rPr/>
              <a:t>line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loop</a:t>
            </a:r>
            <a:r>
              <a:rPr/>
              <a:t> </a:t>
            </a:r>
            <a:r>
              <a:rPr/>
              <a:t>you</a:t>
            </a:r>
            <a:r>
              <a:rPr/>
              <a:t> </a:t>
            </a:r>
            <a:r>
              <a:rPr/>
              <a:t>keep</a:t>
            </a:r>
            <a:r>
              <a:rPr/>
              <a:t> </a:t>
            </a:r>
            <a:r>
              <a:rPr/>
              <a:t>writing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You have written this shape a dozen times already:</a:t>
            </a:r>
          </a:p>
          <a:p>
            <a:pPr lvl="0" indent="0">
              <a:buNone/>
            </a:pPr>
            <a:r>
              <a:rPr>
                <a:latin typeface="Courier"/>
              </a:rPr>
              <a:t>squares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[]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n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range(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squares.append(n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n)</a:t>
            </a:r>
          </a:p>
          <a:p>
            <a:pPr lvl="0" marL="0" indent="0">
              <a:buNone/>
            </a:pPr>
            <a:r>
              <a:rPr/>
              <a:t>Three lines of </a:t>
            </a:r>
            <a:r>
              <a:rPr b="1"/>
              <a:t>bookkeeping</a:t>
            </a:r>
            <a:r>
              <a:rPr/>
              <a:t> for one idea: </a:t>
            </a:r>
            <a:r>
              <a:rPr i="1"/>
              <a:t>“the square of every n”</a:t>
            </a:r>
            <a:r>
              <a:rPr/>
              <a:t>.</a:t>
            </a:r>
          </a:p>
          <a:p>
            <a:pPr lvl="0" marL="0" indent="0">
              <a:buNone/>
            </a:pPr>
            <a:r>
              <a:rPr/>
              <a:t>Python has a way to say just the idea.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list</a:t>
            </a:r>
            <a:r>
              <a:rPr/>
              <a:t> </a:t>
            </a:r>
            <a:r>
              <a:rPr/>
              <a:t>comprehension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squares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[n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n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n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range(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latin typeface="Courier"/>
              </a:rPr>
              <a:t>)]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         ^^^^^     ^          ^^^^^^^^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         what      each       from where</a:t>
            </a:r>
          </a:p>
          <a:p>
            <a:pPr lvl="1"/>
            <a:r>
              <a:rPr/>
              <a:t>Read it </a:t>
            </a:r>
            <a:r>
              <a:rPr b="1"/>
              <a:t>left to right</a:t>
            </a:r>
            <a:r>
              <a:rPr/>
              <a:t>: </a:t>
            </a:r>
            <a:r>
              <a:rPr i="1"/>
              <a:t>what</a:t>
            </a:r>
            <a:r>
              <a:rPr/>
              <a:t> you want, </a:t>
            </a:r>
            <a:r>
              <a:rPr i="1"/>
              <a:t>for each</a:t>
            </a:r>
            <a:r>
              <a:rPr/>
              <a:t> item, </a:t>
            </a:r>
            <a:r>
              <a:rPr i="1"/>
              <a:t>from</a:t>
            </a:r>
            <a:r>
              <a:rPr/>
              <a:t> where</a:t>
            </a:r>
          </a:p>
          <a:p>
            <a:pPr lvl="1"/>
            <a:r>
              <a:rPr/>
              <a:t>The brackets </a:t>
            </a:r>
            <a:r>
              <a:rPr>
                <a:latin typeface="Courier"/>
              </a:rPr>
              <a:t>[ ]</a:t>
            </a:r>
            <a:r>
              <a:rPr/>
              <a:t> say: the result is a </a:t>
            </a:r>
            <a:r>
              <a:rPr b="1"/>
              <a:t>list</a:t>
            </a:r>
          </a:p>
          <a:p>
            <a:pPr lvl="1"/>
            <a:r>
              <a:rPr/>
              <a:t>Same result as the loop — </a:t>
            </a:r>
            <a:r>
              <a:rPr>
                <a:latin typeface="Courier"/>
              </a:rPr>
              <a:t>[1, 4, 9, 16, 25]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Adding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filter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Put an </a:t>
            </a:r>
            <a:r>
              <a:rPr>
                <a:latin typeface="Courier"/>
              </a:rPr>
              <a:t>if</a:t>
            </a:r>
            <a:r>
              <a:rPr/>
              <a:t> at the </a:t>
            </a:r>
            <a:r>
              <a:rPr b="1"/>
              <a:t>end</a:t>
            </a:r>
            <a:r>
              <a:rPr/>
              <a:t> to keep only some items:</a:t>
            </a:r>
          </a:p>
          <a:p>
            <a:pPr lvl="0" indent="0">
              <a:buNone/>
            </a:pPr>
            <a:r>
              <a:rPr>
                <a:latin typeface="Courier"/>
              </a:rPr>
              <a:t>evens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[n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n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range(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latin typeface="Courier"/>
              </a:rPr>
              <a:t>)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n </a:t>
            </a:r>
            <a:r>
              <a:rPr>
                <a:solidFill>
                  <a:srgbClr val="666666"/>
                </a:solidFill>
                <a:latin typeface="Courier"/>
              </a:rPr>
              <a:t>%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[0, 2, 4, 6, 8]</a:t>
            </a:r>
          </a:p>
          <a:p>
            <a:pPr lvl="0" marL="0" indent="0">
              <a:buNone/>
            </a:pPr>
            <a:r>
              <a:rPr/>
              <a:t>The long way, for comparison:</a:t>
            </a:r>
          </a:p>
          <a:p>
            <a:pPr lvl="0" indent="0">
              <a:buNone/>
            </a:pPr>
            <a:r>
              <a:rPr>
                <a:latin typeface="Courier"/>
              </a:rPr>
              <a:t>evens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[]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n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range(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n </a:t>
            </a:r>
            <a:r>
              <a:rPr>
                <a:solidFill>
                  <a:srgbClr val="666666"/>
                </a:solidFill>
                <a:latin typeface="Courier"/>
              </a:rPr>
              <a:t>%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evens.append(n)</a:t>
            </a:r>
          </a:p>
          <a:p>
            <a:pPr lvl="0" marL="0" indent="0">
              <a:buNone/>
            </a:pPr>
            <a:r>
              <a:rPr/>
              <a:t>A trailing </a:t>
            </a:r>
            <a:r>
              <a:rPr>
                <a:latin typeface="Courier"/>
              </a:rPr>
              <a:t>if</a:t>
            </a:r>
            <a:r>
              <a:rPr/>
              <a:t> </a:t>
            </a:r>
            <a:r>
              <a:rPr b="1"/>
              <a:t>filters</a:t>
            </a:r>
            <a:r>
              <a:rPr/>
              <a:t>: items that fail are dropped.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Transforming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conditional</a:t>
            </a:r>
            <a:r>
              <a:rPr/>
              <a:t> </a:t>
            </a:r>
            <a:r>
              <a:rPr/>
              <a:t>expression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latin typeface="Courier"/>
              </a:rPr>
              <a:t>a if cond else b</a:t>
            </a:r>
            <a:r>
              <a:rPr/>
              <a:t> is an </a:t>
            </a:r>
            <a:r>
              <a:rPr b="1"/>
              <a:t>expression</a:t>
            </a:r>
            <a:r>
              <a:rPr/>
              <a:t> — it produces a value:</a:t>
            </a:r>
          </a:p>
          <a:p>
            <a:pPr lvl="0" indent="0">
              <a:buNone/>
            </a:pPr>
            <a:r>
              <a:rPr>
                <a:latin typeface="Courier"/>
              </a:rPr>
              <a:t>labels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70A0"/>
                </a:solidFill>
                <a:latin typeface="Courier"/>
              </a:rPr>
              <a:t>"even"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n </a:t>
            </a:r>
            <a:r>
              <a:rPr>
                <a:solidFill>
                  <a:srgbClr val="666666"/>
                </a:solidFill>
                <a:latin typeface="Courier"/>
              </a:rPr>
              <a:t>%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"odd"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n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range(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)]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['even', 'odd', 'even', 'odd', 'even']</a:t>
            </a:r>
          </a:p>
          <a:p>
            <a:pPr lvl="0" marL="0" indent="0">
              <a:buNone/>
            </a:pPr>
            <a:r>
              <a:rPr/>
              <a:t>Nothing is dropped — every item is </a:t>
            </a:r>
            <a:r>
              <a:rPr b="1"/>
              <a:t>transformed</a:t>
            </a:r>
            <a:r>
              <a:rPr/>
              <a:t>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position</a:t>
            </a:r>
            <a:r>
              <a:rPr/>
              <a:t> </a:t>
            </a:r>
            <a:r>
              <a:rPr/>
              <a:t>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Same word, two jobs — </a:t>
            </a:r>
            <a:r>
              <a:rPr b="1"/>
              <a:t>position</a:t>
            </a:r>
            <a:r>
              <a:rPr/>
              <a:t> decides which:</a:t>
            </a:r>
          </a:p>
          <a:p>
            <a:pPr lvl="0" indent="0">
              <a:buNone/>
            </a:pPr>
            <a:r>
              <a:rPr>
                <a:latin typeface="Courier"/>
              </a:rPr>
              <a:t>[n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n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xs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n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          </a:t>
            </a:r>
            <a:r>
              <a:rPr i="1">
                <a:solidFill>
                  <a:srgbClr val="60A0B0"/>
                </a:solidFill>
                <a:latin typeface="Courier"/>
              </a:rPr>
              <a:t># filter  -&gt; at the </a:t>
            </a:r>
            <a:r>
              <a:rPr>
                <a:latin typeface="Courier"/>
              </a:rPr>
              <a:t>END</a:t>
            </a:r>
            <a:br/>
            <a:r>
              <a:rPr>
                <a:latin typeface="Courier"/>
              </a:rPr>
              <a:t>[n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n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n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xs]   </a:t>
            </a:r>
            <a:r>
              <a:rPr i="1">
                <a:solidFill>
                  <a:srgbClr val="60A0B0"/>
                </a:solidFill>
                <a:latin typeface="Courier"/>
              </a:rPr>
              <a:t># choose  -&gt; at the FRONT</a:t>
            </a:r>
          </a:p>
          <a:p>
            <a:pPr lvl="1"/>
            <a:r>
              <a:rPr>
                <a:latin typeface="Courier"/>
              </a:rPr>
              <a:t>if</a:t>
            </a:r>
            <a:r>
              <a:rPr/>
              <a:t> </a:t>
            </a:r>
            <a:r>
              <a:rPr b="1"/>
              <a:t>after</a:t>
            </a:r>
            <a:r>
              <a:rPr/>
              <a:t> the </a:t>
            </a:r>
            <a:r>
              <a:rPr>
                <a:latin typeface="Courier"/>
              </a:rPr>
              <a:t>for</a:t>
            </a:r>
            <a:r>
              <a:rPr/>
              <a:t> → </a:t>
            </a:r>
            <a:r>
              <a:rPr b="1"/>
              <a:t>filter</a:t>
            </a:r>
            <a:r>
              <a:rPr/>
              <a:t>: keep or drop</a:t>
            </a:r>
          </a:p>
          <a:p>
            <a:pPr lvl="1"/>
            <a:r>
              <a:rPr>
                <a:latin typeface="Courier"/>
              </a:rPr>
              <a:t>if ... else</a:t>
            </a:r>
            <a:r>
              <a:rPr/>
              <a:t> </a:t>
            </a:r>
            <a:r>
              <a:rPr b="1"/>
              <a:t>before</a:t>
            </a:r>
            <a:r>
              <a:rPr/>
              <a:t> the </a:t>
            </a:r>
            <a:r>
              <a:rPr>
                <a:latin typeface="Courier"/>
              </a:rPr>
              <a:t>for</a:t>
            </a:r>
            <a:r>
              <a:rPr/>
              <a:t> → </a:t>
            </a:r>
            <a:r>
              <a:rPr b="1"/>
              <a:t>transform</a:t>
            </a:r>
            <a:r>
              <a:rPr/>
              <a:t>: always produce a value</a:t>
            </a:r>
          </a:p>
          <a:p>
            <a:pPr lvl="1"/>
            <a:r>
              <a:rPr/>
              <a:t>A filter has </a:t>
            </a:r>
            <a:r>
              <a:rPr b="1"/>
              <a:t>no </a:t>
            </a:r>
            <a:r>
              <a:rPr b="1">
                <a:latin typeface="Courier"/>
              </a:rPr>
              <a:t>else</a:t>
            </a:r>
            <a:r>
              <a:rPr/>
              <a:t>; a transform </a:t>
            </a:r>
            <a:r>
              <a:rPr b="1"/>
              <a:t>must</a:t>
            </a:r>
            <a:r>
              <a:rPr/>
              <a:t> have one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Set</a:t>
            </a:r>
            <a:r>
              <a:rPr/>
              <a:t> </a:t>
            </a:r>
            <a:r>
              <a:rPr/>
              <a:t>comprehensions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Swap the brackets for braces — you get a </a:t>
            </a:r>
            <a:r>
              <a:rPr b="1"/>
              <a:t>set</a:t>
            </a:r>
            <a:r>
              <a:rPr/>
              <a:t> (unique, unordered):</a:t>
            </a:r>
          </a:p>
          <a:p>
            <a:pPr lvl="0" indent="0">
              <a:buNone/>
            </a:pPr>
            <a:r>
              <a:rPr>
                <a:latin typeface="Courier"/>
              </a:rPr>
              <a:t>tags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{tag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t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tasks.values()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tag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t[</a:t>
            </a:r>
            <a:r>
              <a:rPr>
                <a:solidFill>
                  <a:srgbClr val="4070A0"/>
                </a:solidFill>
                <a:latin typeface="Courier"/>
              </a:rPr>
              <a:t>"tags"</a:t>
            </a:r>
            <a:r>
              <a:rPr>
                <a:latin typeface="Courier"/>
              </a:rPr>
              <a:t>]}</a:t>
            </a:r>
          </a:p>
          <a:p>
            <a:pPr lvl="1"/>
            <a:r>
              <a:rPr/>
              <a:t>Duplicates collapse automatically</a:t>
            </a:r>
          </a:p>
          <a:p>
            <a:pPr lvl="1"/>
            <a:r>
              <a:rPr/>
              <a:t>Print order is </a:t>
            </a:r>
            <a:r>
              <a:rPr b="1"/>
              <a:t>not</a:t>
            </a:r>
            <a:r>
              <a:rPr/>
              <a:t> guaranteed — wrap in </a:t>
            </a:r>
            <a:r>
              <a:rPr>
                <a:latin typeface="Courier"/>
              </a:rPr>
              <a:t>sorted(...)</a:t>
            </a:r>
            <a:r>
              <a:rPr/>
              <a:t> to display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Dict</a:t>
            </a:r>
            <a:r>
              <a:rPr/>
              <a:t> </a:t>
            </a:r>
            <a:r>
              <a:rPr/>
              <a:t>comprehensions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Braces </a:t>
            </a:r>
            <a:r>
              <a:rPr b="1"/>
              <a:t>plus a colon</a:t>
            </a:r>
            <a:r>
              <a:rPr/>
              <a:t> — you get a </a:t>
            </a:r>
            <a:r>
              <a:rPr b="1"/>
              <a:t>dict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titles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{tid: t[</a:t>
            </a:r>
            <a:r>
              <a:rPr>
                <a:solidFill>
                  <a:srgbClr val="4070A0"/>
                </a:solidFill>
                <a:latin typeface="Courier"/>
              </a:rPr>
              <a:t>"title"</a:t>
            </a:r>
            <a:r>
              <a:rPr>
                <a:latin typeface="Courier"/>
              </a:rPr>
              <a:t>]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tid, t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tasks.items()}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{1: 'Buy milk', 2: 'Write report', ...}</a:t>
            </a:r>
          </a:p>
          <a:p>
            <a:pPr lvl="1"/>
            <a:r>
              <a:rPr>
                <a:latin typeface="Courier"/>
              </a:rPr>
              <a:t>key: value</a:t>
            </a:r>
            <a:r>
              <a:rPr/>
              <a:t> before the </a:t>
            </a:r>
            <a:r>
              <a:rPr>
                <a:latin typeface="Courier"/>
              </a:rPr>
              <a:t>for</a:t>
            </a:r>
          </a:p>
          <a:p>
            <a:pPr lvl="1"/>
            <a:r>
              <a:rPr>
                <a:latin typeface="Courier"/>
              </a:rPr>
              <a:t>.items()</a:t>
            </a:r>
            <a:r>
              <a:rPr/>
              <a:t> gives you both halves to work with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Nested</a:t>
            </a:r>
            <a:r>
              <a:rPr/>
              <a:t> </a:t>
            </a:r>
            <a:r>
              <a:rPr/>
              <a:t>comprehensions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Two </a:t>
            </a:r>
            <a:r>
              <a:rPr>
                <a:latin typeface="Courier"/>
              </a:rPr>
              <a:t>for</a:t>
            </a:r>
            <a:r>
              <a:rPr/>
              <a:t> clauses read </a:t>
            </a:r>
            <a:r>
              <a:rPr b="1"/>
              <a:t>in the same order as nested loops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flat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[n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row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matrix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n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row]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outer first  ^^^^^^^^^^^^  ^^^^^^^^^^ then inner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row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matrix:          </a:t>
            </a:r>
            <a:r>
              <a:rPr i="1">
                <a:solidFill>
                  <a:srgbClr val="60A0B0"/>
                </a:solidFill>
                <a:latin typeface="Courier"/>
              </a:rPr>
              <a:t># the same thing, unrolled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n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row:</a:t>
            </a:r>
            <a:br/>
            <a:r>
              <a:rPr>
                <a:latin typeface="Courier"/>
              </a:rPr>
              <a:t>        flat.append(n)</a:t>
            </a:r>
          </a:p>
          <a:p>
            <a:pPr lvl="0" marL="0" indent="0">
              <a:buNone/>
            </a:pPr>
            <a:r>
              <a:rPr/>
              <a:t>Left to right, outer to inner. Get this backwards → </a:t>
            </a:r>
            <a:r>
              <a:rPr>
                <a:latin typeface="Courier"/>
              </a:rPr>
              <a:t>NameError</a:t>
            </a:r>
            <a:r>
              <a:rPr/>
              <a:t>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Let’s</a:t>
            </a:r>
            <a:r>
              <a:rPr/>
              <a:t> </a:t>
            </a:r>
            <a:r>
              <a:rPr/>
              <a:t>shrink</a:t>
            </a:r>
            <a:r>
              <a:rPr/>
              <a:t> </a:t>
            </a:r>
            <a:r>
              <a:rPr/>
              <a:t>some</a:t>
            </a:r>
            <a:r>
              <a:rPr/>
              <a:t> </a:t>
            </a:r>
            <a:r>
              <a:rPr/>
              <a:t>real</a:t>
            </a:r>
            <a:r>
              <a:rPr/>
              <a:t> </a:t>
            </a:r>
            <a:r>
              <a:rPr/>
              <a:t>loops.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Watch</a:t>
            </a:r>
            <a:r>
              <a:rPr/>
              <a:t> </a:t>
            </a:r>
            <a:r>
              <a:rPr/>
              <a:t>this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Demo</a:t>
            </a:r>
            <a:r>
              <a:rPr/>
              <a:t> </a:t>
            </a:r>
            <a:r>
              <a:rPr/>
              <a:t>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Rewrite loops as comprehensions</a:t>
            </a:r>
          </a:p>
          <a:p>
            <a:pPr lvl="1"/>
            <a:r>
              <a:rPr/>
              <a:t>A </a:t>
            </a:r>
            <a:r>
              <a:rPr>
                <a:latin typeface="Courier"/>
              </a:rPr>
              <a:t>for</a:t>
            </a:r>
            <a:r>
              <a:rPr/>
              <a:t> loop that filters → a comprehension with </a:t>
            </a:r>
            <a:r>
              <a:rPr>
                <a:latin typeface="Courier"/>
              </a:rPr>
              <a:t>if</a:t>
            </a:r>
          </a:p>
          <a:p>
            <a:pPr lvl="1"/>
            <a:r>
              <a:rPr/>
              <a:t>A </a:t>
            </a:r>
            <a:r>
              <a:rPr b="1"/>
              <a:t>conditional expression</a:t>
            </a:r>
            <a:r>
              <a:rPr/>
              <a:t> to label each task</a:t>
            </a:r>
          </a:p>
          <a:p>
            <a:pPr lvl="1"/>
            <a:r>
              <a:rPr/>
              <a:t>A </a:t>
            </a:r>
            <a:r>
              <a:rPr b="1"/>
              <a:t>dict</a:t>
            </a:r>
            <a:r>
              <a:rPr/>
              <a:t> comprehension </a:t>
            </a:r>
            <a:r>
              <a:rPr>
                <a:latin typeface="Courier"/>
              </a:rPr>
              <a:t>{id: title}</a:t>
            </a:r>
          </a:p>
          <a:p>
            <a:pPr lvl="1"/>
            <a:r>
              <a:rPr/>
              <a:t>A </a:t>
            </a:r>
            <a:r>
              <a:rPr b="1"/>
              <a:t>set</a:t>
            </a:r>
            <a:r>
              <a:rPr/>
              <a:t> comprehension of every tag</a:t>
            </a:r>
          </a:p>
          <a:p>
            <a:pPr lvl="1"/>
            <a:r>
              <a:rPr/>
              <a:t>Which loop variables </a:t>
            </a:r>
            <a:r>
              <a:rPr b="1"/>
              <a:t>leak</a:t>
            </a:r>
            <a:r>
              <a:rPr/>
              <a:t> — and which don’t</a:t>
            </a:r>
          </a:p>
          <a:p>
            <a:pPr lvl="1"/>
            <a:r>
              <a:rPr/>
              <a:t>A </a:t>
            </a:r>
            <a:r>
              <a:rPr b="1"/>
              <a:t>nested</a:t>
            </a:r>
            <a:r>
              <a:rPr/>
              <a:t> one, and the order that breaks it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Loop</a:t>
            </a:r>
            <a:r>
              <a:rPr/>
              <a:t> </a:t>
            </a:r>
            <a:r>
              <a:rPr/>
              <a:t>→</a:t>
            </a:r>
            <a:r>
              <a:rPr/>
              <a:t> </a:t>
            </a:r>
            <a:r>
              <a:rPr/>
              <a:t>comprehension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&gt;&gt;&gt; open_titles = []
&gt;&gt;&gt; for t in tasks.values():
...     if not t["done"]:
...         open_titles.append(t["title"])
...
&gt;&gt;&gt; open_titles
['Buy milk', 'Call plumber']
&gt;&gt;&gt; [t["title"] for t in tasks.values() if not t["done"]]
['Buy milk', 'Call plumber']</a:t>
            </a:r>
          </a:p>
          <a:p>
            <a:pPr lvl="0" marL="0" indent="0">
              <a:buNone/>
            </a:pPr>
            <a:r>
              <a:rPr/>
              <a:t>Four lines become one. Same answer.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Dict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set</a:t>
            </a:r>
            <a:r>
              <a:rPr/>
              <a:t> </a:t>
            </a:r>
            <a:r>
              <a:rPr/>
              <a:t>comprehensions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&gt;&gt;&gt; {tid: t["title"] for tid, t in tasks.items()}
{1: 'Buy milk', 2: 'Write report', 3: 'Call plumber', 4: 'Archive photos'}
&gt;&gt;&gt; sorted({tag for t in tasks.values() for tag in t["tags"]})
['home', 'shopping', 'urgent', 'work']</a:t>
            </a:r>
          </a:p>
          <a:p>
            <a:pPr lvl="0" marL="0" indent="0">
              <a:buNone/>
            </a:pPr>
            <a:r>
              <a:rPr/>
              <a:t>The set collapsed every duplicate tag on its own.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/>
              <a:t>you</a:t>
            </a:r>
            <a:r>
              <a:rPr/>
              <a:t> </a:t>
            </a:r>
            <a:r>
              <a:rPr/>
              <a:t>just</a:t>
            </a:r>
            <a:r>
              <a:rPr/>
              <a:t> </a:t>
            </a:r>
            <a:r>
              <a:rPr/>
              <a:t>saw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A filtering loop collapsed to </a:t>
            </a:r>
            <a:r>
              <a:rPr b="1"/>
              <a:t>one readable line</a:t>
            </a:r>
          </a:p>
          <a:p>
            <a:pPr lvl="1"/>
            <a:r>
              <a:rPr/>
              <a:t>A trailing </a:t>
            </a:r>
            <a:r>
              <a:rPr>
                <a:latin typeface="Courier"/>
              </a:rPr>
              <a:t>if</a:t>
            </a:r>
            <a:r>
              <a:rPr/>
              <a:t> </a:t>
            </a:r>
            <a:r>
              <a:rPr b="1"/>
              <a:t>drops</a:t>
            </a:r>
            <a:r>
              <a:rPr/>
              <a:t> items; </a:t>
            </a:r>
            <a:r>
              <a:rPr>
                <a:latin typeface="Courier"/>
              </a:rPr>
              <a:t>if/else</a:t>
            </a:r>
            <a:r>
              <a:rPr/>
              <a:t> up front </a:t>
            </a:r>
            <a:r>
              <a:rPr b="1"/>
              <a:t>transforms</a:t>
            </a:r>
            <a:r>
              <a:rPr/>
              <a:t> them</a:t>
            </a:r>
          </a:p>
          <a:p>
            <a:pPr lvl="1"/>
            <a:r>
              <a:rPr>
                <a:latin typeface="Courier"/>
              </a:rPr>
              <a:t>{k: v for ...}</a:t>
            </a:r>
            <a:r>
              <a:rPr/>
              <a:t> builds a </a:t>
            </a:r>
            <a:r>
              <a:rPr b="1"/>
              <a:t>dict</a:t>
            </a:r>
            <a:r>
              <a:rPr/>
              <a:t>; </a:t>
            </a:r>
            <a:r>
              <a:rPr>
                <a:latin typeface="Courier"/>
              </a:rPr>
              <a:t>{x for ...}</a:t>
            </a:r>
            <a:r>
              <a:rPr/>
              <a:t> builds a </a:t>
            </a:r>
            <a:r>
              <a:rPr b="1"/>
              <a:t>set</a:t>
            </a:r>
          </a:p>
          <a:p>
            <a:pPr lvl="1"/>
            <a:r>
              <a:rPr/>
              <a:t>The set </a:t>
            </a:r>
            <a:r>
              <a:rPr b="1"/>
              <a:t>deduplicated the tags</a:t>
            </a:r>
            <a:r>
              <a:rPr/>
              <a:t> on its own</a:t>
            </a:r>
          </a:p>
          <a:p>
            <a:pPr lvl="1"/>
            <a:r>
              <a:rPr/>
              <a:t>A comprehension’s variable </a:t>
            </a:r>
            <a:r>
              <a:rPr b="1"/>
              <a:t>never leaks</a:t>
            </a:r>
            <a:r>
              <a:rPr/>
              <a:t> — a plain </a:t>
            </a:r>
            <a:r>
              <a:rPr>
                <a:latin typeface="Courier"/>
              </a:rPr>
              <a:t>for</a:t>
            </a:r>
            <a:r>
              <a:rPr/>
              <a:t>’s </a:t>
            </a:r>
            <a:r>
              <a:rPr b="1"/>
              <a:t>does</a:t>
            </a:r>
          </a:p>
          <a:p>
            <a:pPr lvl="1"/>
            <a:r>
              <a:rPr/>
              <a:t>Nested </a:t>
            </a:r>
            <a:r>
              <a:rPr>
                <a:latin typeface="Courier"/>
              </a:rPr>
              <a:t>for</a:t>
            </a:r>
            <a:r>
              <a:rPr/>
              <a:t>s read </a:t>
            </a:r>
            <a:r>
              <a:rPr b="1"/>
              <a:t>left to right, outer to inner</a:t>
            </a:r>
            <a:r>
              <a:rPr/>
              <a:t> — or </a:t>
            </a:r>
            <a:r>
              <a:rPr>
                <a:latin typeface="Courier"/>
              </a:rPr>
              <a:t>NameError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Looping</a:t>
            </a:r>
            <a:r>
              <a:rPr/>
              <a:t> </a:t>
            </a:r>
            <a:r>
              <a:rPr/>
              <a:t>idioms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helpers</a:t>
            </a:r>
            <a:r>
              <a:rPr/>
              <a:t> </a:t>
            </a:r>
            <a:r>
              <a:rPr/>
              <a:t>that</a:t>
            </a:r>
            <a:r>
              <a:rPr/>
              <a:t> </a:t>
            </a:r>
            <a:r>
              <a:rPr/>
              <a:t>replace</a:t>
            </a:r>
            <a:r>
              <a:rPr/>
              <a:t> </a:t>
            </a:r>
            <a:r>
              <a:rPr/>
              <a:t>bookkeeping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latin typeface="Courier"/>
              </a:rPr>
              <a:t>enumerate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index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Don’t count by hand:</a:t>
            </a:r>
          </a:p>
          <a:p>
            <a:pPr lvl="0" indent="0">
              <a:buNone/>
            </a:pPr>
            <a:r>
              <a:rPr>
                <a:latin typeface="Courier"/>
              </a:rPr>
              <a:t>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                          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DON'T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t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tasks.values():</a:t>
            </a:r>
            <a:br/>
            <a:r>
              <a:rPr>
                <a:latin typeface="Courier"/>
              </a:rPr>
              <a:t>    print(n, t[</a:t>
            </a:r>
            <a:r>
              <a:rPr>
                <a:solidFill>
                  <a:srgbClr val="4070A0"/>
                </a:solidFill>
                <a:latin typeface="Courier"/>
              </a:rPr>
              <a:t>"title"</a:t>
            </a:r>
            <a:r>
              <a:rPr>
                <a:latin typeface="Courier"/>
              </a:rPr>
              <a:t>])</a:t>
            </a:r>
            <a:br/>
            <a:r>
              <a:rPr>
                <a:latin typeface="Courier"/>
              </a:rPr>
              <a:t>    n </a:t>
            </a:r>
            <a:r>
              <a:rPr>
                <a:solidFill>
                  <a:srgbClr val="666666"/>
                </a:solidFill>
                <a:latin typeface="Courier"/>
              </a:rPr>
              <a:t>+=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n, t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enumerate(tasks.values(), start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):  </a:t>
            </a:r>
            <a:r>
              <a:rPr i="1">
                <a:solidFill>
                  <a:srgbClr val="60A0B0"/>
                </a:solidFill>
                <a:latin typeface="Courier"/>
              </a:rPr>
              <a:t># DO</a:t>
            </a:r>
            <a:br/>
            <a:r>
              <a:rPr>
                <a:latin typeface="Courier"/>
              </a:rPr>
              <a:t>    print(n, t[</a:t>
            </a:r>
            <a:r>
              <a:rPr>
                <a:solidFill>
                  <a:srgbClr val="4070A0"/>
                </a:solidFill>
                <a:latin typeface="Courier"/>
              </a:rPr>
              <a:t>"title"</a:t>
            </a:r>
            <a:r>
              <a:rPr>
                <a:latin typeface="Courier"/>
              </a:rPr>
              <a:t>])</a:t>
            </a:r>
          </a:p>
          <a:p>
            <a:pPr lvl="1"/>
            <a:r>
              <a:rPr>
                <a:latin typeface="Courier"/>
              </a:rPr>
              <a:t>start=1</a:t>
            </a:r>
            <a:r>
              <a:rPr/>
              <a:t> because humans count from 1. Default is </a:t>
            </a:r>
            <a:r>
              <a:rPr>
                <a:latin typeface="Courier"/>
              </a:rPr>
              <a:t>0</a:t>
            </a:r>
          </a:p>
          <a:p>
            <a:pPr lvl="1"/>
            <a:r>
              <a:rPr/>
              <a:t>Note </a:t>
            </a:r>
            <a:r>
              <a:rPr>
                <a:latin typeface="Courier"/>
              </a:rPr>
              <a:t>.values()</a:t>
            </a:r>
            <a:r>
              <a:rPr/>
              <a:t> — iterating a </a:t>
            </a:r>
            <a:r>
              <a:rPr b="1"/>
              <a:t>dict</a:t>
            </a:r>
            <a:r>
              <a:rPr/>
              <a:t> gives you its </a:t>
            </a:r>
            <a:r>
              <a:rPr b="1"/>
              <a:t>keys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latin typeface="Courier"/>
              </a:rPr>
              <a:t>zip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walk</a:t>
            </a:r>
            <a:r>
              <a:rPr/>
              <a:t> </a:t>
            </a:r>
            <a:r>
              <a:rPr/>
              <a:t>two</a:t>
            </a:r>
            <a:r>
              <a:rPr/>
              <a:t> </a:t>
            </a:r>
            <a:r>
              <a:rPr/>
              <a:t>lists</a:t>
            </a:r>
            <a:r>
              <a:rPr/>
              <a:t> </a:t>
            </a:r>
            <a:r>
              <a:rPr/>
              <a:t>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title, day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zip(titles, due_dates):</a:t>
            </a:r>
            <a:br/>
            <a:r>
              <a:rPr>
                <a:latin typeface="Courier"/>
              </a:rPr>
              <a:t>    print(</a:t>
            </a:r>
            <a:r>
              <a:rPr>
                <a:solidFill>
                  <a:srgbClr val="BB6688"/>
                </a:solidFill>
                <a:latin typeface="Courier"/>
              </a:rPr>
              <a:t>f"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title</a:t>
            </a:r>
            <a:r>
              <a:rPr>
                <a:solidFill>
                  <a:srgbClr val="4070A0"/>
                </a:solidFill>
                <a:latin typeface="Courier"/>
              </a:rPr>
              <a:t>:&lt;14}</a:t>
            </a:r>
            <a:r>
              <a:rPr>
                <a:solidFill>
                  <a:srgbClr val="BB6688"/>
                </a:solidFill>
                <a:latin typeface="Courier"/>
              </a:rPr>
              <a:t> due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day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r>
              <a:rPr>
                <a:latin typeface="Courier"/>
              </a:rPr>
              <a:t>)</a:t>
            </a:r>
          </a:p>
          <a:p>
            <a:pPr lvl="1"/>
            <a:r>
              <a:rPr/>
              <a:t>Pairs them up item by item</a:t>
            </a:r>
          </a:p>
          <a:p>
            <a:pPr lvl="1"/>
            <a:r>
              <a:rPr/>
              <a:t>Stops at the </a:t>
            </a:r>
            <a:r>
              <a:rPr b="1"/>
              <a:t>shortest</a:t>
            </a:r>
            <a:r>
              <a:rPr/>
              <a:t> — extras are silently ignored</a:t>
            </a:r>
          </a:p>
          <a:p>
            <a:pPr lvl="1"/>
            <a:r>
              <a:rPr>
                <a:latin typeface="Courier"/>
              </a:rPr>
              <a:t>zip(a, b, strict=True)</a:t>
            </a:r>
            <a:r>
              <a:rPr/>
              <a:t> raises </a:t>
            </a:r>
            <a:r>
              <a:rPr>
                <a:latin typeface="Courier"/>
              </a:rPr>
              <a:t>ValueError</a:t>
            </a:r>
            <a:r>
              <a:rPr/>
              <a:t> if lengths differ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latin typeface="Courier"/>
              </a:rPr>
              <a:t>reversed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back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front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name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reversed(names):</a:t>
            </a:r>
            <a:br/>
            <a:r>
              <a:rPr>
                <a:latin typeface="Courier"/>
              </a:rPr>
              <a:t>    print(name)</a:t>
            </a:r>
          </a:p>
          <a:p>
            <a:pPr lvl="1"/>
            <a:r>
              <a:rPr/>
              <a:t>Gives you a </a:t>
            </a:r>
            <a:r>
              <a:rPr b="1"/>
              <a:t>view</a:t>
            </a:r>
            <a:r>
              <a:rPr/>
              <a:t>, not a new list — wrap in </a:t>
            </a:r>
            <a:r>
              <a:rPr>
                <a:latin typeface="Courier"/>
              </a:rPr>
              <a:t>list(...)</a:t>
            </a:r>
            <a:r>
              <a:rPr/>
              <a:t> to see it</a:t>
            </a:r>
          </a:p>
          <a:p>
            <a:pPr lvl="1"/>
            <a:r>
              <a:rPr/>
              <a:t>The original list is </a:t>
            </a:r>
            <a:r>
              <a:rPr b="1"/>
              <a:t>untouched</a:t>
            </a:r>
          </a:p>
          <a:p>
            <a:pPr lvl="1"/>
            <a:r>
              <a:rPr>
                <a:latin typeface="Courier"/>
              </a:rPr>
              <a:t>list(reversed([1, 2, 3]))</a:t>
            </a:r>
            <a:r>
              <a:rPr/>
              <a:t> → </a:t>
            </a:r>
            <a:r>
              <a:rPr>
                <a:latin typeface="Courier"/>
              </a:rPr>
              <a:t>[3, 2, 1]</a:t>
            </a:r>
          </a:p>
          <a:p>
            <a:pPr lvl="1"/>
            <a:r>
              <a:rPr>
                <a:latin typeface="Courier"/>
              </a:rPr>
              <a:t>.reverse()</a:t>
            </a:r>
            <a:r>
              <a:rPr/>
              <a:t> (the method) </a:t>
            </a:r>
            <a:r>
              <a:rPr b="1"/>
              <a:t>mutates</a:t>
            </a:r>
            <a:r>
              <a:rPr/>
              <a:t> instead — same trap as </a:t>
            </a:r>
            <a:r>
              <a:rPr>
                <a:latin typeface="Courier"/>
              </a:rPr>
              <a:t>.sort()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latin typeface="Courier"/>
              </a:rPr>
              <a:t>sorted(key=...)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sort</a:t>
            </a:r>
            <a:r>
              <a:rPr/>
              <a:t> </a:t>
            </a:r>
            <a:r>
              <a:rPr/>
              <a:t>by</a:t>
            </a:r>
            <a:r>
              <a:rPr/>
              <a:t> </a:t>
            </a:r>
            <a:r>
              <a:rPr/>
              <a:t>anything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latin typeface="Courier"/>
              </a:rPr>
              <a:t>key</a:t>
            </a:r>
            <a:r>
              <a:rPr/>
              <a:t> takes a </a:t>
            </a:r>
            <a:r>
              <a:rPr b="1"/>
              <a:t>function</a:t>
            </a:r>
            <a:r>
              <a:rPr/>
              <a:t> — it says </a:t>
            </a:r>
            <a:r>
              <a:rPr i="1"/>
              <a:t>what to sort on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sorted(tasks.values(), key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 b="1">
                <a:solidFill>
                  <a:srgbClr val="007020"/>
                </a:solidFill>
                <a:latin typeface="Courier"/>
              </a:rPr>
              <a:t>lambda</a:t>
            </a:r>
            <a:r>
              <a:rPr>
                <a:latin typeface="Courier"/>
              </a:rPr>
              <a:t> t: t[</a:t>
            </a:r>
            <a:r>
              <a:rPr>
                <a:solidFill>
                  <a:srgbClr val="4070A0"/>
                </a:solidFill>
                <a:latin typeface="Courier"/>
              </a:rPr>
              <a:t>"title"</a:t>
            </a:r>
            <a:r>
              <a:rPr>
                <a:latin typeface="Courier"/>
              </a:rPr>
              <a:t>])     </a:t>
            </a:r>
            <a:r>
              <a:rPr i="1">
                <a:solidFill>
                  <a:srgbClr val="60A0B0"/>
                </a:solidFill>
                <a:latin typeface="Courier"/>
              </a:rPr>
              <a:t># by title</a:t>
            </a:r>
            <a:br/>
            <a:r>
              <a:rPr>
                <a:latin typeface="Courier"/>
              </a:rPr>
              <a:t>sorted(words, key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str.lower)        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case-insensitively</a:t>
            </a:r>
            <a:br/>
            <a:r>
              <a:rPr>
                <a:latin typeface="Courier"/>
              </a:rPr>
              <a:t>sorted(tasks.values(), key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 b="1">
                <a:solidFill>
                  <a:srgbClr val="007020"/>
                </a:solidFill>
                <a:latin typeface="Courier"/>
              </a:rPr>
              <a:t>lambda</a:t>
            </a:r>
            <a:r>
              <a:rPr>
                <a:latin typeface="Courier"/>
              </a:rPr>
              <a:t> t: (t[</a:t>
            </a:r>
            <a:r>
              <a:rPr>
                <a:solidFill>
                  <a:srgbClr val="4070A0"/>
                </a:solidFill>
                <a:latin typeface="Courier"/>
              </a:rPr>
              <a:t>"done"</a:t>
            </a:r>
            <a:r>
              <a:rPr>
                <a:latin typeface="Courier"/>
              </a:rPr>
              <a:t>], t[</a:t>
            </a:r>
            <a:r>
              <a:rPr>
                <a:solidFill>
                  <a:srgbClr val="4070A0"/>
                </a:solidFill>
                <a:latin typeface="Courier"/>
              </a:rPr>
              <a:t>"title"</a:t>
            </a:r>
            <a:r>
              <a:rPr>
                <a:latin typeface="Courier"/>
              </a:rPr>
              <a:t>]))  </a:t>
            </a:r>
            <a:r>
              <a:rPr i="1">
                <a:solidFill>
                  <a:srgbClr val="60A0B0"/>
                </a:solidFill>
                <a:latin typeface="Courier"/>
              </a:rPr>
              <a:t># two keys</a:t>
            </a:r>
          </a:p>
          <a:p>
            <a:pPr lvl="1"/>
            <a:r>
              <a:rPr/>
              <a:t>A </a:t>
            </a:r>
            <a:r>
              <a:rPr b="1"/>
              <a:t>tuple</a:t>
            </a:r>
            <a:r>
              <a:rPr/>
              <a:t> key sorts by the first, then breaks ties with the second</a:t>
            </a:r>
          </a:p>
          <a:p>
            <a:pPr lvl="1"/>
            <a:r>
              <a:rPr>
                <a:latin typeface="Courier"/>
              </a:rPr>
              <a:t>reverse=True</a:t>
            </a:r>
            <a:r>
              <a:rPr/>
              <a:t> flips it</a:t>
            </a:r>
          </a:p>
          <a:p>
            <a:pPr lvl="1"/>
            <a:r>
              <a:rPr/>
              <a:t>Python’s sort is </a:t>
            </a:r>
            <a:r>
              <a:rPr b="1"/>
              <a:t>stable</a:t>
            </a:r>
            <a:r>
              <a:rPr/>
              <a:t> — equal keys keep their original order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latin typeface="Courier"/>
              </a:rPr>
              <a:t>sorted()</a:t>
            </a:r>
            <a:r>
              <a:rPr/>
              <a:t> </a:t>
            </a:r>
            <a:r>
              <a:rPr/>
              <a:t>vs</a:t>
            </a:r>
            <a:r>
              <a:rPr/>
              <a:t> </a:t>
            </a:r>
            <a:r>
              <a:rPr>
                <a:latin typeface="Courier"/>
              </a:rPr>
              <a:t>.sort()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&gt;&gt;&gt; nums = [3, 1, 2]
&gt;&gt;&gt; sorted(nums)
[1, 2, 3]
&gt;&gt;&gt; nums
[3, 1, 2]          # untouched — sorted() RETURNS a new list
&gt;&gt;&gt; nums.sort()    # returns None!
&gt;&gt;&gt; nums
[1, 2, 3]          # mutated in place</a:t>
            </a:r>
          </a:p>
          <a:p>
            <a:pPr lvl="0" marL="0" indent="0">
              <a:buNone/>
            </a:pPr>
            <a:r>
              <a:rPr>
                <a:latin typeface="Courier"/>
              </a:rPr>
              <a:t>sorted()</a:t>
            </a:r>
            <a:r>
              <a:rPr/>
              <a:t> copies · </a:t>
            </a:r>
            <a:r>
              <a:rPr>
                <a:latin typeface="Courier"/>
              </a:rPr>
              <a:t>.sort()</a:t>
            </a:r>
            <a:r>
              <a:rPr/>
              <a:t> mutates and returns </a:t>
            </a:r>
            <a:r>
              <a:rPr>
                <a:latin typeface="Courier"/>
              </a:rPr>
              <a:t>None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Generator</a:t>
            </a:r>
            <a:r>
              <a:rPr/>
              <a:t> </a:t>
            </a:r>
            <a:r>
              <a:rPr/>
              <a:t>expressions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peek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Round brackets: same shape, but </a:t>
            </a:r>
            <a:r>
              <a:rPr b="1"/>
              <a:t>lazy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sum(n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n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n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range(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latin typeface="Courier"/>
              </a:rPr>
              <a:t>))     </a:t>
            </a:r>
            <a:r>
              <a:rPr i="1">
                <a:solidFill>
                  <a:srgbClr val="60A0B0"/>
                </a:solidFill>
                <a:latin typeface="Courier"/>
              </a:rPr>
              <a:t># 55 — no list ever built</a:t>
            </a:r>
          </a:p>
          <a:p>
            <a:pPr lvl="1"/>
            <a:r>
              <a:rPr/>
              <a:t>A list comprehension builds </a:t>
            </a:r>
            <a:r>
              <a:rPr b="1"/>
              <a:t>everything</a:t>
            </a:r>
            <a:r>
              <a:rPr/>
              <a:t>, now</a:t>
            </a:r>
          </a:p>
          <a:p>
            <a:pPr lvl="1"/>
            <a:r>
              <a:rPr/>
              <a:t>A generator produces items </a:t>
            </a:r>
            <a:r>
              <a:rPr b="1"/>
              <a:t>one at a time, on demand</a:t>
            </a:r>
          </a:p>
          <a:p>
            <a:pPr lvl="1"/>
            <a:r>
              <a:rPr/>
              <a:t>Perfect for feeding </a:t>
            </a:r>
            <a:r>
              <a:rPr>
                <a:latin typeface="Courier"/>
              </a:rPr>
              <a:t>sum</a:t>
            </a:r>
            <a:r>
              <a:rPr/>
              <a:t>, </a:t>
            </a:r>
            <a:r>
              <a:rPr>
                <a:latin typeface="Courier"/>
              </a:rPr>
              <a:t>max</a:t>
            </a:r>
            <a:r>
              <a:rPr/>
              <a:t>, </a:t>
            </a:r>
            <a:r>
              <a:rPr>
                <a:latin typeface="Courier"/>
              </a:rPr>
              <a:t>any</a:t>
            </a:r>
            <a:r>
              <a:rPr/>
              <a:t> — full story in </a:t>
            </a:r>
            <a:r>
              <a:rPr b="1"/>
              <a:t>Week 15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Let’s</a:t>
            </a:r>
            <a:r>
              <a:rPr/>
              <a:t> </a:t>
            </a:r>
            <a:r>
              <a:rPr/>
              <a:t>present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task</a:t>
            </a:r>
            <a:r>
              <a:rPr/>
              <a:t> </a:t>
            </a:r>
            <a:r>
              <a:rPr/>
              <a:t>list</a:t>
            </a:r>
            <a:r>
              <a:rPr/>
              <a:t> </a:t>
            </a:r>
            <a:r>
              <a:rPr/>
              <a:t>properly.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Watch</a:t>
            </a:r>
            <a:r>
              <a:rPr/>
              <a:t> </a:t>
            </a:r>
            <a:r>
              <a:rPr/>
              <a:t>this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Demo</a:t>
            </a:r>
            <a:r>
              <a:rPr/>
              <a:t> </a:t>
            </a:r>
            <a:r>
              <a:rPr/>
              <a:t>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>
                <a:latin typeface="Courier"/>
              </a:rPr>
              <a:t>enumerate</a:t>
            </a:r>
            <a:r>
              <a:rPr b="1"/>
              <a:t> / </a:t>
            </a:r>
            <a:r>
              <a:rPr b="1">
                <a:latin typeface="Courier"/>
              </a:rPr>
              <a:t>zip</a:t>
            </a:r>
            <a:r>
              <a:rPr b="1"/>
              <a:t> / </a:t>
            </a:r>
            <a:r>
              <a:rPr b="1">
                <a:latin typeface="Courier"/>
              </a:rPr>
              <a:t>sorted(key=...)</a:t>
            </a:r>
          </a:p>
          <a:p>
            <a:pPr lvl="1"/>
            <a:r>
              <a:rPr/>
              <a:t>Number the list with </a:t>
            </a:r>
            <a:r>
              <a:rPr>
                <a:latin typeface="Courier"/>
              </a:rPr>
              <a:t>enumerate(tasks, start=1)</a:t>
            </a:r>
          </a:p>
          <a:p>
            <a:pPr lvl="1"/>
            <a:r>
              <a:rPr>
                <a:latin typeface="Courier"/>
              </a:rPr>
              <a:t>zip</a:t>
            </a:r>
            <a:r>
              <a:rPr/>
              <a:t> titles against due dates — and </a:t>
            </a:r>
            <a:r>
              <a:rPr>
                <a:latin typeface="Courier"/>
              </a:rPr>
              <a:t>strict=True</a:t>
            </a:r>
          </a:p>
          <a:p>
            <a:pPr lvl="1"/>
            <a:r>
              <a:rPr>
                <a:latin typeface="Courier"/>
              </a:rPr>
              <a:t>sorted(key=lambda t: t["title"])</a:t>
            </a:r>
            <a:r>
              <a:rPr/>
              <a:t>, then a </a:t>
            </a:r>
            <a:r>
              <a:rPr b="1"/>
              <a:t>two-key</a:t>
            </a:r>
            <a:r>
              <a:rPr/>
              <a:t> sort</a:t>
            </a:r>
          </a:p>
          <a:p>
            <a:pPr lvl="1"/>
            <a:r>
              <a:rPr>
                <a:latin typeface="Courier"/>
              </a:rPr>
              <a:t>reversed</a:t>
            </a:r>
            <a:r>
              <a:rPr/>
              <a:t>, and </a:t>
            </a:r>
            <a:r>
              <a:rPr>
                <a:latin typeface="Courier"/>
              </a:rPr>
              <a:t>sorted()</a:t>
            </a:r>
            <a:r>
              <a:rPr/>
              <a:t> vs </a:t>
            </a:r>
            <a:r>
              <a:rPr>
                <a:latin typeface="Courier"/>
              </a:rPr>
              <a:t>.sort()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latin typeface="Courier"/>
              </a:rPr>
              <a:t>enumerate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>
                <a:latin typeface="Courier"/>
              </a:rPr>
              <a:t>zip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&gt;&gt;&gt; for n, t in enumerate(tasks.values(), start=1):
...     print(f"{n}. {t['title']}")
...
1. Buy milk
2. Write report
3. Call plumber
4. Archive photos
&gt;&gt;&gt; list(zip(titles, due, strict=True))
ValueError: zip() argument 2 is shorter than argument 1</a:t>
            </a:r>
          </a:p>
          <a:p>
            <a:pPr lvl="0" marL="0" indent="0">
              <a:buNone/>
            </a:pPr>
            <a:r>
              <a:rPr/>
              <a:t>No counter variable. And </a:t>
            </a:r>
            <a:r>
              <a:rPr>
                <a:latin typeface="Courier"/>
              </a:rPr>
              <a:t>strict=True</a:t>
            </a:r>
            <a:r>
              <a:rPr/>
              <a:t> catches the mismatch.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Sorting</a:t>
            </a:r>
            <a:r>
              <a:rPr/>
              <a:t> </a:t>
            </a:r>
            <a:r>
              <a:rPr/>
              <a:t>by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&gt;&gt;&gt; sorted(["banana", "apple", "Cherry"])
['Cherry', 'apple', 'banana']
&gt;&gt;&gt; sorted(["banana", "apple", "Cherry"], key=str.lower)
['apple', 'banana', 'Cherry']</a:t>
            </a:r>
          </a:p>
          <a:p>
            <a:pPr lvl="0" marL="0" indent="0">
              <a:buNone/>
            </a:pPr>
            <a:r>
              <a:rPr/>
              <a:t>Capital </a:t>
            </a:r>
            <a:r>
              <a:rPr>
                <a:latin typeface="Courier"/>
              </a:rPr>
              <a:t>C</a:t>
            </a:r>
            <a:r>
              <a:rPr/>
              <a:t> sorts before lowercase </a:t>
            </a:r>
            <a:r>
              <a:rPr>
                <a:latin typeface="Courier"/>
              </a:rPr>
              <a:t>a</a:t>
            </a:r>
            <a:r>
              <a:rPr/>
              <a:t> — until </a:t>
            </a:r>
            <a:r>
              <a:rPr>
                <a:latin typeface="Courier"/>
              </a:rPr>
              <a:t>key</a:t>
            </a:r>
            <a:r>
              <a:rPr/>
              <a:t> says </a:t>
            </a:r>
            <a:r>
              <a:rPr i="1"/>
              <a:t>“compare them lowercased”</a:t>
            </a:r>
            <a:r>
              <a:rPr/>
              <a:t>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/>
              <a:t>you</a:t>
            </a:r>
            <a:r>
              <a:rPr/>
              <a:t> </a:t>
            </a:r>
            <a:r>
              <a:rPr/>
              <a:t>just</a:t>
            </a:r>
            <a:r>
              <a:rPr/>
              <a:t> </a:t>
            </a:r>
            <a:r>
              <a:rPr/>
              <a:t>saw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>
                <a:latin typeface="Courier"/>
              </a:rPr>
              <a:t>enumerate</a:t>
            </a:r>
            <a:r>
              <a:rPr/>
              <a:t> numbered the list — </a:t>
            </a:r>
            <a:r>
              <a:rPr b="1"/>
              <a:t>no counter variable</a:t>
            </a:r>
          </a:p>
          <a:p>
            <a:pPr lvl="1"/>
            <a:r>
              <a:rPr>
                <a:latin typeface="Courier"/>
              </a:rPr>
              <a:t>zip</a:t>
            </a:r>
            <a:r>
              <a:rPr/>
              <a:t> walked two lists in step; </a:t>
            </a:r>
            <a:r>
              <a:rPr>
                <a:latin typeface="Courier"/>
              </a:rPr>
              <a:t>strict=True</a:t>
            </a:r>
            <a:r>
              <a:rPr/>
              <a:t> catches mismatches</a:t>
            </a:r>
          </a:p>
          <a:p>
            <a:pPr lvl="1"/>
            <a:r>
              <a:rPr>
                <a:latin typeface="Courier"/>
              </a:rPr>
              <a:t>key=</a:t>
            </a:r>
            <a:r>
              <a:rPr/>
              <a:t> changed the </a:t>
            </a:r>
            <a:r>
              <a:rPr b="1"/>
              <a:t>sort order without touching the data</a:t>
            </a:r>
          </a:p>
          <a:p>
            <a:pPr lvl="1"/>
            <a:r>
              <a:rPr/>
              <a:t>A </a:t>
            </a:r>
            <a:r>
              <a:rPr b="1"/>
              <a:t>tuple key</a:t>
            </a:r>
            <a:r>
              <a:rPr/>
              <a:t> sorted by done-ness, then alphabetically</a:t>
            </a:r>
          </a:p>
          <a:p>
            <a:pPr lvl="1"/>
            <a:r>
              <a:rPr>
                <a:latin typeface="Courier"/>
              </a:rPr>
              <a:t>sorted()</a:t>
            </a:r>
            <a:r>
              <a:rPr/>
              <a:t> handed back a new list; </a:t>
            </a:r>
            <a:r>
              <a:rPr>
                <a:latin typeface="Courier"/>
              </a:rPr>
              <a:t>.sort()</a:t>
            </a:r>
            <a:r>
              <a:rPr/>
              <a:t> mutated and returned </a:t>
            </a:r>
            <a:r>
              <a:rPr>
                <a:latin typeface="Courier"/>
              </a:rPr>
              <a:t>None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When</a:t>
            </a:r>
            <a:r>
              <a:rPr/>
              <a:t> </a:t>
            </a:r>
            <a:r>
              <a:rPr i="1"/>
              <a:t>not</a:t>
            </a:r>
            <a:r>
              <a:rPr/>
              <a:t> </a:t>
            </a:r>
            <a:r>
              <a:rPr/>
              <a:t>to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Readability</a:t>
            </a:r>
            <a:r>
              <a:rPr/>
              <a:t> </a:t>
            </a:r>
            <a:r>
              <a:rPr/>
              <a:t>beats</a:t>
            </a:r>
            <a:r>
              <a:rPr/>
              <a:t> </a:t>
            </a:r>
            <a:r>
              <a:rPr/>
              <a:t>cleverness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readability</a:t>
            </a:r>
            <a:r>
              <a:rPr/>
              <a:t> </a:t>
            </a:r>
            <a:r>
              <a:rPr/>
              <a:t>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Fine — one idea, reads like a sentence</a:t>
            </a:r>
            <a:br/>
            <a:r>
              <a:rPr>
                <a:latin typeface="Courier"/>
              </a:rPr>
              <a:t>[t[</a:t>
            </a:r>
            <a:r>
              <a:rPr>
                <a:solidFill>
                  <a:srgbClr val="4070A0"/>
                </a:solidFill>
                <a:latin typeface="Courier"/>
              </a:rPr>
              <a:t>"title"</a:t>
            </a:r>
            <a:r>
              <a:rPr>
                <a:latin typeface="Courier"/>
              </a:rPr>
              <a:t>]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t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tasks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t[</a:t>
            </a:r>
            <a:r>
              <a:rPr>
                <a:solidFill>
                  <a:srgbClr val="4070A0"/>
                </a:solidFill>
                <a:latin typeface="Courier"/>
              </a:rPr>
              <a:t>"done"</a:t>
            </a:r>
            <a:r>
              <a:rPr>
                <a:latin typeface="Courier"/>
              </a:rPr>
              <a:t>]]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Stop. Write the loop.</a:t>
            </a:r>
            <a:br/>
            <a:r>
              <a:rPr>
                <a:latin typeface="Courier"/>
              </a:rPr>
              <a:t>[f(x, y)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x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xs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p(x)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y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g(x)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q(x, y)]</a:t>
            </a:r>
          </a:p>
          <a:p>
            <a:pPr lvl="1"/>
            <a:r>
              <a:rPr/>
              <a:t>If you can’t read it </a:t>
            </a:r>
            <a:r>
              <a:rPr b="1"/>
              <a:t>out loud in one breath</a:t>
            </a:r>
            <a:r>
              <a:rPr/>
              <a:t>, use a loop</a:t>
            </a:r>
          </a:p>
          <a:p>
            <a:pPr lvl="1"/>
            <a:r>
              <a:rPr/>
              <a:t>A comprehension is for </a:t>
            </a:r>
            <a:r>
              <a:rPr b="1"/>
              <a:t>building a collection</a:t>
            </a:r>
            <a:r>
              <a:rPr/>
              <a:t> — nothing else</a:t>
            </a:r>
          </a:p>
          <a:p>
            <a:pPr lvl="1"/>
            <a:r>
              <a:rPr/>
              <a:t>Side effects (printing, saving) belong in a </a:t>
            </a:r>
            <a:r>
              <a:rPr b="1"/>
              <a:t>real loop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Lab</a:t>
            </a:r>
            <a:r>
              <a:rPr/>
              <a:t> </a:t>
            </a:r>
            <a:r>
              <a:rPr/>
              <a:t>8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make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task</a:t>
            </a:r>
            <a:r>
              <a:rPr/>
              <a:t> </a:t>
            </a:r>
            <a:r>
              <a:rPr/>
              <a:t>app</a:t>
            </a:r>
            <a:r>
              <a:rPr/>
              <a:t> </a:t>
            </a:r>
            <a:r>
              <a:rPr/>
              <a:t>idiomatic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AutoNum type="arabicPeriod"/>
            </a:pPr>
            <a:r>
              <a:rPr b="1"/>
              <a:t>Refactor</a:t>
            </a:r>
            <a:r>
              <a:rPr/>
              <a:t> your Lab 6/7 loops into comprehensions where they genuinely read better</a:t>
            </a:r>
          </a:p>
          <a:p>
            <a:pPr lvl="1">
              <a:buAutoNum type="arabicPeriod"/>
            </a:pPr>
            <a:r>
              <a:rPr b="1"/>
              <a:t>Number</a:t>
            </a:r>
            <a:r>
              <a:rPr/>
              <a:t> the displayed list with </a:t>
            </a:r>
            <a:r>
              <a:rPr>
                <a:latin typeface="Courier"/>
              </a:rPr>
              <a:t>enumerate(..., start=1)</a:t>
            </a:r>
          </a:p>
          <a:p>
            <a:pPr lvl="1">
              <a:buAutoNum type="arabicPeriod"/>
            </a:pPr>
            <a:r>
              <a:rPr b="1"/>
              <a:t>Sort</a:t>
            </a:r>
            <a:r>
              <a:rPr/>
              <a:t> by title </a:t>
            </a:r>
            <a:r>
              <a:rPr i="1"/>
              <a:t>and</a:t>
            </a:r>
            <a:r>
              <a:rPr/>
              <a:t> by done-ness with </a:t>
            </a:r>
            <a:r>
              <a:rPr>
                <a:latin typeface="Courier"/>
              </a:rPr>
              <a:t>sorted(key=...)</a:t>
            </a:r>
          </a:p>
          <a:p>
            <a:pPr lvl="1">
              <a:buAutoNum type="arabicPeriod"/>
            </a:pPr>
            <a:r>
              <a:rPr/>
              <a:t>Behaviour unchanged · </a:t>
            </a:r>
            <a:r>
              <a:rPr>
                <a:latin typeface="Courier"/>
              </a:rPr>
              <a:t>uvx ruff check</a:t>
            </a:r>
            <a:r>
              <a:rPr/>
              <a:t> clean</a:t>
            </a:r>
          </a:p>
          <a:p>
            <a:pPr lvl="1">
              <a:buAutoNum type="arabicPeriod"/>
            </a:pPr>
            <a:r>
              <a:rPr b="1"/>
              <a:t>Submit:</a:t>
            </a:r>
            <a:r>
              <a:rPr/>
              <a:t> </a:t>
            </a:r>
            <a:r>
              <a:rPr>
                <a:latin typeface="Courier"/>
              </a:rPr>
              <a:t>tasks.py</a:t>
            </a:r>
            <a:r>
              <a:rPr/>
              <a:t> + sample output to the Teams channel</a:t>
            </a:r>
          </a:p>
          <a:p>
            <a:pPr lvl="0" marL="0" indent="0">
              <a:buNone/>
            </a:pPr>
            <a:r>
              <a:rPr/>
              <a:t>Mirror </a:t>
            </a:r>
            <a:r>
              <a:rPr b="1"/>
              <a:t>Demo 15</a:t>
            </a:r>
            <a:r>
              <a:rPr/>
              <a:t> for the comprehensions, </a:t>
            </a:r>
            <a:r>
              <a:rPr b="1"/>
              <a:t>Demo 16</a:t>
            </a:r>
            <a:r>
              <a:rPr/>
              <a:t> for the sorts.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Next</a:t>
            </a:r>
            <a:r>
              <a:rPr/>
              <a:t> </a:t>
            </a:r>
            <a:r>
              <a:rPr/>
              <a:t>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Week 9 — Modules &amp; Packages</a:t>
            </a:r>
          </a:p>
          <a:p>
            <a:pPr lvl="1"/>
            <a:r>
              <a:rPr/>
              <a:t>Our task app stops being one file and becomes a </a:t>
            </a:r>
            <a:r>
              <a:rPr b="1"/>
              <a:t>package</a:t>
            </a:r>
          </a:p>
          <a:p>
            <a:pPr lvl="1"/>
            <a:r>
              <a:rPr>
                <a:latin typeface="Courier"/>
              </a:rPr>
              <a:t>import</a:t>
            </a:r>
            <a:r>
              <a:rPr/>
              <a:t>, the </a:t>
            </a:r>
            <a:r>
              <a:rPr>
                <a:latin typeface="Courier"/>
              </a:rPr>
              <a:t>__name__ == "__main__"</a:t>
            </a:r>
            <a:r>
              <a:rPr/>
              <a:t> guard, and </a:t>
            </a:r>
            <a:r>
              <a:rPr>
                <a:latin typeface="Courier"/>
              </a:rPr>
              <a:t>python -m taskapp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See</a:t>
            </a:r>
            <a:r>
              <a:rPr/>
              <a:t> </a:t>
            </a:r>
            <a:r>
              <a:rPr/>
              <a:t>you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lab.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Questions?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2026-07-16T12:04:31Z</dcterms:created>
  <dcterms:modified xsi:type="dcterms:W3CDTF">2026-07-16T12:04:31Z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arp">
    <vt:lpwstr>True</vt:lpwstr>
  </property>
  <property fmtid="{D5CDD505-2E9C-101B-9397-08002B2CF9AE}" pid="3" name="paginate">
    <vt:lpwstr>True</vt:lpwstr>
  </property>
  <property fmtid="{D5CDD505-2E9C-101B-9397-08002B2CF9AE}" pid="4" name="theme">
    <vt:lpwstr>tech</vt:lpwstr>
  </property>
</Properties>
</file>