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marp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  <a:r>
              <a:rPr/>
              <a:t> </a:t>
            </a:r>
            <a:r>
              <a:rPr/>
              <a:t>theme</a:t>
            </a:r>
            <a:r>
              <a:rPr/>
              <a:t>:</a:t>
            </a:r>
            <a:r>
              <a:rPr/>
              <a:t> </a:t>
            </a:r>
            <a:r>
              <a:rPr/>
              <a:t>tech</a:t>
            </a:r>
            <a:r>
              <a:rPr/>
              <a:t> </a:t>
            </a:r>
            <a:r>
              <a:rPr/>
              <a:t>paginate</a:t>
            </a:r>
            <a:r>
              <a:rPr/>
              <a:t>:</a:t>
            </a:r>
            <a:r>
              <a:rPr/>
              <a:t> </a:t>
            </a:r>
            <a:r>
              <a:rPr/>
              <a:t>true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Numbers,</a:t>
            </a:r>
            <a:r>
              <a:rPr/>
              <a:t> </a:t>
            </a:r>
            <a:r>
              <a:rPr/>
              <a:t>Variables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Expressions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</a:t>
            </a:r>
            <a:r>
              <a:rPr/>
              <a:t>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got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week,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one</a:t>
            </a:r>
            <a:r>
              <a:rPr/>
              <a:t> </a:t>
            </a:r>
            <a:r>
              <a:rPr/>
              <a:t>breath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You installed </a:t>
            </a:r>
            <a:r>
              <a:rPr b="1"/>
              <a:t>Python 3.14</a:t>
            </a:r>
            <a:r>
              <a:rPr/>
              <a:t>, </a:t>
            </a:r>
            <a:r>
              <a:rPr b="1"/>
              <a:t>uv</a:t>
            </a:r>
            <a:r>
              <a:rPr/>
              <a:t>, </a:t>
            </a:r>
            <a:r>
              <a:rPr b="1"/>
              <a:t>Ruff</a:t>
            </a:r>
            <a:r>
              <a:rPr/>
              <a:t>, </a:t>
            </a:r>
            <a:r>
              <a:rPr b="1"/>
              <a:t>VS Code</a:t>
            </a:r>
          </a:p>
          <a:p>
            <a:pPr lvl="1"/>
            <a:r>
              <a:rPr/>
              <a:t>You met the </a:t>
            </a:r>
            <a:r>
              <a:rPr b="1"/>
              <a:t>REPL</a:t>
            </a:r>
            <a:r>
              <a:rPr/>
              <a:t> — type a line, get an answer</a:t>
            </a:r>
          </a:p>
          <a:p>
            <a:pPr lvl="1"/>
            <a:r>
              <a:rPr/>
              <a:t>You ran a script </a:t>
            </a:r>
            <a:r>
              <a:rPr b="1"/>
              <a:t>two ways</a:t>
            </a:r>
            <a:r>
              <a:rPr/>
              <a:t>: </a:t>
            </a:r>
            <a:r>
              <a:rPr>
                <a:latin typeface="Courier"/>
              </a:rPr>
              <a:t>python hello.py</a:t>
            </a:r>
            <a:r>
              <a:rPr/>
              <a:t> and </a:t>
            </a:r>
            <a:r>
              <a:rPr>
                <a:latin typeface="Courier"/>
              </a:rPr>
              <a:t>python -m hello</a:t>
            </a:r>
          </a:p>
          <a:p>
            <a:pPr lvl="1"/>
            <a:r>
              <a:rPr/>
              <a:t>You scaffolded </a:t>
            </a:r>
            <a:r>
              <a:rPr b="1">
                <a:latin typeface="Courier"/>
              </a:rPr>
              <a:t>taskapp</a:t>
            </a:r>
            <a:r>
              <a:rPr/>
              <a:t> with </a:t>
            </a:r>
            <a:r>
              <a:rPr>
                <a:latin typeface="Courier"/>
              </a:rPr>
              <a:t>uv init</a:t>
            </a:r>
            <a:r>
              <a:rPr/>
              <a:t> and tidied it with </a:t>
            </a:r>
            <a:r>
              <a:rPr b="1"/>
              <a:t>Ruff</a:t>
            </a:r>
          </a:p>
          <a:p>
            <a:pPr lvl="0" marL="1270000" indent="0">
              <a:buNone/>
            </a:pPr>
            <a:r>
              <a:rPr sz="2000"/>
              <a:t>Today we use that exact REPL and that exact project.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Today's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you'll be able to:</a:t>
            </a:r>
          </a:p>
          <a:p>
            <a:pPr lvl="1"/>
            <a:r>
              <a:rPr/>
              <a:t>Use Python's number types: </a:t>
            </a:r>
            <a:r>
              <a:rPr b="1">
                <a:latin typeface="Courier"/>
              </a:rPr>
              <a:t>int</a:t>
            </a:r>
            <a:r>
              <a:rPr b="1"/>
              <a:t>, </a:t>
            </a:r>
            <a:r>
              <a:rPr b="1">
                <a:latin typeface="Courier"/>
              </a:rPr>
              <a:t>float</a:t>
            </a:r>
            <a:r>
              <a:rPr b="1"/>
              <a:t>, </a:t>
            </a:r>
            <a:r>
              <a:rPr b="1">
                <a:latin typeface="Courier"/>
              </a:rPr>
              <a:t>complex</a:t>
            </a:r>
            <a:r>
              <a:rPr b="1"/>
              <a:t>, </a:t>
            </a:r>
            <a:r>
              <a:rPr b="1">
                <a:latin typeface="Courier"/>
              </a:rPr>
              <a:t>bool</a:t>
            </a:r>
          </a:p>
          <a:p>
            <a:pPr lvl="1"/>
            <a:r>
              <a:rPr/>
              <a:t>Tell apart </a:t>
            </a:r>
            <a:r>
              <a:rPr b="1">
                <a:latin typeface="Courier"/>
              </a:rPr>
              <a:t>/</a:t>
            </a:r>
            <a:r>
              <a:rPr/>
              <a:t>, </a:t>
            </a:r>
            <a:r>
              <a:rPr b="1">
                <a:latin typeface="Courier"/>
              </a:rPr>
              <a:t>//</a:t>
            </a:r>
            <a:r>
              <a:rPr/>
              <a:t>, and </a:t>
            </a:r>
            <a:r>
              <a:rPr b="1">
                <a:latin typeface="Courier"/>
              </a:rPr>
              <a:t>%</a:t>
            </a:r>
            <a:r>
              <a:rPr/>
              <a:t>, and use </a:t>
            </a:r>
            <a:r>
              <a:rPr b="1">
                <a:latin typeface="Courier"/>
              </a:rPr>
              <a:t>**</a:t>
            </a:r>
          </a:p>
          <a:p>
            <a:pPr lvl="1"/>
            <a:r>
              <a:rPr/>
              <a:t>Predict results from </a:t>
            </a:r>
            <a:r>
              <a:rPr b="1"/>
              <a:t>operator precedence</a:t>
            </a:r>
          </a:p>
          <a:p>
            <a:pPr lvl="1"/>
            <a:r>
              <a:rPr/>
              <a:t>Bind and rebind </a:t>
            </a:r>
            <a:r>
              <a:rPr b="1"/>
              <a:t>variables</a:t>
            </a:r>
            <a:r>
              <a:rPr/>
              <a:t>; use </a:t>
            </a:r>
            <a:r>
              <a:rPr b="1">
                <a:latin typeface="Courier"/>
              </a:rPr>
              <a:t>None</a:t>
            </a:r>
          </a:p>
          <a:p>
            <a:pPr lvl="1"/>
            <a:r>
              <a:rPr/>
              <a:t>Defend against </a:t>
            </a:r>
            <a:r>
              <a:rPr b="1"/>
              <a:t>floating-point</a:t>
            </a:r>
            <a:r>
              <a:rPr/>
              <a:t> surprises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Numbers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operators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value</a:t>
            </a:r>
            <a:r>
              <a:rPr/>
              <a:t> </a:t>
            </a:r>
            <a:r>
              <a:rPr/>
              <a:t>layer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every</a:t>
            </a:r>
            <a:r>
              <a:rPr/>
              <a:t> </a:t>
            </a:r>
            <a:r>
              <a:rPr/>
              <a:t>program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four</a:t>
            </a:r>
            <a:r>
              <a:rPr/>
              <a:t> </a:t>
            </a:r>
            <a:r>
              <a:rPr/>
              <a:t>numeric</a:t>
            </a:r>
            <a:r>
              <a:rPr/>
              <a:t> </a:t>
            </a:r>
            <a:r>
              <a:rPr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>
                <a:latin typeface="Courier"/>
              </a:rPr>
              <a:t>int</a:t>
            </a:r>
            <a:r>
              <a:rPr/>
              <a:t> — whole numbers, </a:t>
            </a:r>
            <a:r>
              <a:rPr b="1"/>
              <a:t>unlimited</a:t>
            </a:r>
            <a:r>
              <a:rPr/>
              <a:t> size: </a:t>
            </a:r>
            <a:r>
              <a:rPr>
                <a:latin typeface="Courier"/>
              </a:rPr>
              <a:t>42</a:t>
            </a:r>
            <a:r>
              <a:rPr/>
              <a:t>, </a:t>
            </a:r>
            <a:r>
              <a:rPr>
                <a:latin typeface="Courier"/>
              </a:rPr>
              <a:t>-7</a:t>
            </a:r>
            <a:r>
              <a:rPr/>
              <a:t>, </a:t>
            </a:r>
            <a:r>
              <a:rPr>
                <a:latin typeface="Courier"/>
              </a:rPr>
              <a:t>10**100</a:t>
            </a:r>
          </a:p>
          <a:p>
            <a:pPr lvl="1"/>
            <a:r>
              <a:rPr b="1">
                <a:latin typeface="Courier"/>
              </a:rPr>
              <a:t>float</a:t>
            </a:r>
            <a:r>
              <a:rPr/>
              <a:t> — decimals: </a:t>
            </a:r>
            <a:r>
              <a:rPr>
                <a:latin typeface="Courier"/>
              </a:rPr>
              <a:t>3.14</a:t>
            </a:r>
            <a:r>
              <a:rPr/>
              <a:t>, </a:t>
            </a:r>
            <a:r>
              <a:rPr>
                <a:latin typeface="Courier"/>
              </a:rPr>
              <a:t>2.0</a:t>
            </a:r>
            <a:r>
              <a:rPr/>
              <a:t>, </a:t>
            </a:r>
            <a:r>
              <a:rPr>
                <a:latin typeface="Courier"/>
              </a:rPr>
              <a:t>1.5e3</a:t>
            </a:r>
          </a:p>
          <a:p>
            <a:pPr lvl="1"/>
            <a:r>
              <a:rPr b="1">
                <a:latin typeface="Courier"/>
              </a:rPr>
              <a:t>complex</a:t>
            </a:r>
            <a:r>
              <a:rPr/>
              <a:t> — real + imaginary: </a:t>
            </a:r>
            <a:r>
              <a:rPr>
                <a:latin typeface="Courier"/>
              </a:rPr>
              <a:t>2 + 3j</a:t>
            </a:r>
            <a:r>
              <a:rPr/>
              <a:t> (rarely needed, good to know)</a:t>
            </a:r>
          </a:p>
          <a:p>
            <a:pPr lvl="1"/>
            <a:r>
              <a:rPr b="1">
                <a:latin typeface="Courier"/>
              </a:rPr>
              <a:t>bool</a:t>
            </a:r>
            <a:r>
              <a:rPr/>
              <a:t> — </a:t>
            </a:r>
            <a:r>
              <a:rPr>
                <a:latin typeface="Courier"/>
              </a:rPr>
              <a:t>True</a:t>
            </a:r>
            <a:r>
              <a:rPr/>
              <a:t> / </a:t>
            </a:r>
            <a:r>
              <a:rPr>
                <a:latin typeface="Courier"/>
              </a:rPr>
              <a:t>False</a:t>
            </a:r>
            <a:r>
              <a:rPr/>
              <a:t>, and </a:t>
            </a:r>
            <a:r>
              <a:rPr b="1">
                <a:latin typeface="Courier"/>
              </a:rPr>
              <a:t>bool</a:t>
            </a:r>
            <a:r>
              <a:rPr b="1"/>
              <a:t> is a kind of </a:t>
            </a:r>
            <a:r>
              <a:rPr b="1">
                <a:latin typeface="Courier"/>
              </a:rPr>
              <a:t>int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True + True
2
&gt;&gt;&gt; type(42), type(3.14)
(&lt;class 'int'&gt;, &lt;class 'float'&gt;)
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Arithmetic</a:t>
            </a:r>
            <a:r>
              <a:rPr/>
              <a:t> </a:t>
            </a:r>
            <a:r>
              <a:rPr/>
              <a:t>operators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7 ? 2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+ - 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add,</a:t>
                      </a:r>
                      <a:r>
                        <a:rPr/>
                        <a:t> </a:t>
                      </a:r>
                      <a:r>
                        <a:rPr/>
                        <a:t>subtract,</a:t>
                      </a:r>
                      <a:r>
                        <a:rPr/>
                        <a:t> </a:t>
                      </a:r>
                      <a:r>
                        <a:rPr/>
                        <a:t>multiply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true</a:t>
                      </a:r>
                      <a:r>
                        <a:rPr/>
                        <a:t> </a:t>
                      </a:r>
                      <a:r>
                        <a:rPr/>
                        <a:t>division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always</a:t>
                      </a:r>
                      <a:r>
                        <a:rPr/>
                        <a:t> </a:t>
                      </a:r>
                      <a:r>
                        <a:rPr>
                          <a:latin typeface="Courier"/>
                        </a:rPr>
                        <a:t>float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3.5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//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floor</a:t>
                      </a:r>
                      <a:r>
                        <a:rPr/>
                        <a:t> </a:t>
                      </a:r>
                      <a:r>
                        <a:rPr/>
                        <a:t>division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rounds</a:t>
                      </a:r>
                      <a:r>
                        <a:rPr/>
                        <a:t> </a:t>
                      </a:r>
                      <a:r>
                        <a:rPr/>
                        <a:t>down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modulo</a:t>
                      </a:r>
                      <a:r>
                        <a:rPr/>
                        <a:t> </a:t>
                      </a:r>
                      <a:r>
                        <a:rPr/>
                        <a:t>→</a:t>
                      </a:r>
                      <a:r>
                        <a:rPr/>
                        <a:t> </a:t>
                      </a:r>
                      <a:r>
                        <a:rPr/>
                        <a:t>remainder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**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power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/</a:t>
            </a:r>
            <a:r>
              <a:rPr/>
              <a:t> always gives a </a:t>
            </a:r>
            <a:r>
              <a:rPr>
                <a:latin typeface="Courier"/>
              </a:rPr>
              <a:t>float</a:t>
            </a:r>
            <a:r>
              <a:rPr/>
              <a:t>, even </a:t>
            </a:r>
            <a:r>
              <a:rPr>
                <a:latin typeface="Courier"/>
              </a:rPr>
              <a:t>4 / 2</a:t>
            </a:r>
            <a:r>
              <a:rPr/>
              <a:t> → </a:t>
            </a:r>
            <a:r>
              <a:rPr>
                <a:latin typeface="Courier"/>
              </a:rPr>
              <a:t>2.0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//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>
                <a:latin typeface="Courier"/>
              </a:rPr>
              <a:t>%</a:t>
            </a:r>
            <a:r>
              <a:rPr/>
              <a:t> </a:t>
            </a:r>
            <a:r>
              <a:rPr/>
              <a:t>travel</a:t>
            </a:r>
            <a:r>
              <a:rPr/>
              <a:t> </a:t>
            </a:r>
            <a:r>
              <a:rPr/>
              <a:t>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17 // 5
3
&gt;&gt;&gt; 17 % 5
2
&gt;&gt;&gt; 3 * 5 + 2
17
</a:t>
            </a:r>
          </a:p>
          <a:p>
            <a:pPr lvl="1"/>
            <a:r>
              <a:rPr>
                <a:latin typeface="Courier"/>
              </a:rPr>
              <a:t>//</a:t>
            </a:r>
            <a:r>
              <a:rPr/>
              <a:t> = how many whole times it fits</a:t>
            </a:r>
          </a:p>
          <a:p>
            <a:pPr lvl="1"/>
            <a:r>
              <a:rPr>
                <a:latin typeface="Courier"/>
              </a:rPr>
              <a:t>%</a:t>
            </a:r>
            <a:r>
              <a:rPr/>
              <a:t> = what's left over</a:t>
            </a:r>
          </a:p>
          <a:p>
            <a:pPr lvl="1"/>
            <a:r>
              <a:rPr/>
              <a:t>Together they split a number cleanly — useful for time, change, grouping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Mixing</a:t>
            </a:r>
            <a:r>
              <a:rPr/>
              <a:t> </a:t>
            </a:r>
            <a:r>
              <a:rPr/>
              <a:t>types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Mix </a:t>
            </a:r>
            <a:r>
              <a:rPr>
                <a:latin typeface="Courier"/>
              </a:rPr>
              <a:t>int</a:t>
            </a:r>
            <a:r>
              <a:rPr/>
              <a:t> and </a:t>
            </a:r>
            <a:r>
              <a:rPr>
                <a:latin typeface="Courier"/>
              </a:rPr>
              <a:t>float</a:t>
            </a:r>
            <a:r>
              <a:rPr/>
              <a:t> → result </a:t>
            </a:r>
            <a:r>
              <a:rPr b="1"/>
              <a:t>widens</a:t>
            </a:r>
            <a:r>
              <a:rPr/>
              <a:t> to </a:t>
            </a:r>
            <a:r>
              <a:rPr>
                <a:latin typeface="Courier"/>
              </a:rPr>
              <a:t>float</a:t>
            </a:r>
            <a:r>
              <a:rPr/>
              <a:t>: </a:t>
            </a:r>
            <a:r>
              <a:rPr>
                <a:latin typeface="Courier"/>
              </a:rPr>
              <a:t>2 + 3.0</a:t>
            </a:r>
            <a:r>
              <a:rPr/>
              <a:t> → </a:t>
            </a:r>
            <a:r>
              <a:rPr>
                <a:latin typeface="Courier"/>
              </a:rPr>
              <a:t>5.0</a:t>
            </a:r>
          </a:p>
          <a:p>
            <a:pPr lvl="1"/>
            <a:r>
              <a:rPr/>
              <a:t>Precedence (highest first): </a:t>
            </a:r>
            <a:r>
              <a:rPr b="1">
                <a:latin typeface="Courier"/>
              </a:rPr>
              <a:t>**</a:t>
            </a:r>
            <a:r>
              <a:rPr/>
              <a:t> → </a:t>
            </a:r>
            <a:r>
              <a:rPr b="1">
                <a:latin typeface="Courier"/>
              </a:rPr>
              <a:t>* / // %</a:t>
            </a:r>
            <a:r>
              <a:rPr/>
              <a:t> → </a:t>
            </a:r>
            <a:r>
              <a:rPr b="1">
                <a:latin typeface="Courier"/>
              </a:rPr>
              <a:t>+ -</a:t>
            </a:r>
          </a:p>
          <a:p>
            <a:pPr lvl="1"/>
            <a:r>
              <a:rPr/>
              <a:t>Same level runs </a:t>
            </a:r>
            <a:r>
              <a:rPr b="1"/>
              <a:t>left to right</a:t>
            </a:r>
          </a:p>
          <a:p>
            <a:pPr lvl="1"/>
            <a:r>
              <a:rPr b="1"/>
              <a:t>When in doubt, use parentheses</a:t>
            </a:r>
            <a:r>
              <a:rPr/>
              <a:t> — they cost nothing and read clearly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2 + 3 * 4
14
&gt;&gt;&gt; (2 + 3) * 4
20
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Let's</a:t>
            </a:r>
            <a:r>
              <a:rPr/>
              <a:t> </a:t>
            </a:r>
            <a:r>
              <a:rPr/>
              <a:t>use</a:t>
            </a:r>
            <a:r>
              <a:rPr/>
              <a:t> </a:t>
            </a:r>
            <a:r>
              <a:rPr/>
              <a:t>Python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calculator.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REPL calculator &amp; precedence</a:t>
            </a:r>
          </a:p>
          <a:p>
            <a:pPr lvl="1"/>
            <a:r>
              <a:rPr>
                <a:latin typeface="Courier"/>
              </a:rPr>
              <a:t>7 / 2</a:t>
            </a:r>
            <a:r>
              <a:rPr/>
              <a:t>, </a:t>
            </a:r>
            <a:r>
              <a:rPr>
                <a:latin typeface="Courier"/>
              </a:rPr>
              <a:t>7 // 2</a:t>
            </a:r>
            <a:r>
              <a:rPr/>
              <a:t>, </a:t>
            </a:r>
            <a:r>
              <a:rPr>
                <a:latin typeface="Courier"/>
              </a:rPr>
              <a:t>7 % 2</a:t>
            </a:r>
            <a:r>
              <a:rPr/>
              <a:t>, </a:t>
            </a:r>
            <a:r>
              <a:rPr>
                <a:latin typeface="Courier"/>
              </a:rPr>
              <a:t>2 ** 10</a:t>
            </a:r>
          </a:p>
          <a:p>
            <a:pPr lvl="1"/>
            <a:r>
              <a:rPr>
                <a:latin typeface="Courier"/>
              </a:rPr>
              <a:t>(2 + 3) * 4</a:t>
            </a:r>
            <a:r>
              <a:rPr/>
              <a:t> vs </a:t>
            </a:r>
            <a:r>
              <a:rPr>
                <a:latin typeface="Courier"/>
              </a:rPr>
              <a:t>2 + 3 * 4</a:t>
            </a:r>
          </a:p>
          <a:p>
            <a:pPr lvl="1"/>
            <a:r>
              <a:rPr/>
              <a:t>Mix </a:t>
            </a:r>
            <a:r>
              <a:rPr>
                <a:latin typeface="Courier"/>
              </a:rPr>
              <a:t>int</a:t>
            </a:r>
            <a:r>
              <a:rPr/>
              <a:t> and </a:t>
            </a:r>
            <a:r>
              <a:rPr>
                <a:latin typeface="Courier"/>
              </a:rPr>
              <a:t>float</a:t>
            </a:r>
            <a:r>
              <a:rPr/>
              <a:t> → watch the result </a:t>
            </a:r>
            <a:r>
              <a:rPr b="1"/>
              <a:t>type</a:t>
            </a:r>
          </a:p>
          <a:p>
            <a:pPr lvl="1"/>
            <a:r>
              <a:rPr>
                <a:latin typeface="Courier"/>
              </a:rPr>
              <a:t>x = 5; x += 3</a:t>
            </a:r>
            <a:r>
              <a:rPr/>
              <a:t> (augmented assignment)</a:t>
            </a:r>
          </a:p>
          <a:p>
            <a:pPr lvl="1"/>
            <a:r>
              <a:rPr>
                <a:latin typeface="Courier"/>
              </a:rPr>
              <a:t>a, b = 1, 2</a:t>
            </a:r>
            <a:r>
              <a:rPr/>
              <a:t> (multiple assignment)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operators,</a:t>
            </a:r>
            <a:r>
              <a:rPr/>
              <a:t> </a:t>
            </a:r>
            <a:r>
              <a:rPr/>
              <a:t>side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7 / 2
3.5
&gt;&gt;&gt; 7 // 2
3
&gt;&gt;&gt; 7 % 2
1
&gt;&gt;&gt; 2 ** 10
1024
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/</a:t>
            </a:r>
            <a:r>
              <a:rPr/>
              <a:t> floats · </a:t>
            </a:r>
            <a:r>
              <a:rPr>
                <a:latin typeface="Courier"/>
              </a:rPr>
              <a:t>//</a:t>
            </a:r>
            <a:r>
              <a:rPr/>
              <a:t> floors · </a:t>
            </a:r>
            <a:r>
              <a:rPr>
                <a:latin typeface="Courier"/>
              </a:rPr>
              <a:t>%</a:t>
            </a:r>
            <a:r>
              <a:rPr/>
              <a:t> remainder · </a:t>
            </a:r>
            <a:r>
              <a:rPr>
                <a:latin typeface="Courier"/>
              </a:rPr>
              <a:t>**</a:t>
            </a:r>
            <a:r>
              <a:rPr/>
              <a:t> power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Precedence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2 + 3 * 4
14
&gt;&gt;&gt; (2 + 3) * 4
20
&gt;&gt;&gt; 2 ** 3 ** 2
512
</a:t>
            </a:r>
          </a:p>
          <a:p>
            <a:pPr lvl="1"/>
            <a:r>
              <a:rPr>
                <a:latin typeface="Courier"/>
              </a:rPr>
              <a:t>*</a:t>
            </a:r>
            <a:r>
              <a:rPr/>
              <a:t> binds tighter than </a:t>
            </a:r>
            <a:r>
              <a:rPr>
                <a:latin typeface="Courier"/>
              </a:rPr>
              <a:t>+</a:t>
            </a:r>
          </a:p>
          <a:p>
            <a:pPr lvl="1"/>
            <a:r>
              <a:rPr>
                <a:latin typeface="Courier"/>
              </a:rPr>
              <a:t>**</a:t>
            </a:r>
            <a:r>
              <a:rPr/>
              <a:t> runs </a:t>
            </a:r>
            <a:r>
              <a:rPr b="1"/>
              <a:t>right to left</a:t>
            </a:r>
            <a:r>
              <a:rPr/>
              <a:t>: </a:t>
            </a:r>
            <a:r>
              <a:rPr>
                <a:latin typeface="Courier"/>
              </a:rPr>
              <a:t>2 ** (3 ** 2)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/</a:t>
            </a:r>
            <a:r>
              <a:rPr/>
              <a:t> always returns a </a:t>
            </a:r>
            <a:r>
              <a:rPr>
                <a:latin typeface="Courier"/>
              </a:rPr>
              <a:t>float</a:t>
            </a:r>
            <a:r>
              <a:rPr/>
              <a:t>; </a:t>
            </a:r>
            <a:r>
              <a:rPr>
                <a:latin typeface="Courier"/>
              </a:rPr>
              <a:t>//</a:t>
            </a:r>
            <a:r>
              <a:rPr/>
              <a:t> and </a:t>
            </a:r>
            <a:r>
              <a:rPr>
                <a:latin typeface="Courier"/>
              </a:rPr>
              <a:t>%</a:t>
            </a:r>
            <a:r>
              <a:rPr/>
              <a:t> return whole numbers for ints</a:t>
            </a:r>
          </a:p>
          <a:p>
            <a:pPr lvl="1"/>
            <a:r>
              <a:rPr>
                <a:latin typeface="Courier"/>
              </a:rPr>
              <a:t>**</a:t>
            </a:r>
            <a:r>
              <a:rPr/>
              <a:t> is power, and it groups </a:t>
            </a:r>
            <a:r>
              <a:rPr b="1"/>
              <a:t>right to left</a:t>
            </a:r>
          </a:p>
          <a:p>
            <a:pPr lvl="1"/>
            <a:r>
              <a:rPr/>
              <a:t>Mixing </a:t>
            </a:r>
            <a:r>
              <a:rPr>
                <a:latin typeface="Courier"/>
              </a:rPr>
              <a:t>int</a:t>
            </a:r>
            <a:r>
              <a:rPr/>
              <a:t> and </a:t>
            </a:r>
            <a:r>
              <a:rPr>
                <a:latin typeface="Courier"/>
              </a:rPr>
              <a:t>float</a:t>
            </a:r>
            <a:r>
              <a:rPr/>
              <a:t> widens the answer to </a:t>
            </a:r>
            <a:r>
              <a:rPr>
                <a:latin typeface="Courier"/>
              </a:rPr>
              <a:t>float</a:t>
            </a:r>
          </a:p>
          <a:p>
            <a:pPr lvl="1"/>
            <a:r>
              <a:rPr/>
              <a:t>Parentheses override precedence — and aid readability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Variables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>
                <a:latin typeface="Courier"/>
              </a:rPr>
              <a:t>None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Names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point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values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Variables</a:t>
            </a:r>
            <a:r>
              <a:rPr/>
              <a:t>:</a:t>
            </a:r>
            <a:r>
              <a:rPr/>
              <a:t> </a:t>
            </a:r>
            <a:r>
              <a:rPr/>
              <a:t>names</a:t>
            </a:r>
            <a:r>
              <a:rPr/>
              <a:t> </a:t>
            </a:r>
            <a:r>
              <a:rPr/>
              <a:t>bind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=</a:t>
            </a:r>
            <a:r>
              <a:rPr/>
              <a:t> does </a:t>
            </a:r>
            <a:r>
              <a:rPr b="1"/>
              <a:t>not</a:t>
            </a:r>
            <a:r>
              <a:rPr/>
              <a:t> "copy into a box" — it </a:t>
            </a:r>
            <a:r>
              <a:rPr b="1"/>
              <a:t>binds a name to an object</a:t>
            </a:r>
          </a:p>
          <a:p>
            <a:pPr lvl="1"/>
            <a:r>
              <a:rPr/>
              <a:t>A name can be </a:t>
            </a:r>
            <a:r>
              <a:rPr b="1"/>
              <a:t>rebound</a:t>
            </a:r>
            <a:r>
              <a:rPr/>
              <a:t> any time, even to a different type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x = 5
&gt;&gt;&gt; x = "now a string"
</a:t>
            </a:r>
          </a:p>
          <a:p>
            <a:pPr lvl="1"/>
            <a:r>
              <a:rPr b="1"/>
              <a:t>Augmented</a:t>
            </a:r>
            <a:r>
              <a:rPr/>
              <a:t>: </a:t>
            </a:r>
            <a:r>
              <a:rPr>
                <a:latin typeface="Courier"/>
              </a:rPr>
              <a:t>x += 3</a:t>
            </a:r>
            <a:r>
              <a:rPr/>
              <a:t> means </a:t>
            </a:r>
            <a:r>
              <a:rPr>
                <a:latin typeface="Courier"/>
              </a:rPr>
              <a:t>x = x + 3</a:t>
            </a:r>
            <a:r>
              <a:rPr/>
              <a:t> (also </a:t>
            </a:r>
            <a:r>
              <a:rPr>
                <a:latin typeface="Courier"/>
              </a:rPr>
              <a:t>-=</a:t>
            </a:r>
            <a:r>
              <a:rPr/>
              <a:t>, </a:t>
            </a:r>
            <a:r>
              <a:rPr>
                <a:latin typeface="Courier"/>
              </a:rPr>
              <a:t>*=</a:t>
            </a:r>
            <a:r>
              <a:rPr/>
              <a:t>, </a:t>
            </a:r>
            <a:r>
              <a:rPr>
                <a:latin typeface="Courier"/>
              </a:rPr>
              <a:t>//=</a:t>
            </a:r>
            <a:r>
              <a:rPr/>
              <a:t>, ...)</a:t>
            </a:r>
          </a:p>
          <a:p>
            <a:pPr lvl="1"/>
            <a:r>
              <a:rPr b="1"/>
              <a:t>Multiple</a:t>
            </a:r>
            <a:r>
              <a:rPr/>
              <a:t>: </a:t>
            </a:r>
            <a:r>
              <a:rPr>
                <a:latin typeface="Courier"/>
              </a:rPr>
              <a:t>a, b = 1, 2</a:t>
            </a:r>
            <a:r>
              <a:rPr/>
              <a:t> · swap with </a:t>
            </a:r>
            <a:r>
              <a:rPr>
                <a:latin typeface="Courier"/>
              </a:rPr>
              <a:t>a, b = b, a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None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absence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special object meaning </a:t>
            </a:r>
            <a:r>
              <a:rPr b="1"/>
              <a:t>"nothing here yet"</a:t>
            </a:r>
          </a:p>
          <a:p>
            <a:pPr lvl="1"/>
            <a:r>
              <a:rPr/>
              <a:t>Not </a:t>
            </a:r>
            <a:r>
              <a:rPr>
                <a:latin typeface="Courier"/>
              </a:rPr>
              <a:t>0</a:t>
            </a:r>
            <a:r>
              <a:rPr/>
              <a:t>, not </a:t>
            </a:r>
            <a:r>
              <a:rPr>
                <a:latin typeface="Courier"/>
              </a:rPr>
              <a:t>""</a:t>
            </a:r>
            <a:r>
              <a:rPr/>
              <a:t>, not </a:t>
            </a:r>
            <a:r>
              <a:rPr>
                <a:latin typeface="Courier"/>
              </a:rPr>
              <a:t>False</a:t>
            </a:r>
            <a:r>
              <a:rPr/>
              <a:t> — its own thing</a:t>
            </a:r>
          </a:p>
          <a:p>
            <a:pPr lvl="1"/>
            <a:r>
              <a:rPr/>
              <a:t>Used for "no result", "not set", default placeholders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result = None
&gt;&gt;&gt; result is None
True
</a:t>
            </a:r>
          </a:p>
          <a:p>
            <a:pPr lvl="0" marL="0" indent="0">
              <a:buNone/>
            </a:pPr>
            <a:r>
              <a:rPr/>
              <a:t>Test it with </a:t>
            </a:r>
            <a:r>
              <a:rPr b="1">
                <a:latin typeface="Courier"/>
              </a:rPr>
              <a:t>is None</a:t>
            </a:r>
            <a:r>
              <a:rPr/>
              <a:t>, not </a:t>
            </a:r>
            <a:r>
              <a:rPr>
                <a:latin typeface="Courier"/>
              </a:rPr>
              <a:t>== None</a:t>
            </a:r>
            <a:r>
              <a:rPr/>
              <a:t>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Input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always</a:t>
            </a:r>
            <a:r>
              <a:rPr/>
              <a:t> </a:t>
            </a:r>
            <a:r>
              <a:rPr/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input(...)</a:t>
            </a:r>
            <a:r>
              <a:rPr/>
              <a:t> </a:t>
            </a:r>
            <a:r>
              <a:rPr b="1"/>
              <a:t>always</a:t>
            </a:r>
            <a:r>
              <a:rPr/>
              <a:t> returns a </a:t>
            </a:r>
            <a:r>
              <a:rPr b="1">
                <a:latin typeface="Courier"/>
              </a:rPr>
              <a:t>str</a:t>
            </a:r>
            <a:r>
              <a:rPr/>
              <a:t> — even </a:t>
            </a:r>
            <a:r>
              <a:rPr>
                <a:latin typeface="Courier"/>
              </a:rPr>
              <a:t>"42"</a:t>
            </a:r>
          </a:p>
          <a:p>
            <a:pPr lvl="1"/>
            <a:r>
              <a:rPr/>
              <a:t>Convert before you compute: </a:t>
            </a:r>
            <a:r>
              <a:rPr b="1">
                <a:latin typeface="Courier"/>
              </a:rPr>
              <a:t>int(...)</a:t>
            </a:r>
            <a:r>
              <a:rPr/>
              <a:t> or </a:t>
            </a:r>
            <a:r>
              <a:rPr b="1">
                <a:latin typeface="Courier"/>
              </a:rPr>
              <a:t>float(...)</a:t>
            </a:r>
          </a:p>
          <a:p>
            <a:pPr lvl="0" indent="0">
              <a:buNone/>
            </a:pPr>
            <a:r>
              <a:rPr>
                <a:latin typeface="Courier"/>
              </a:rPr>
              <a:t>&gt;&gt;&gt; age = input("Age? ")     # you type 42
&gt;&gt;&gt; age + 1
TypeError: can only concatenate str ...
&gt;&gt;&gt; int(age) + 1
43
</a:t>
            </a:r>
          </a:p>
          <a:p>
            <a:pPr lvl="0" marL="0" indent="0">
              <a:buNone/>
            </a:pPr>
            <a:r>
              <a:rPr/>
              <a:t>Forgetting to cast is the #1 beginner bug here.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Now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famous</a:t>
            </a:r>
            <a:r>
              <a:rPr/>
              <a:t> </a:t>
            </a:r>
            <a:r>
              <a:rPr/>
              <a:t>floating-point</a:t>
            </a:r>
            <a:r>
              <a:rPr/>
              <a:t> </a:t>
            </a:r>
            <a:r>
              <a:rPr/>
              <a:t>surprise.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Demo</a:t>
            </a:r>
            <a:r>
              <a:rPr/>
              <a:t> </a:t>
            </a:r>
            <a:r>
              <a:rPr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Floating-point surprises &amp; fixes</a:t>
            </a:r>
          </a:p>
          <a:p>
            <a:pPr lvl="1"/>
            <a:r>
              <a:rPr>
                <a:latin typeface="Courier"/>
              </a:rPr>
              <a:t>0.1 + 0.2</a:t>
            </a:r>
            <a:r>
              <a:rPr/>
              <a:t> → </a:t>
            </a:r>
            <a:r>
              <a:rPr b="1"/>
              <a:t>not</a:t>
            </a:r>
            <a:r>
              <a:rPr/>
              <a:t> </a:t>
            </a:r>
            <a:r>
              <a:rPr>
                <a:latin typeface="Courier"/>
              </a:rPr>
              <a:t>0.3</a:t>
            </a:r>
          </a:p>
          <a:p>
            <a:pPr lvl="1"/>
            <a:r>
              <a:rPr/>
              <a:t>Why: decimals stored as </a:t>
            </a:r>
            <a:r>
              <a:rPr b="1"/>
              <a:t>binary fractions</a:t>
            </a:r>
          </a:p>
          <a:p>
            <a:pPr lvl="1"/>
            <a:r>
              <a:rPr/>
              <a:t>Fix 1: </a:t>
            </a:r>
            <a:r>
              <a:rPr>
                <a:latin typeface="Courier"/>
              </a:rPr>
              <a:t>round(0.1 + 0.2, 2)</a:t>
            </a:r>
          </a:p>
          <a:p>
            <a:pPr lvl="1"/>
            <a:r>
              <a:rPr/>
              <a:t>Fix 2: </a:t>
            </a:r>
            <a:r>
              <a:rPr>
                <a:latin typeface="Courier"/>
              </a:rPr>
              <a:t>math.isclose(0.1 + 0.2, 0.3)</a:t>
            </a:r>
          </a:p>
          <a:p>
            <a:pPr lvl="1"/>
            <a:r>
              <a:rPr/>
              <a:t>Then: read two numbers, cast, compute a </a:t>
            </a:r>
            <a:r>
              <a:rPr b="1"/>
              <a:t>tip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surprise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0.1 + 0.2
0.30000000000000004
&gt;&gt;&gt; 0.1 + 0.2 == 0.3
False
</a:t>
            </a:r>
          </a:p>
          <a:p>
            <a:pPr lvl="1"/>
            <a:r>
              <a:rPr/>
              <a:t>Floats are </a:t>
            </a:r>
            <a:r>
              <a:rPr b="1"/>
              <a:t>approximate</a:t>
            </a:r>
            <a:r>
              <a:rPr/>
              <a:t> — most decimals can't be stored exactly in binary</a:t>
            </a:r>
          </a:p>
          <a:p>
            <a:pPr lvl="1"/>
            <a:r>
              <a:rPr/>
              <a:t>This is true in nearly every language, not just Python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three</a:t>
            </a:r>
            <a:r>
              <a:rPr/>
              <a:t> </a:t>
            </a:r>
            <a:r>
              <a:rPr/>
              <a:t>defenses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round(0.1 + 0.2, 2)
0.3
&gt;&gt;&gt; import math
&gt;&gt;&gt; math.isclose(0.1 + 0.2, 0.3)
True
&gt;&gt;&gt; f"{0.1 + 0.2:.2f}"
'0.30'
</a:t>
            </a:r>
          </a:p>
          <a:p>
            <a:pPr lvl="1"/>
            <a:r>
              <a:rPr b="1">
                <a:latin typeface="Courier"/>
              </a:rPr>
              <a:t>round</a:t>
            </a:r>
            <a:r>
              <a:rPr/>
              <a:t> for a rounded value · </a:t>
            </a:r>
            <a:r>
              <a:rPr b="1">
                <a:latin typeface="Courier"/>
              </a:rPr>
              <a:t>isclose</a:t>
            </a:r>
            <a:r>
              <a:rPr/>
              <a:t> to compare · </a:t>
            </a:r>
            <a:r>
              <a:rPr b="1"/>
              <a:t>format</a:t>
            </a:r>
            <a:r>
              <a:rPr/>
              <a:t> to display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0.1 + 0.2</a:t>
            </a:r>
            <a:r>
              <a:rPr/>
              <a:t> is </a:t>
            </a:r>
            <a:r>
              <a:rPr>
                <a:latin typeface="Courier"/>
              </a:rPr>
              <a:t>0.30000000000000004</a:t>
            </a:r>
            <a:r>
              <a:rPr/>
              <a:t> — floats are approximate</a:t>
            </a:r>
          </a:p>
          <a:p>
            <a:pPr lvl="1"/>
            <a:r>
              <a:rPr b="1"/>
              <a:t>Never</a:t>
            </a:r>
            <a:r>
              <a:rPr/>
              <a:t> compare floats with </a:t>
            </a:r>
            <a:r>
              <a:rPr>
                <a:latin typeface="Courier"/>
              </a:rPr>
              <a:t>==</a:t>
            </a:r>
            <a:r>
              <a:rPr/>
              <a:t>; use </a:t>
            </a:r>
            <a:r>
              <a:rPr>
                <a:latin typeface="Courier"/>
              </a:rPr>
              <a:t>math.isclose</a:t>
            </a:r>
          </a:p>
          <a:p>
            <a:pPr lvl="1"/>
            <a:r>
              <a:rPr b="1"/>
              <a:t>Round</a:t>
            </a:r>
            <a:r>
              <a:rPr/>
              <a:t> for a clean value, </a:t>
            </a:r>
            <a:r>
              <a:rPr b="1"/>
              <a:t>format</a:t>
            </a:r>
            <a:r>
              <a:rPr/>
              <a:t> for clean display</a:t>
            </a:r>
          </a:p>
          <a:p>
            <a:pPr lvl="1"/>
            <a:r>
              <a:rPr>
                <a:latin typeface="Courier"/>
              </a:rPr>
              <a:t>input()</a:t>
            </a:r>
            <a:r>
              <a:rPr/>
              <a:t> gives text; cast with </a:t>
            </a:r>
            <a:r>
              <a:rPr>
                <a:latin typeface="Courier"/>
              </a:rPr>
              <a:t>int()</a:t>
            </a:r>
            <a:r>
              <a:rPr/>
              <a:t> / </a:t>
            </a:r>
            <a:r>
              <a:rPr>
                <a:latin typeface="Courier"/>
              </a:rPr>
              <a:t>float()</a:t>
            </a:r>
            <a:r>
              <a:rPr/>
              <a:t> before math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gotchas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mistakes</a:t>
            </a:r>
            <a:r>
              <a:rPr/>
              <a:t> </a:t>
            </a:r>
            <a:r>
              <a:rPr/>
              <a:t>that</a:t>
            </a:r>
            <a:r>
              <a:rPr/>
              <a:t> </a:t>
            </a:r>
            <a:r>
              <a:rPr/>
              <a:t>bite</a:t>
            </a:r>
            <a:r>
              <a:rPr/>
              <a:t> </a:t>
            </a:r>
            <a:r>
              <a:rPr/>
              <a:t>beginners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Common</a:t>
            </a:r>
            <a:r>
              <a:rPr/>
              <a:t> </a:t>
            </a:r>
            <a:r>
              <a:rPr/>
              <a:t>arithmetic</a:t>
            </a:r>
            <a:r>
              <a:rPr/>
              <a:t> </a:t>
            </a:r>
            <a:r>
              <a:rPr/>
              <a:t>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5 / 2</a:t>
            </a:r>
            <a:r>
              <a:rPr/>
              <a:t> is </a:t>
            </a:r>
            <a:r>
              <a:rPr>
                <a:latin typeface="Courier"/>
              </a:rPr>
              <a:t>2.5</a:t>
            </a:r>
            <a:r>
              <a:rPr/>
              <a:t>, </a:t>
            </a:r>
            <a:r>
              <a:rPr b="1"/>
              <a:t>not</a:t>
            </a:r>
            <a:r>
              <a:rPr/>
              <a:t> </a:t>
            </a:r>
            <a:r>
              <a:rPr>
                <a:latin typeface="Courier"/>
              </a:rPr>
              <a:t>2</a:t>
            </a:r>
            <a:r>
              <a:rPr/>
              <a:t> — </a:t>
            </a:r>
            <a:r>
              <a:rPr>
                <a:latin typeface="Courier"/>
              </a:rPr>
              <a:t>/</a:t>
            </a:r>
            <a:r>
              <a:rPr/>
              <a:t> always floats</a:t>
            </a:r>
          </a:p>
          <a:p>
            <a:pPr lvl="1"/>
            <a:r>
              <a:rPr>
                <a:latin typeface="Courier"/>
              </a:rPr>
              <a:t>//</a:t>
            </a:r>
            <a:r>
              <a:rPr/>
              <a:t> rounds </a:t>
            </a:r>
            <a:r>
              <a:rPr b="1"/>
              <a:t>toward negative infinity</a:t>
            </a:r>
            <a:r>
              <a:rPr/>
              <a:t>: </a:t>
            </a:r>
            <a:r>
              <a:rPr>
                <a:latin typeface="Courier"/>
              </a:rPr>
              <a:t>-7 // 2</a:t>
            </a:r>
            <a:r>
              <a:rPr/>
              <a:t> is </a:t>
            </a:r>
            <a:r>
              <a:rPr>
                <a:latin typeface="Courier"/>
              </a:rPr>
              <a:t>-4</a:t>
            </a:r>
            <a:r>
              <a:rPr/>
              <a:t>, not </a:t>
            </a:r>
            <a:r>
              <a:rPr>
                <a:latin typeface="Courier"/>
              </a:rPr>
              <a:t>-3</a:t>
            </a:r>
          </a:p>
          <a:p>
            <a:pPr lvl="1"/>
            <a:r>
              <a:rPr>
                <a:latin typeface="Courier"/>
              </a:rPr>
              <a:t>int("3.5")</a:t>
            </a:r>
            <a:r>
              <a:rPr/>
              <a:t> </a:t>
            </a:r>
            <a:r>
              <a:rPr b="1"/>
              <a:t>errors</a:t>
            </a:r>
            <a:r>
              <a:rPr/>
              <a:t> — cast text to </a:t>
            </a:r>
            <a:r>
              <a:rPr>
                <a:latin typeface="Courier"/>
              </a:rPr>
              <a:t>float</a:t>
            </a:r>
            <a:r>
              <a:rPr/>
              <a:t> first, then </a:t>
            </a:r>
            <a:r>
              <a:rPr>
                <a:latin typeface="Courier"/>
              </a:rPr>
              <a:t>int</a:t>
            </a:r>
          </a:p>
          <a:p>
            <a:pPr lvl="1"/>
            <a:r>
              <a:rPr/>
              <a:t>Dividing by zero raises </a:t>
            </a:r>
            <a:r>
              <a:rPr b="1">
                <a:latin typeface="Courier"/>
              </a:rPr>
              <a:t>ZeroDivisionError</a:t>
            </a:r>
            <a:r>
              <a:rPr/>
              <a:t> — guard against it</a:t>
            </a:r>
          </a:p>
          <a:p>
            <a:pPr lvl="1"/>
            <a:r>
              <a:rPr/>
              <a:t>Comparing floats with </a:t>
            </a:r>
            <a:r>
              <a:rPr>
                <a:latin typeface="Courier"/>
              </a:rPr>
              <a:t>==</a:t>
            </a:r>
            <a:r>
              <a:rPr/>
              <a:t>? Use </a:t>
            </a:r>
            <a:r>
              <a:rPr b="1">
                <a:latin typeface="Courier"/>
              </a:rPr>
              <a:t>math.isclose</a:t>
            </a:r>
            <a:r>
              <a:rPr/>
              <a:t> instead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first</a:t>
            </a:r>
            <a:r>
              <a:rPr/>
              <a:t> </a:t>
            </a:r>
            <a:r>
              <a:rPr/>
              <a:t>touch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>
                <a:latin typeface="Courier"/>
              </a:rPr>
              <a:t>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import math
&gt;&gt;&gt; math.sqrt(144)
12.0
&gt;&gt;&gt; math.floor(3.9), math.ceil(3.1)
(3, 4)
&gt;&gt;&gt; math.pi
3.141592653589793
</a:t>
            </a:r>
          </a:p>
          <a:p>
            <a:pPr lvl="0" marL="0" indent="0">
              <a:buNone/>
            </a:pPr>
            <a:r>
              <a:rPr/>
              <a:t>The standard library already has the maths you need — just </a:t>
            </a:r>
            <a:r>
              <a:rPr>
                <a:latin typeface="Courier"/>
              </a:rPr>
              <a:t>import math</a:t>
            </a:r>
            <a:r>
              <a:rPr/>
              <a:t>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</a:t>
            </a:r>
            <a:r>
              <a:rPr/>
              <a:t> </a:t>
            </a:r>
            <a:r>
              <a:rPr/>
              <a:t>week's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safe</a:t>
            </a:r>
            <a:r>
              <a:rPr/>
              <a:t> </a:t>
            </a:r>
            <a:r>
              <a:rPr/>
              <a:t>little</a:t>
            </a:r>
            <a:r>
              <a:rPr/>
              <a:t> </a:t>
            </a:r>
            <a:r>
              <a:rPr/>
              <a:t>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Write </a:t>
            </a:r>
            <a:r>
              <a:rPr b="1">
                <a:latin typeface="Courier"/>
              </a:rPr>
              <a:t>calculator.py</a:t>
            </a:r>
            <a:r>
              <a:rPr/>
              <a:t> beside your </a:t>
            </a:r>
            <a:r>
              <a:rPr>
                <a:latin typeface="Courier"/>
              </a:rPr>
              <a:t>taskapp</a:t>
            </a:r>
          </a:p>
          <a:p>
            <a:pPr lvl="1">
              <a:buAutoNum type="arabicPeriod"/>
            </a:pPr>
            <a:r>
              <a:rPr/>
              <a:t>Read </a:t>
            </a:r>
            <a:r>
              <a:rPr b="1"/>
              <a:t>two numbers</a:t>
            </a:r>
            <a:r>
              <a:rPr/>
              <a:t> with </a:t>
            </a:r>
            <a:r>
              <a:rPr>
                <a:latin typeface="Courier"/>
              </a:rPr>
              <a:t>input()</a:t>
            </a:r>
            <a:r>
              <a:rPr/>
              <a:t>, cast with </a:t>
            </a:r>
            <a:r>
              <a:rPr>
                <a:latin typeface="Courier"/>
              </a:rPr>
              <a:t>float()</a:t>
            </a:r>
          </a:p>
          <a:p>
            <a:pPr lvl="1">
              <a:buAutoNum type="arabicPeriod"/>
            </a:pPr>
            <a:r>
              <a:rPr/>
              <a:t>Print </a:t>
            </a:r>
            <a:r>
              <a:rPr b="1"/>
              <a:t>sum, difference, floor-division, remainder, percentage</a:t>
            </a:r>
          </a:p>
          <a:p>
            <a:pPr lvl="1">
              <a:buAutoNum type="arabicPeriod"/>
            </a:pPr>
            <a:r>
              <a:rPr b="1"/>
              <a:t>Round</a:t>
            </a:r>
            <a:r>
              <a:rPr/>
              <a:t> results sensibly — no float noise</a:t>
            </a:r>
          </a:p>
          <a:p>
            <a:pPr lvl="1">
              <a:buAutoNum type="arabicPeriod"/>
            </a:pPr>
            <a:r>
              <a:rPr b="1"/>
              <a:t>Submit:</a:t>
            </a:r>
            <a:r>
              <a:rPr/>
              <a:t> the script + its output for the given sample inputs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3</a:t>
            </a:r>
            <a:r>
              <a:rPr/>
              <a:t> for the operators, </a:t>
            </a:r>
            <a:r>
              <a:rPr b="1"/>
              <a:t>Demo 4</a:t>
            </a:r>
            <a:r>
              <a:rPr/>
              <a:t> for the rounding.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3 — Strings &amp; Text</a:t>
            </a:r>
          </a:p>
          <a:p>
            <a:pPr lvl="1"/>
            <a:r>
              <a:rPr/>
              <a:t>We turn numbers into clean, formatted output with </a:t>
            </a:r>
            <a:r>
              <a:rPr b="1"/>
              <a:t>f-strings</a:t>
            </a:r>
          </a:p>
          <a:p>
            <a:pPr lvl="1"/>
            <a:r>
              <a:rPr/>
              <a:t>You'll need today's casting and rounding to format real values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2026-06-25T10:48:15Z</dcterms:created>
  <dcterms:modified xsi:type="dcterms:W3CDTF">2026-06-25T10:48:15Z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