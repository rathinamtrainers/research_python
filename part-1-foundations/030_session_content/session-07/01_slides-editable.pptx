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9" Type="http://schemas.openxmlformats.org/officeDocument/2006/relationships/viewProps" Target="viewProps.xml" /><Relationship Id="rId4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1" Type="http://schemas.openxmlformats.org/officeDocument/2006/relationships/tableStyles" Target="tableStyles.xml" /><Relationship Id="rId5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Sets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Dictionaries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Python</a:t>
            </a:r>
            <a:r>
              <a:rPr/>
              <a:t> </a:t>
            </a:r>
            <a:r>
              <a:rPr/>
              <a:t>Mastery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Part</a:t>
            </a:r>
            <a:r>
              <a:rPr/>
              <a:t> </a:t>
            </a:r>
            <a:r>
              <a:rPr/>
              <a:t>1:</a:t>
            </a:r>
            <a:r>
              <a:rPr/>
              <a:t> </a:t>
            </a:r>
            <a:r>
              <a:rPr/>
              <a:t>Foundations</a:t>
            </a:r>
            <a:r>
              <a:rPr/>
              <a:t> </a:t>
            </a:r>
            <a:r>
              <a:rPr/>
              <a:t>·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Rathinam Trainers &amp; Consultants</a:t>
            </a:r>
            <a:r>
              <a:rPr/>
              <a:t> Live on Microsoft Teams · recorded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Recap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today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Where</a:t>
            </a:r>
            <a:r>
              <a:rPr/>
              <a:t> </a:t>
            </a:r>
            <a:r>
              <a:rPr/>
              <a:t>we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journey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Last</a:t>
            </a:r>
            <a:r>
              <a:rPr/>
              <a:t> </a:t>
            </a:r>
            <a:r>
              <a:rPr/>
              <a:t>week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Lists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Tuples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Lists</a:t>
            </a:r>
            <a:r>
              <a:rPr/>
              <a:t> mutate: </a:t>
            </a:r>
            <a:r>
              <a:rPr>
                <a:latin typeface="Courier"/>
              </a:rPr>
              <a:t>append</a:t>
            </a:r>
            <a:r>
              <a:rPr/>
              <a:t>, </a:t>
            </a:r>
            <a:r>
              <a:rPr>
                <a:latin typeface="Courier"/>
              </a:rPr>
              <a:t>insert</a:t>
            </a:r>
            <a:r>
              <a:rPr/>
              <a:t>, </a:t>
            </a:r>
            <a:r>
              <a:rPr>
                <a:latin typeface="Courier"/>
              </a:rPr>
              <a:t>remove</a:t>
            </a:r>
            <a:r>
              <a:rPr/>
              <a:t>, </a:t>
            </a:r>
            <a:r>
              <a:rPr>
                <a:latin typeface="Courier"/>
              </a:rPr>
              <a:t>pop</a:t>
            </a:r>
            <a:r>
              <a:rPr/>
              <a:t>, </a:t>
            </a:r>
            <a:r>
              <a:rPr>
                <a:latin typeface="Courier"/>
              </a:rPr>
              <a:t>sort</a:t>
            </a:r>
          </a:p>
          <a:p>
            <a:pPr lvl="1"/>
            <a:r>
              <a:rPr b="1"/>
              <a:t>Aliasing</a:t>
            </a:r>
            <a:r>
              <a:rPr/>
              <a:t>: </a:t>
            </a:r>
            <a:r>
              <a:rPr>
                <a:latin typeface="Courier"/>
              </a:rPr>
              <a:t>b = a</a:t>
            </a:r>
            <a:r>
              <a:rPr/>
              <a:t> shares one list — </a:t>
            </a:r>
            <a:r>
              <a:rPr>
                <a:latin typeface="Courier"/>
              </a:rPr>
              <a:t>b = a.copy()</a:t>
            </a:r>
            <a:r>
              <a:rPr/>
              <a:t> fixes it</a:t>
            </a:r>
          </a:p>
          <a:p>
            <a:pPr lvl="1"/>
            <a:r>
              <a:rPr b="1"/>
              <a:t>Tuples</a:t>
            </a:r>
            <a:r>
              <a:rPr/>
              <a:t> are immutable records: </a:t>
            </a:r>
            <a:r>
              <a:rPr>
                <a:latin typeface="Courier"/>
              </a:rPr>
              <a:t>(id, title, done)</a:t>
            </a:r>
          </a:p>
          <a:p>
            <a:pPr lvl="1"/>
            <a:r>
              <a:rPr b="1"/>
              <a:t>Unpacking</a:t>
            </a:r>
            <a:r>
              <a:rPr/>
              <a:t>: </a:t>
            </a:r>
            <a:r>
              <a:rPr>
                <a:latin typeface="Courier"/>
              </a:rPr>
              <a:t>tid, title, done = task</a:t>
            </a:r>
            <a:r>
              <a:rPr/>
              <a:t>, </a:t>
            </a:r>
            <a:r>
              <a:rPr>
                <a:latin typeface="Courier"/>
              </a:rPr>
              <a:t>a, b = b, a</a:t>
            </a:r>
          </a:p>
          <a:p>
            <a:pPr lvl="0" marL="1270000" indent="0">
              <a:buNone/>
            </a:pPr>
            <a:r>
              <a:rPr sz="2000"/>
              <a:t>You can hold tasks </a:t>
            </a:r>
            <a:r>
              <a:rPr sz="2000" b="1"/>
              <a:t>in order</a:t>
            </a:r>
            <a:r>
              <a:rPr sz="2000"/>
              <a:t>. Today we hold them </a:t>
            </a:r>
            <a:r>
              <a:rPr sz="2000" b="1"/>
              <a:t>by key</a:t>
            </a:r>
            <a:r>
              <a:rPr sz="2000"/>
              <a:t>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Today’s</a:t>
            </a:r>
            <a:r>
              <a:rPr/>
              <a:t> </a:t>
            </a:r>
            <a:r>
              <a:rPr/>
              <a:t>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By the end of this session you’ll understand how to:</a:t>
            </a:r>
          </a:p>
          <a:p>
            <a:pPr lvl="1"/>
            <a:r>
              <a:rPr/>
              <a:t>Use </a:t>
            </a:r>
            <a:r>
              <a:rPr b="1"/>
              <a:t>sets</a:t>
            </a:r>
            <a:r>
              <a:rPr/>
              <a:t> for uniqueness and </a:t>
            </a:r>
            <a:r>
              <a:rPr b="1"/>
              <a:t>set algebra</a:t>
            </a:r>
            <a:r>
              <a:rPr/>
              <a:t> (</a:t>
            </a:r>
            <a:r>
              <a:rPr>
                <a:latin typeface="Courier"/>
              </a:rPr>
              <a:t>|</a:t>
            </a:r>
            <a:r>
              <a:rPr/>
              <a:t>, </a:t>
            </a:r>
            <a:r>
              <a:rPr>
                <a:latin typeface="Courier"/>
              </a:rPr>
              <a:t>&amp;</a:t>
            </a:r>
            <a:r>
              <a:rPr/>
              <a:t>, </a:t>
            </a:r>
            <a:r>
              <a:rPr>
                <a:latin typeface="Courier"/>
              </a:rPr>
              <a:t>-</a:t>
            </a:r>
            <a:r>
              <a:rPr/>
              <a:t>, </a:t>
            </a:r>
            <a:r>
              <a:rPr>
                <a:latin typeface="Courier"/>
              </a:rPr>
              <a:t>^</a:t>
            </a:r>
            <a:r>
              <a:rPr/>
              <a:t>)</a:t>
            </a:r>
          </a:p>
          <a:p>
            <a:pPr lvl="1"/>
            <a:r>
              <a:rPr/>
              <a:t>Build, access, and iterate </a:t>
            </a:r>
            <a:r>
              <a:rPr b="1"/>
              <a:t>dictionaries</a:t>
            </a:r>
          </a:p>
          <a:p>
            <a:pPr lvl="1"/>
            <a:r>
              <a:rPr b="1"/>
              <a:t>Choose</a:t>
            </a:r>
            <a:r>
              <a:rPr/>
              <a:t> between a list, a set, and a dict</a:t>
            </a:r>
          </a:p>
          <a:p>
            <a:pPr lvl="1"/>
            <a:r>
              <a:rPr/>
              <a:t>Reach for </a:t>
            </a:r>
            <a:r>
              <a:rPr b="1">
                <a:latin typeface="Courier"/>
              </a:rPr>
              <a:t>Counter</a:t>
            </a:r>
            <a:r>
              <a:rPr/>
              <a:t>, </a:t>
            </a:r>
            <a:r>
              <a:rPr b="1">
                <a:latin typeface="Courier"/>
              </a:rPr>
              <a:t>defaultdict</a:t>
            </a:r>
            <a:r>
              <a:rPr/>
              <a:t>, and </a:t>
            </a:r>
            <a:r>
              <a:rPr b="1">
                <a:latin typeface="Courier"/>
              </a:rPr>
              <a:t>namedtuple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Sets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Uniqueness,</a:t>
            </a:r>
            <a:r>
              <a:rPr/>
              <a:t> </a:t>
            </a:r>
            <a:r>
              <a:rPr/>
              <a:t>membership,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algebra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set is an </a:t>
            </a:r>
            <a:r>
              <a:rPr b="1"/>
              <a:t>unordered</a:t>
            </a:r>
            <a:r>
              <a:rPr/>
              <a:t> collection of </a:t>
            </a:r>
            <a:r>
              <a:rPr b="1"/>
              <a:t>unique</a:t>
            </a:r>
            <a:r>
              <a:rPr/>
              <a:t>, </a:t>
            </a:r>
            <a:r>
              <a:rPr b="1"/>
              <a:t>hashable</a:t>
            </a:r>
            <a:r>
              <a:rPr/>
              <a:t> values.</a:t>
            </a:r>
          </a:p>
          <a:p>
            <a:pPr lvl="0" indent="0">
              <a:buNone/>
            </a:pPr>
            <a:r>
              <a:rPr>
                <a:latin typeface="Courier"/>
              </a:rPr>
              <a:t>tags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}</a:t>
            </a:r>
          </a:p>
          <a:p>
            <a:pPr lvl="1"/>
            <a:r>
              <a:rPr b="1"/>
              <a:t>No duplicates</a:t>
            </a:r>
            <a:r>
              <a:rPr/>
              <a:t> — ever. Adding a duplicate is a no-op</a:t>
            </a:r>
          </a:p>
          <a:p>
            <a:pPr lvl="1"/>
            <a:r>
              <a:rPr b="1"/>
              <a:t>No order</a:t>
            </a:r>
            <a:r>
              <a:rPr/>
              <a:t> — no </a:t>
            </a:r>
            <a:r>
              <a:rPr>
                <a:latin typeface="Courier"/>
              </a:rPr>
              <a:t>tags[0]</a:t>
            </a:r>
            <a:r>
              <a:rPr/>
              <a:t>, no slicing</a:t>
            </a:r>
          </a:p>
          <a:p>
            <a:pPr lvl="1"/>
            <a:r>
              <a:rPr b="1"/>
              <a:t>Fast membership</a:t>
            </a:r>
            <a:r>
              <a:rPr/>
              <a:t> — </a:t>
            </a:r>
            <a:r>
              <a:rPr>
                <a:latin typeface="Courier"/>
              </a:rPr>
              <a:t>"work" in tags</a:t>
            </a:r>
            <a:r>
              <a:rPr/>
              <a:t> is near-instant</a:t>
            </a:r>
          </a:p>
          <a:p>
            <a:pPr lvl="0" marL="0" indent="0">
              <a:buNone/>
            </a:pPr>
            <a:r>
              <a:rPr/>
              <a:t>Think: </a:t>
            </a:r>
            <a:r>
              <a:rPr i="1"/>
              <a:t>“which things do I have?”</a:t>
            </a:r>
            <a:r>
              <a:rPr/>
              <a:t> — not </a:t>
            </a:r>
            <a:r>
              <a:rPr i="1"/>
              <a:t>“what order are they in?”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Making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>
                <a:latin typeface="Courier"/>
              </a:rPr>
              <a:t>{}</a:t>
            </a:r>
            <a:r>
              <a:rPr/>
              <a:t> </a:t>
            </a:r>
            <a:r>
              <a:rPr/>
              <a:t>trap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}      </a:t>
            </a:r>
            <a:r>
              <a:rPr i="1">
                <a:solidFill>
                  <a:srgbClr val="60A0B0"/>
                </a:solidFill>
                <a:latin typeface="Courier"/>
              </a:rPr>
              <a:t># a set</a:t>
            </a:r>
            <a:br/>
            <a:r>
              <a:rPr>
                <a:latin typeface="Courier"/>
              </a:rPr>
              <a:t>empty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set()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ONLY way to make an empty set</a:t>
            </a:r>
            <a:br/>
            <a:r>
              <a:rPr>
                <a:latin typeface="Courier"/>
              </a:rPr>
              <a:t>oops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{}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this is an empty DICT!</a:t>
            </a:r>
          </a:p>
          <a:p>
            <a:pPr lvl="1"/>
            <a:r>
              <a:rPr>
                <a:latin typeface="Courier"/>
              </a:rPr>
              <a:t>{}</a:t>
            </a:r>
            <a:r>
              <a:rPr/>
              <a:t> was a dict </a:t>
            </a:r>
            <a:r>
              <a:rPr b="1"/>
              <a:t>before</a:t>
            </a:r>
            <a:r>
              <a:rPr/>
              <a:t> sets existed — dict kept the syntax</a:t>
            </a:r>
          </a:p>
          <a:p>
            <a:pPr lvl="1"/>
            <a:r>
              <a:rPr>
                <a:latin typeface="Courier"/>
              </a:rPr>
              <a:t>set("hello")</a:t>
            </a:r>
            <a:r>
              <a:rPr/>
              <a:t> → </a:t>
            </a:r>
            <a:r>
              <a:rPr>
                <a:latin typeface="Courier"/>
              </a:rPr>
              <a:t>{'h', 'e', 'l', 'o'}</a:t>
            </a:r>
            <a:r>
              <a:rPr/>
              <a:t> — it iterates the string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Adding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removing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tags.add(</a:t>
            </a:r>
            <a:r>
              <a:rPr>
                <a:solidFill>
                  <a:srgbClr val="4070A0"/>
                </a:solidFill>
                <a:latin typeface="Courier"/>
              </a:rPr>
              <a:t>"home"</a:t>
            </a:r>
            <a:r>
              <a:rPr>
                <a:latin typeface="Courier"/>
              </a:rPr>
              <a:t>)        </a:t>
            </a:r>
            <a:r>
              <a:rPr i="1">
                <a:solidFill>
                  <a:srgbClr val="60A0B0"/>
                </a:solidFill>
                <a:latin typeface="Courier"/>
              </a:rPr>
              <a:t># add one; adding twice changes nothing</a:t>
            </a:r>
            <a:br/>
            <a:r>
              <a:rPr>
                <a:latin typeface="Courier"/>
              </a:rPr>
              <a:t>tags.discard(</a:t>
            </a:r>
            <a:r>
              <a:rPr>
                <a:solidFill>
                  <a:srgbClr val="4070A0"/>
                </a:solidFill>
                <a:latin typeface="Courier"/>
              </a:rPr>
              <a:t>"zzz"</a:t>
            </a:r>
            <a:r>
              <a:rPr>
                <a:latin typeface="Courier"/>
              </a:rPr>
              <a:t>)     </a:t>
            </a:r>
            <a:r>
              <a:rPr i="1">
                <a:solidFill>
                  <a:srgbClr val="60A0B0"/>
                </a:solidFill>
                <a:latin typeface="Courier"/>
              </a:rPr>
              <a:t># remove if present — silent if absent</a:t>
            </a:r>
            <a:br/>
            <a:r>
              <a:rPr>
                <a:latin typeface="Courier"/>
              </a:rPr>
              <a:t>tags.remove(</a:t>
            </a:r>
            <a:r>
              <a:rPr>
                <a:solidFill>
                  <a:srgbClr val="4070A0"/>
                </a:solidFill>
                <a:latin typeface="Courier"/>
              </a:rPr>
              <a:t>"zzz"</a:t>
            </a:r>
            <a:r>
              <a:rPr>
                <a:latin typeface="Courier"/>
              </a:rPr>
              <a:t>)      </a:t>
            </a:r>
            <a:r>
              <a:rPr i="1">
                <a:solidFill>
                  <a:srgbClr val="60A0B0"/>
                </a:solidFill>
                <a:latin typeface="Courier"/>
              </a:rPr>
              <a:t># KeyError if absent</a:t>
            </a:r>
          </a:p>
          <a:p>
            <a:pPr lvl="1"/>
            <a:r>
              <a:rPr>
                <a:latin typeface="Courier"/>
              </a:rPr>
              <a:t>add</a:t>
            </a:r>
            <a:r>
              <a:rPr/>
              <a:t> is </a:t>
            </a:r>
            <a:r>
              <a:rPr b="1"/>
              <a:t>idempotent</a:t>
            </a:r>
            <a:r>
              <a:rPr/>
              <a:t> — safe to call again and again</a:t>
            </a:r>
          </a:p>
          <a:p>
            <a:pPr lvl="1"/>
            <a:r>
              <a:rPr>
                <a:latin typeface="Courier"/>
              </a:rPr>
              <a:t>discard</a:t>
            </a:r>
            <a:r>
              <a:rPr/>
              <a:t> = </a:t>
            </a:r>
            <a:r>
              <a:rPr i="1"/>
              <a:t>“make sure it’s gone”</a:t>
            </a:r>
          </a:p>
          <a:p>
            <a:pPr lvl="1"/>
            <a:r>
              <a:rPr>
                <a:latin typeface="Courier"/>
              </a:rPr>
              <a:t>remove</a:t>
            </a:r>
            <a:r>
              <a:rPr/>
              <a:t> = </a:t>
            </a:r>
            <a:r>
              <a:rPr i="1"/>
              <a:t>“it should be there — shout if not”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Set</a:t>
            </a:r>
            <a:r>
              <a:rPr/>
              <a:t> </a:t>
            </a:r>
            <a:r>
              <a:rPr/>
              <a:t>algebra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mine 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yours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"home"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}</a:t>
            </a:r>
          </a:p>
          <a:p>
            <a:pPr lvl="1"/>
            <a:r>
              <a:rPr>
                <a:latin typeface="Courier"/>
              </a:rPr>
              <a:t>mine | yours</a:t>
            </a:r>
            <a:r>
              <a:rPr/>
              <a:t> — </a:t>
            </a:r>
            <a:r>
              <a:rPr b="1"/>
              <a:t>union</a:t>
            </a:r>
            <a:r>
              <a:rPr/>
              <a:t> · in </a:t>
            </a:r>
            <a:r>
              <a:rPr b="1"/>
              <a:t>either</a:t>
            </a:r>
            <a:r>
              <a:rPr/>
              <a:t> set</a:t>
            </a:r>
          </a:p>
          <a:p>
            <a:pPr lvl="1"/>
            <a:r>
              <a:rPr>
                <a:latin typeface="Courier"/>
              </a:rPr>
              <a:t>mine &amp; yours</a:t>
            </a:r>
            <a:r>
              <a:rPr/>
              <a:t> — </a:t>
            </a:r>
            <a:r>
              <a:rPr b="1"/>
              <a:t>intersection</a:t>
            </a:r>
            <a:r>
              <a:rPr/>
              <a:t> · in </a:t>
            </a:r>
            <a:r>
              <a:rPr b="1"/>
              <a:t>both</a:t>
            </a:r>
          </a:p>
          <a:p>
            <a:pPr lvl="1"/>
            <a:r>
              <a:rPr>
                <a:latin typeface="Courier"/>
              </a:rPr>
              <a:t>mine - yours</a:t>
            </a:r>
            <a:r>
              <a:rPr/>
              <a:t> — </a:t>
            </a:r>
            <a:r>
              <a:rPr b="1"/>
              <a:t>difference</a:t>
            </a:r>
            <a:r>
              <a:rPr/>
              <a:t> · in mine, </a:t>
            </a:r>
            <a:r>
              <a:rPr b="1"/>
              <a:t>not</a:t>
            </a:r>
            <a:r>
              <a:rPr/>
              <a:t> yours</a:t>
            </a:r>
          </a:p>
          <a:p>
            <a:pPr lvl="1"/>
            <a:r>
              <a:rPr>
                <a:latin typeface="Courier"/>
              </a:rPr>
              <a:t>mine ^ yours</a:t>
            </a:r>
            <a:r>
              <a:rPr/>
              <a:t> — </a:t>
            </a:r>
            <a:r>
              <a:rPr b="1"/>
              <a:t>symmetric difference</a:t>
            </a:r>
            <a:r>
              <a:rPr/>
              <a:t> · in </a:t>
            </a:r>
            <a:r>
              <a:rPr b="1"/>
              <a:t>exactly one</a:t>
            </a:r>
          </a:p>
          <a:p>
            <a:pPr lvl="0" marL="0" indent="0">
              <a:buNone/>
            </a:pPr>
            <a:r>
              <a:rPr/>
              <a:t>Also spelled </a:t>
            </a:r>
            <a:r>
              <a:rPr>
                <a:latin typeface="Courier"/>
              </a:rPr>
              <a:t>.union()</a:t>
            </a:r>
            <a:r>
              <a:rPr/>
              <a:t>, </a:t>
            </a:r>
            <a:r>
              <a:rPr>
                <a:latin typeface="Courier"/>
              </a:rPr>
              <a:t>.intersection()</a:t>
            </a:r>
            <a:r>
              <a:rPr/>
              <a:t>, </a:t>
            </a:r>
            <a:r>
              <a:rPr>
                <a:latin typeface="Courier"/>
              </a:rPr>
              <a:t>.difference()</a:t>
            </a:r>
            <a:r>
              <a:rPr/>
              <a:t> — and the </a:t>
            </a:r>
            <a:r>
              <a:rPr b="1"/>
              <a:t>methods accept any iterable</a:t>
            </a:r>
            <a:r>
              <a:rPr/>
              <a:t>, while the </a:t>
            </a:r>
            <a:r>
              <a:rPr b="1"/>
              <a:t>operators demand a set</a:t>
            </a:r>
            <a:r>
              <a:rPr/>
              <a:t>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dedupe</a:t>
            </a:r>
            <a:r>
              <a:rPr/>
              <a:t> </a:t>
            </a:r>
            <a:r>
              <a:rPr/>
              <a:t>idiom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tags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]</a:t>
            </a:r>
            <a:br/>
            <a:r>
              <a:rPr>
                <a:latin typeface="Courier"/>
              </a:rPr>
              <a:t>unique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set(tags)          </a:t>
            </a:r>
            <a:r>
              <a:rPr i="1">
                <a:solidFill>
                  <a:srgbClr val="60A0B0"/>
                </a:solidFill>
                <a:latin typeface="Courier"/>
              </a:rPr>
              <a:t># {'work', 'urgent', 'email'}</a:t>
            </a:r>
            <a:br/>
            <a:r>
              <a:rPr>
                <a:latin typeface="Courier"/>
              </a:rPr>
              <a:t>len(tags), len(unique)      </a:t>
            </a:r>
            <a:r>
              <a:rPr i="1">
                <a:solidFill>
                  <a:srgbClr val="60A0B0"/>
                </a:solidFill>
                <a:latin typeface="Courier"/>
              </a:rPr>
              <a:t># (6, 3)</a:t>
            </a:r>
          </a:p>
          <a:p>
            <a:pPr lvl="0" marL="0" indent="0">
              <a:buNone/>
            </a:pPr>
            <a:r>
              <a:rPr/>
              <a:t>To get a </a:t>
            </a:r>
            <a:r>
              <a:rPr b="1"/>
              <a:t>stable, ordered</a:t>
            </a:r>
            <a:r>
              <a:rPr/>
              <a:t> result back:</a:t>
            </a:r>
          </a:p>
          <a:p>
            <a:pPr lvl="0" indent="0">
              <a:buNone/>
            </a:pPr>
            <a:r>
              <a:rPr>
                <a:latin typeface="Courier"/>
              </a:rPr>
              <a:t>sorted(set(tags))           </a:t>
            </a:r>
            <a:r>
              <a:rPr i="1">
                <a:solidFill>
                  <a:srgbClr val="60A0B0"/>
                </a:solidFill>
                <a:latin typeface="Courier"/>
              </a:rPr>
              <a:t># ['email', 'urgent', 'work']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set(...)</a:t>
            </a:r>
            <a:r>
              <a:rPr/>
              <a:t> throws order away — </a:t>
            </a:r>
            <a:r>
              <a:rPr>
                <a:latin typeface="Courier"/>
              </a:rPr>
              <a:t>sorted(...)</a:t>
            </a:r>
            <a:r>
              <a:rPr/>
              <a:t> gives you a fresh one.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sets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fast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Searching a </a:t>
            </a:r>
            <a:r>
              <a:rPr b="1"/>
              <a:t>list</a:t>
            </a:r>
            <a:r>
              <a:rPr/>
              <a:t> checks items one by one. A </a:t>
            </a:r>
            <a:r>
              <a:rPr b="1"/>
              <a:t>set</a:t>
            </a:r>
            <a:r>
              <a:rPr/>
              <a:t> jumps straight to the answer by hash.</a:t>
            </a:r>
          </a:p>
          <a:p>
            <a:pPr lvl="0" indent="0">
              <a:buNone/>
            </a:pPr>
            <a:r>
              <a:rPr>
                <a:latin typeface="Courier"/>
              </a:rPr>
              <a:t>target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big_list     </a:t>
            </a:r>
            <a:r>
              <a:rPr i="1">
                <a:solidFill>
                  <a:srgbClr val="60A0B0"/>
                </a:solidFill>
                <a:latin typeface="Courier"/>
              </a:rPr>
              <a:t>#  ~924 microseconds</a:t>
            </a:r>
            <a:br/>
            <a:r>
              <a:rPr>
                <a:latin typeface="Courier"/>
              </a:rPr>
              <a:t>target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big_set      </a:t>
            </a:r>
            <a:r>
              <a:rPr i="1">
                <a:solidFill>
                  <a:srgbClr val="60A0B0"/>
                </a:solidFill>
                <a:latin typeface="Courier"/>
              </a:rPr>
              <a:t>#  ~30 nanoseconds</a:t>
            </a:r>
          </a:p>
          <a:p>
            <a:pPr lvl="0" marL="0" indent="0">
              <a:buNone/>
            </a:pPr>
            <a:r>
              <a:rPr i="1"/>
              <a:t>(100,000 items, worst case, measured on Python 3.14.6)</a:t>
            </a:r>
          </a:p>
          <a:p>
            <a:pPr lvl="0" marL="0" indent="0">
              <a:buNone/>
            </a:pPr>
            <a:r>
              <a:rPr/>
              <a:t>Roughly </a:t>
            </a:r>
            <a:r>
              <a:rPr b="1"/>
              <a:t>30,000× faster</a:t>
            </a:r>
            <a:r>
              <a:rPr/>
              <a:t> — and the gap grows with size.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Sets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unordered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really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666666"/>
                </a:solidFill>
                <a:latin typeface="Courier"/>
              </a:rPr>
              <a:t>&gt;&gt;&gt;</a:t>
            </a:r>
            <a:r>
              <a:rPr>
                <a:latin typeface="Courier"/>
              </a:rPr>
              <a:t> {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"urgent"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"email"</a:t>
            </a:r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'work'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'urgent'</a:t>
            </a:r>
            <a:r>
              <a:rPr>
                <a:latin typeface="Courier"/>
              </a:rPr>
              <a:t>}     </a:t>
            </a:r>
            <a:r>
              <a:rPr i="1">
                <a:solidFill>
                  <a:srgbClr val="60A0B0"/>
                </a:solidFill>
                <a:latin typeface="Courier"/>
              </a:rPr>
              <a:t># this run</a:t>
            </a:r>
            <a:br/>
            <a:r>
              <a:rPr>
                <a:latin typeface="Courier"/>
              </a:rPr>
              <a:t>{</a:t>
            </a:r>
            <a:r>
              <a:rPr>
                <a:solidFill>
                  <a:srgbClr val="4070A0"/>
                </a:solidFill>
                <a:latin typeface="Courier"/>
              </a:rPr>
              <a:t>'email'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'urgent'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'work'</a:t>
            </a:r>
            <a:r>
              <a:rPr>
                <a:latin typeface="Courier"/>
              </a:rPr>
              <a:t>}     </a:t>
            </a:r>
            <a:r>
              <a:rPr i="1">
                <a:solidFill>
                  <a:srgbClr val="60A0B0"/>
                </a:solidFill>
                <a:latin typeface="Courier"/>
              </a:rPr>
              <a:t># next run — same set!</a:t>
            </a:r>
          </a:p>
          <a:p>
            <a:pPr lvl="1"/>
            <a:r>
              <a:rPr/>
              <a:t>Display order is </a:t>
            </a:r>
            <a:r>
              <a:rPr b="1"/>
              <a:t>arbitrary</a:t>
            </a:r>
            <a:r>
              <a:rPr/>
              <a:t> and can change </a:t>
            </a:r>
            <a:r>
              <a:rPr b="1"/>
              <a:t>between runs</a:t>
            </a:r>
          </a:p>
          <a:p>
            <a:pPr lvl="1"/>
            <a:r>
              <a:rPr/>
              <a:t>Never rely on it; never test against it</a:t>
            </a:r>
          </a:p>
          <a:p>
            <a:pPr lvl="1"/>
            <a:r>
              <a:rPr/>
              <a:t>Need a fixed order? </a:t>
            </a:r>
            <a:r>
              <a:rPr b="1">
                <a:latin typeface="Courier"/>
              </a:rPr>
              <a:t>sorted(...)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Demo</a:t>
            </a:r>
            <a:r>
              <a:rPr/>
              <a:t> </a:t>
            </a:r>
            <a:r>
              <a:rPr/>
              <a:t>13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set</a:t>
            </a:r>
            <a:r>
              <a:rPr/>
              <a:t> </a:t>
            </a:r>
            <a:r>
              <a:rPr/>
              <a:t>algebra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dedupe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Demo</a:t>
            </a:r>
            <a:r>
              <a:rPr/>
              <a:t> </a:t>
            </a:r>
            <a:r>
              <a:rPr/>
              <a:t>13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Build two tag sets and run </a:t>
            </a:r>
            <a:r>
              <a:rPr b="1">
                <a:latin typeface="Courier"/>
              </a:rPr>
              <a:t>|</a:t>
            </a:r>
            <a:r>
              <a:rPr b="1"/>
              <a:t>, </a:t>
            </a:r>
            <a:r>
              <a:rPr b="1">
                <a:latin typeface="Courier"/>
              </a:rPr>
              <a:t>&amp;</a:t>
            </a:r>
            <a:r>
              <a:rPr b="1"/>
              <a:t>, </a:t>
            </a:r>
            <a:r>
              <a:rPr b="1">
                <a:latin typeface="Courier"/>
              </a:rPr>
              <a:t>-</a:t>
            </a:r>
            <a:r>
              <a:rPr b="1"/>
              <a:t>, </a:t>
            </a:r>
            <a:r>
              <a:rPr b="1">
                <a:latin typeface="Courier"/>
              </a:rPr>
              <a:t>^</a:t>
            </a:r>
          </a:p>
          <a:p>
            <a:pPr lvl="1"/>
            <a:r>
              <a:rPr/>
              <a:t>Collapse a duplicate-ridden list with </a:t>
            </a:r>
            <a:r>
              <a:rPr b="1">
                <a:latin typeface="Courier"/>
              </a:rPr>
              <a:t>set(...)</a:t>
            </a:r>
          </a:p>
          <a:p>
            <a:pPr lvl="1"/>
            <a:r>
              <a:rPr/>
              <a:t>Get a stable view back with </a:t>
            </a:r>
            <a:r>
              <a:rPr b="1">
                <a:latin typeface="Courier"/>
              </a:rPr>
              <a:t>sorted(...)</a:t>
            </a:r>
          </a:p>
          <a:p>
            <a:pPr lvl="1"/>
            <a:r>
              <a:rPr b="1"/>
              <a:t>Time</a:t>
            </a:r>
            <a:r>
              <a:rPr/>
              <a:t> </a:t>
            </a:r>
            <a:r>
              <a:rPr>
                <a:latin typeface="Courier"/>
              </a:rPr>
              <a:t>in</a:t>
            </a:r>
            <a:r>
              <a:rPr/>
              <a:t> on a set vs a list — live</a:t>
            </a:r>
          </a:p>
          <a:p>
            <a:pPr lvl="1"/>
            <a:r>
              <a:rPr/>
              <a:t>See a set reject an </a:t>
            </a:r>
            <a:r>
              <a:rPr b="1"/>
              <a:t>unhashable</a:t>
            </a:r>
            <a:r>
              <a:rPr/>
              <a:t> list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Set</a:t>
            </a:r>
            <a:r>
              <a:rPr/>
              <a:t> </a:t>
            </a:r>
            <a:r>
              <a:rPr/>
              <a:t>algebra,</a:t>
            </a:r>
            <a:r>
              <a:rPr/>
              <a:t> </a:t>
            </a:r>
            <a:r>
              <a:rPr/>
              <a:t>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mine  = {"work", "urgent", "email"}
&gt;&gt;&gt; yours = {"urgent", "home", "email"}
&gt;&gt;&gt; sorted(mine | yours)
['email', 'home', 'urgent', 'work']
&gt;&gt;&gt; sorted(mine &amp; yours)
['email', 'urgent']
&gt;&gt;&gt; sorted(mine - yours)
['work']
&gt;&gt;&gt; sorted(mine ^ yours)
['home', 'work']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Four operators answered four </a:t>
            </a:r>
            <a:r>
              <a:rPr b="1"/>
              <a:t>questions</a:t>
            </a:r>
            <a:r>
              <a:rPr/>
              <a:t> about two collections</a:t>
            </a:r>
          </a:p>
          <a:p>
            <a:pPr lvl="1"/>
            <a:r>
              <a:rPr>
                <a:latin typeface="Courier"/>
              </a:rPr>
              <a:t>set(list)</a:t>
            </a:r>
            <a:r>
              <a:rPr/>
              <a:t> deduped in one call — order gone, uniqueness gained</a:t>
            </a:r>
          </a:p>
          <a:p>
            <a:pPr lvl="1"/>
            <a:r>
              <a:rPr/>
              <a:t>Membership on a set was </a:t>
            </a:r>
            <a:r>
              <a:rPr b="1"/>
              <a:t>thousands of times</a:t>
            </a:r>
            <a:r>
              <a:rPr/>
              <a:t> faster</a:t>
            </a:r>
          </a:p>
          <a:p>
            <a:pPr lvl="1"/>
            <a:r>
              <a:rPr/>
              <a:t>Sets hold </a:t>
            </a:r>
            <a:r>
              <a:rPr b="1"/>
              <a:t>hashable</a:t>
            </a:r>
            <a:r>
              <a:rPr/>
              <a:t> things only — no lists inside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Dictionaries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Keyed</a:t>
            </a:r>
            <a:r>
              <a:rPr/>
              <a:t> </a:t>
            </a:r>
            <a:r>
              <a:rPr/>
              <a:t>data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workhorse</a:t>
            </a:r>
            <a:r>
              <a:rPr/>
              <a:t> </a:t>
            </a:r>
            <a:r>
              <a:rPr/>
              <a:t>container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is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dict?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 dict maps a </a:t>
            </a:r>
            <a:r>
              <a:rPr b="1"/>
              <a:t>key</a:t>
            </a:r>
            <a:r>
              <a:rPr/>
              <a:t> to a </a:t>
            </a:r>
            <a:r>
              <a:rPr b="1"/>
              <a:t>value</a:t>
            </a:r>
            <a:r>
              <a:rPr/>
              <a:t>. Look-ups go by key, not position.</a:t>
            </a:r>
          </a:p>
          <a:p>
            <a:pPr lvl="0" indent="0">
              <a:buNone/>
            </a:pPr>
            <a:r>
              <a:rPr>
                <a:latin typeface="Courier"/>
              </a:rPr>
              <a:t>tasks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"Buy milk"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"shopping"</a:t>
            </a:r>
            <a:r>
              <a:rPr>
                <a:latin typeface="Courier"/>
              </a:rPr>
              <a:t>]},</a:t>
            </a:r>
            <a:br/>
            <a:r>
              <a:rPr>
                <a:latin typeface="Courier"/>
              </a:rPr>
              <a:t>   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: {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"Write report"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"done"</a:t>
            </a:r>
            <a:r>
              <a:rPr>
                <a:latin typeface="Courier"/>
              </a:rPr>
              <a:t>: </a:t>
            </a:r>
            <a:r>
              <a:rPr>
                <a:solidFill>
                  <a:srgbClr val="19177C"/>
                </a:solidFill>
                <a:latin typeface="Courier"/>
              </a:rPr>
              <a:t>False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: [</a:t>
            </a:r>
            <a:r>
              <a:rPr>
                <a:solidFill>
                  <a:srgbClr val="4070A0"/>
                </a:solidFill>
                <a:latin typeface="Courier"/>
              </a:rPr>
              <a:t>"work"</a:t>
            </a:r>
            <a:r>
              <a:rPr>
                <a:latin typeface="Courier"/>
              </a:rPr>
              <a:t>]},</a:t>
            </a:r>
            <a:br/>
            <a:r>
              <a:rPr>
                <a:latin typeface="Courier"/>
              </a:rPr>
              <a:t>}</a:t>
            </a:r>
            <a:br/>
            <a:r>
              <a:rPr>
                <a:latin typeface="Courier"/>
              </a:rPr>
              <a:t>tasks[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        </a:t>
            </a:r>
            <a:r>
              <a:rPr i="1">
                <a:solidFill>
                  <a:srgbClr val="60A0B0"/>
                </a:solidFill>
                <a:latin typeface="Courier"/>
              </a:rPr>
              <a:t># 'Buy milk' — direct, no searching</a:t>
            </a:r>
          </a:p>
          <a:p>
            <a:pPr lvl="1"/>
            <a:r>
              <a:rPr/>
              <a:t>Keys are </a:t>
            </a:r>
            <a:r>
              <a:rPr b="1"/>
              <a:t>unique</a:t>
            </a:r>
            <a:r>
              <a:rPr/>
              <a:t> and </a:t>
            </a:r>
            <a:r>
              <a:rPr b="1"/>
              <a:t>hashable</a:t>
            </a:r>
            <a:r>
              <a:rPr/>
              <a:t> (like set elements)</a:t>
            </a:r>
          </a:p>
          <a:p>
            <a:pPr lvl="1"/>
            <a:r>
              <a:rPr/>
              <a:t>Values are anything at all — including more dicts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Access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missing</a:t>
            </a:r>
            <a:r>
              <a:rPr/>
              <a:t> </a:t>
            </a:r>
            <a:r>
              <a:rPr/>
              <a:t>keys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tasks[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]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the task</a:t>
            </a:r>
            <a:br/>
            <a:r>
              <a:rPr>
                <a:latin typeface="Courier"/>
              </a:rPr>
              <a:t>tasks[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]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KeyError: 99   &lt;- crashes</a:t>
            </a:r>
            <a:br/>
            <a:r>
              <a:rPr>
                <a:latin typeface="Courier"/>
              </a:rPr>
              <a:t>tasks.get(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)            </a:t>
            </a:r>
            <a:r>
              <a:rPr i="1">
                <a:solidFill>
                  <a:srgbClr val="60A0B0"/>
                </a:solidFill>
                <a:latin typeface="Courier"/>
              </a:rPr>
              <a:t># None           &lt;- safe</a:t>
            </a:r>
            <a:br/>
            <a:r>
              <a:rPr>
                <a:latin typeface="Courier"/>
              </a:rPr>
              <a:t>tasks.get(</a:t>
            </a:r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"none"</a:t>
            </a:r>
            <a:r>
              <a:rPr>
                <a:latin typeface="Courier"/>
              </a:rPr>
              <a:t>)    </a:t>
            </a:r>
            <a:r>
              <a:rPr i="1">
                <a:solidFill>
                  <a:srgbClr val="60A0B0"/>
                </a:solidFill>
                <a:latin typeface="Courier"/>
              </a:rPr>
              <a:t># 'none'         &lt;- safe with a default</a:t>
            </a:r>
            <a:br/>
            <a:r>
              <a:rPr>
                <a:solidFill>
                  <a:srgbClr val="40A070"/>
                </a:solidFill>
                <a:latin typeface="Courier"/>
              </a:rPr>
              <a:t>99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False          &lt;- just asking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[...]</a:t>
            </a:r>
            <a:r>
              <a:rPr/>
              <a:t> says </a:t>
            </a:r>
            <a:r>
              <a:rPr i="1"/>
              <a:t>“it must be there”</a:t>
            </a:r>
            <a:r>
              <a:rPr/>
              <a:t>. </a:t>
            </a:r>
            <a:r>
              <a:rPr>
                <a:latin typeface="Courier"/>
              </a:rPr>
              <a:t>.get(...)</a:t>
            </a:r>
            <a:r>
              <a:rPr/>
              <a:t> says </a:t>
            </a:r>
            <a:r>
              <a:rPr i="1"/>
              <a:t>“it might be.”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</a:t>
            </a:r>
            <a:r>
              <a:rPr/>
              <a:t> </a:t>
            </a:r>
            <a:r>
              <a:rPr/>
              <a:t>everyday</a:t>
            </a:r>
            <a:r>
              <a:rPr/>
              <a:t> </a:t>
            </a:r>
            <a:r>
              <a:rPr/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tasks[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]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{...}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add or overwrite</a:t>
            </a:r>
            <a:br/>
            <a:r>
              <a:rPr>
                <a:latin typeface="Courier"/>
              </a:rPr>
              <a:t>tasks.setdefault(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latin typeface="Courier"/>
              </a:rPr>
              <a:t>, {})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get, or insert-then-get</a:t>
            </a:r>
            <a:br/>
            <a:r>
              <a:rPr>
                <a:latin typeface="Courier"/>
              </a:rPr>
              <a:t>tasks.update(other)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merge another dict in</a:t>
            </a:r>
            <a:br/>
            <a:r>
              <a:rPr>
                <a:latin typeface="Courier"/>
              </a:rPr>
              <a:t>tasks.pop(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)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remove &amp; return  (KeyError if absent)</a:t>
            </a:r>
            <a:br/>
            <a:r>
              <a:rPr>
                <a:latin typeface="Courier"/>
              </a:rPr>
              <a:t>tasks.pop(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remove &amp; return, safe</a:t>
            </a:r>
            <a:br/>
            <a:r>
              <a:rPr>
                <a:latin typeface="Courier"/>
              </a:rPr>
              <a:t>len(tasks)      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how many keys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Iterating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dict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tasks: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keys (the default!)</a:t>
            </a:r>
            <a:br/>
            <a:r>
              <a:rPr>
                <a:latin typeface="Courier"/>
              </a:rPr>
              <a:t>    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title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tasks.values():        </a:t>
            </a:r>
            <a:r>
              <a:rPr i="1">
                <a:solidFill>
                  <a:srgbClr val="60A0B0"/>
                </a:solidFill>
                <a:latin typeface="Courier"/>
              </a:rPr>
              <a:t># values</a:t>
            </a:r>
            <a:br/>
            <a:r>
              <a:rPr>
                <a:latin typeface="Courier"/>
              </a:rPr>
              <a:t>    ...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tid, task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tasks.items():     </a:t>
            </a:r>
            <a:r>
              <a:rPr i="1">
                <a:solidFill>
                  <a:srgbClr val="60A0B0"/>
                </a:solidFill>
                <a:latin typeface="Courier"/>
              </a:rPr>
              <a:t># both — the one you'll use most</a:t>
            </a:r>
            <a:br/>
            <a:r>
              <a:rPr>
                <a:latin typeface="Courier"/>
              </a:rPr>
              <a:t>    print(tid, task[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])</a:t>
            </a:r>
          </a:p>
          <a:p>
            <a:pPr lvl="0" marL="0" indent="0">
              <a:buNone/>
            </a:pPr>
            <a:r>
              <a:rPr/>
              <a:t>Looping a dict gives you </a:t>
            </a:r>
            <a:r>
              <a:rPr b="1"/>
              <a:t>keys</a:t>
            </a:r>
            <a:r>
              <a:rPr/>
              <a:t>, not items — a classic first surprise.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Views</a:t>
            </a:r>
            <a:r>
              <a:rPr/>
              <a:t> </a:t>
            </a:r>
            <a:r>
              <a:rPr/>
              <a:t>are</a:t>
            </a:r>
            <a:r>
              <a:rPr/>
              <a:t> </a:t>
            </a:r>
            <a:r>
              <a:rPr/>
              <a:t>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ks = tasks.keys()
&gt;&gt;&gt; ks
dict_keys([1, 2, 3])
&gt;&gt;&gt; tasks[4] = {...}
&gt;&gt;&gt; ks
dict_keys([1, 2, 3, 4])     # the SAME view, updated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.keys()</a:t>
            </a:r>
            <a:r>
              <a:rPr/>
              <a:t>, </a:t>
            </a:r>
            <a:r>
              <a:rPr>
                <a:latin typeface="Courier"/>
              </a:rPr>
              <a:t>.values()</a:t>
            </a:r>
            <a:r>
              <a:rPr/>
              <a:t>, </a:t>
            </a:r>
            <a:r>
              <a:rPr>
                <a:latin typeface="Courier"/>
              </a:rPr>
              <a:t>.items()</a:t>
            </a:r>
            <a:r>
              <a:rPr/>
              <a:t> are </a:t>
            </a:r>
            <a:r>
              <a:rPr b="1"/>
              <a:t>windows</a:t>
            </a:r>
            <a:r>
              <a:rPr/>
              <a:t>, not snapshots. Need a frozen copy? </a:t>
            </a:r>
            <a:r>
              <a:rPr>
                <a:latin typeface="Courier"/>
              </a:rPr>
              <a:t>list(tasks.keys())</a:t>
            </a:r>
            <a:r>
              <a:rPr/>
              <a:t>.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Keys</a:t>
            </a:r>
            <a:r>
              <a:rPr/>
              <a:t> </a:t>
            </a:r>
            <a:r>
              <a:rPr/>
              <a:t>must</a:t>
            </a:r>
            <a:r>
              <a:rPr/>
              <a:t> </a:t>
            </a:r>
            <a:r>
              <a:rPr/>
              <a:t>be</a:t>
            </a:r>
            <a:r>
              <a:rPr/>
              <a:t> </a:t>
            </a:r>
            <a:r>
              <a:rPr/>
              <a:t>hashable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{["a", "b"]: 1}
TypeError: cannot use 'list' as a dict key (unhashable type: 'list')
&gt;&gt;&gt; {("a", "b"): 1}         # a tuple is fine
{('a', 'b'): 1}</a:t>
            </a:r>
          </a:p>
          <a:p>
            <a:pPr lvl="1"/>
            <a:r>
              <a:rPr b="1"/>
              <a:t>Hashable</a:t>
            </a:r>
            <a:r>
              <a:rPr/>
              <a:t>: </a:t>
            </a:r>
            <a:r>
              <a:rPr>
                <a:latin typeface="Courier"/>
              </a:rPr>
              <a:t>str</a:t>
            </a:r>
            <a:r>
              <a:rPr/>
              <a:t>, </a:t>
            </a:r>
            <a:r>
              <a:rPr>
                <a:latin typeface="Courier"/>
              </a:rPr>
              <a:t>int</a:t>
            </a:r>
            <a:r>
              <a:rPr/>
              <a:t>, </a:t>
            </a:r>
            <a:r>
              <a:rPr>
                <a:latin typeface="Courier"/>
              </a:rPr>
              <a:t>float</a:t>
            </a:r>
            <a:r>
              <a:rPr/>
              <a:t>, </a:t>
            </a:r>
            <a:r>
              <a:rPr>
                <a:latin typeface="Courier"/>
              </a:rPr>
              <a:t>bool</a:t>
            </a:r>
            <a:r>
              <a:rPr/>
              <a:t>, </a:t>
            </a:r>
            <a:r>
              <a:rPr>
                <a:latin typeface="Courier"/>
              </a:rPr>
              <a:t>tuple</a:t>
            </a:r>
            <a:r>
              <a:rPr/>
              <a:t>, </a:t>
            </a:r>
            <a:r>
              <a:rPr>
                <a:latin typeface="Courier"/>
              </a:rPr>
              <a:t>frozenset</a:t>
            </a:r>
          </a:p>
          <a:p>
            <a:pPr lvl="1"/>
            <a:r>
              <a:rPr b="1"/>
              <a:t>Not</a:t>
            </a:r>
            <a:r>
              <a:rPr/>
              <a:t>: </a:t>
            </a:r>
            <a:r>
              <a:rPr>
                <a:latin typeface="Courier"/>
              </a:rPr>
              <a:t>list</a:t>
            </a:r>
            <a:r>
              <a:rPr/>
              <a:t>, </a:t>
            </a:r>
            <a:r>
              <a:rPr>
                <a:latin typeface="Courier"/>
              </a:rPr>
              <a:t>dict</a:t>
            </a:r>
            <a:r>
              <a:rPr/>
              <a:t>, </a:t>
            </a:r>
            <a:r>
              <a:rPr>
                <a:latin typeface="Courier"/>
              </a:rPr>
              <a:t>set</a:t>
            </a:r>
            <a:r>
              <a:rPr/>
              <a:t> — they can change</a:t>
            </a:r>
          </a:p>
          <a:p>
            <a:pPr lvl="1"/>
            <a:r>
              <a:rPr/>
              <a:t>Python </a:t>
            </a:r>
            <a:r>
              <a:rPr b="1"/>
              <a:t>3.14</a:t>
            </a:r>
            <a:r>
              <a:rPr/>
              <a:t> spells this error out for you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Dicts</a:t>
            </a:r>
            <a:r>
              <a:rPr/>
              <a:t> </a:t>
            </a:r>
            <a:r>
              <a:rPr/>
              <a:t>keep</a:t>
            </a:r>
            <a:r>
              <a:rPr/>
              <a:t> </a:t>
            </a:r>
            <a:r>
              <a:rPr/>
              <a:t>insertion</a:t>
            </a:r>
            <a:r>
              <a:rPr/>
              <a:t> </a:t>
            </a:r>
            <a:r>
              <a:rPr/>
              <a:t>order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d = {"b": 1, "a": 2}
&gt;&gt;&gt; list(d)
['b', 'a']              # insertion order, not sorted</a:t>
            </a:r>
          </a:p>
          <a:p>
            <a:pPr lvl="1"/>
            <a:r>
              <a:rPr/>
              <a:t>Guaranteed by the </a:t>
            </a:r>
            <a:r>
              <a:rPr b="1"/>
              <a:t>language</a:t>
            </a:r>
            <a:r>
              <a:rPr/>
              <a:t> since Python 3.7</a:t>
            </a:r>
          </a:p>
          <a:p>
            <a:pPr lvl="1"/>
            <a:r>
              <a:rPr/>
              <a:t>Sets do </a:t>
            </a:r>
            <a:r>
              <a:rPr b="1"/>
              <a:t>not</a:t>
            </a:r>
            <a:r>
              <a:rPr/>
              <a:t> make this promise — dicts do</a:t>
            </a:r>
          </a:p>
          <a:p>
            <a:pPr lvl="1"/>
            <a:r>
              <a:rPr/>
              <a:t>Want alphabetical? </a:t>
            </a:r>
            <a:r>
              <a:rPr>
                <a:latin typeface="Courier"/>
              </a:rPr>
              <a:t>sorted(d)</a:t>
            </a:r>
            <a:r>
              <a:rPr/>
              <a:t> or </a:t>
            </a:r>
            <a:r>
              <a:rPr>
                <a:latin typeface="Courier"/>
              </a:rPr>
              <a:t>sorted(d.items())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</a:t>
            </a:r>
            <a:r>
              <a:rPr/>
              <a:t> </a:t>
            </a:r>
            <a:r>
              <a:rPr/>
              <a:t>preview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comprehensions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{tid: t[</a:t>
            </a:r>
            <a:r>
              <a:rPr>
                <a:solidFill>
                  <a:srgbClr val="4070A0"/>
                </a:solidFill>
                <a:latin typeface="Courier"/>
              </a:rPr>
              <a:t>"title"</a:t>
            </a:r>
            <a:r>
              <a:rPr>
                <a:latin typeface="Courier"/>
              </a:rPr>
              <a:t>]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tid,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tasks.items()}   </a:t>
            </a:r>
            <a:r>
              <a:rPr i="1">
                <a:solidFill>
                  <a:srgbClr val="60A0B0"/>
                </a:solidFill>
                <a:latin typeface="Courier"/>
              </a:rPr>
              <a:t># dict comprehension</a:t>
            </a:r>
            <a:br/>
            <a:r>
              <a:rPr>
                <a:latin typeface="Courier"/>
              </a:rPr>
              <a:t>{tag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tasks.values()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tag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t[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]}   </a:t>
            </a:r>
            <a:r>
              <a:rPr i="1">
                <a:solidFill>
                  <a:srgbClr val="60A0B0"/>
                </a:solidFill>
                <a:latin typeface="Courier"/>
              </a:rPr>
              <a:t># set comprehension</a:t>
            </a:r>
          </a:p>
          <a:p>
            <a:pPr lvl="0" marL="0" indent="0">
              <a:buNone/>
            </a:pPr>
            <a:r>
              <a:rPr/>
              <a:t>Build a whole container in </a:t>
            </a:r>
            <a:r>
              <a:rPr b="1"/>
              <a:t>one expression</a:t>
            </a:r>
            <a:r>
              <a:rPr/>
              <a:t>.</a:t>
            </a:r>
          </a:p>
          <a:p>
            <a:pPr lvl="0" marL="1270000" indent="0">
              <a:buNone/>
            </a:pPr>
            <a:r>
              <a:rPr sz="2000"/>
              <a:t>Full treatment next week — today just recognize the shape.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Choosing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container</a:t>
            </a:r>
          </a:p>
        </p:txBody>
      </p:sp>
      <p:pic>
        <p:nvPicPr>
          <p:cNvPr descr="assets/diagrams/01_slides-0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77900" y="1600200"/>
            <a:ext cx="7188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card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Ask what you’ll </a:t>
            </a:r>
            <a:r>
              <a:rPr b="1"/>
              <a:t>do</a:t>
            </a:r>
            <a:r>
              <a:rPr/>
              <a:t> with it, not what it looks like.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Counter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how</a:t>
            </a:r>
            <a:r>
              <a:rPr/>
              <a:t> </a:t>
            </a:r>
            <a:r>
              <a:rPr/>
              <a:t>many</a:t>
            </a:r>
            <a:r>
              <a:rPr/>
              <a:t> </a:t>
            </a:r>
            <a:r>
              <a:rPr/>
              <a:t>of</a:t>
            </a:r>
            <a:r>
              <a:rPr/>
              <a:t> </a:t>
            </a:r>
            <a:r>
              <a:rPr/>
              <a:t>each?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from collections import Counter
&gt;&gt;&gt; counts = Counter(["urgent", "work", "urgent", "home"])
&gt;&gt;&gt; counts
Counter({'urgent': 2, 'work': 1, 'home': 1})
&gt;&gt;&gt; counts.most_common(2)
[('urgent', 2), ('work', 1)]
&gt;&gt;&gt; counts["never-seen"]
0</a:t>
            </a:r>
          </a:p>
          <a:p>
            <a:pPr lvl="0" marL="0" indent="0">
              <a:buNone/>
            </a:pPr>
            <a:r>
              <a:rPr/>
              <a:t>A dict of tallies — and a missing key is </a:t>
            </a:r>
            <a:r>
              <a:rPr b="1">
                <a:latin typeface="Courier"/>
              </a:rPr>
              <a:t>0</a:t>
            </a:r>
            <a:r>
              <a:rPr/>
              <a:t>, not a </a:t>
            </a:r>
            <a:r>
              <a:rPr>
                <a:latin typeface="Courier"/>
              </a:rPr>
              <a:t>KeyError</a:t>
            </a:r>
            <a:r>
              <a:rPr/>
              <a:t>. Reading a missing key does </a:t>
            </a:r>
            <a:r>
              <a:rPr b="1"/>
              <a:t>not</a:t>
            </a:r>
            <a:r>
              <a:rPr/>
              <a:t> add it (unlike </a:t>
            </a:r>
            <a:r>
              <a:rPr>
                <a:latin typeface="Courier"/>
              </a:rPr>
              <a:t>defaultdict</a:t>
            </a:r>
            <a:r>
              <a:rPr/>
              <a:t>).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defaultdict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group</a:t>
            </a:r>
            <a:r>
              <a:rPr/>
              <a:t> </a:t>
            </a:r>
            <a:r>
              <a:rPr/>
              <a:t>without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fuss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from collections import defaultdict</a:t>
            </a:r>
            <a:br/>
            <a:br/>
            <a:r>
              <a:rPr>
                <a:latin typeface="Courier"/>
              </a:rPr>
              <a:t>by_tag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defaultdict(list)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tid, task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tasks.items():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tag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task[</a:t>
            </a:r>
            <a:r>
              <a:rPr>
                <a:solidFill>
                  <a:srgbClr val="4070A0"/>
                </a:solidFill>
                <a:latin typeface="Courier"/>
              </a:rPr>
              <a:t>"tags"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by_tag[tag].append(tid)      </a:t>
            </a:r>
            <a:r>
              <a:rPr i="1">
                <a:solidFill>
                  <a:srgbClr val="60A0B0"/>
                </a:solidFill>
                <a:latin typeface="Courier"/>
              </a:rPr>
              <a:t># no "if tag not in..." needed</a:t>
            </a:r>
          </a:p>
          <a:p>
            <a:pPr lvl="0" marL="0" indent="0">
              <a:buNone/>
            </a:pPr>
            <a:r>
              <a:rPr/>
              <a:t>The </a:t>
            </a:r>
            <a:r>
              <a:rPr b="1"/>
              <a:t>factory</a:t>
            </a:r>
            <a:r>
              <a:rPr/>
              <a:t> (</a:t>
            </a:r>
            <a:r>
              <a:rPr>
                <a:latin typeface="Courier"/>
              </a:rPr>
              <a:t>list</a:t>
            </a:r>
            <a:r>
              <a:rPr/>
              <a:t>) is called to birth any missing key.</a:t>
            </a:r>
          </a:p>
          <a:p>
            <a:pPr lvl="0" marL="1270000" indent="0">
              <a:buNone/>
            </a:pPr>
            <a:r>
              <a:rPr sz="2000"/>
              <a:t>Careful: </a:t>
            </a:r>
            <a:r>
              <a:rPr sz="2000" i="1"/>
              <a:t>reading</a:t>
            </a:r>
            <a:r>
              <a:rPr sz="2000"/>
              <a:t> a missing key </a:t>
            </a:r>
            <a:r>
              <a:rPr sz="2000" b="1"/>
              <a:t>creates</a:t>
            </a:r>
            <a:r>
              <a:rPr sz="2000"/>
              <a:t> it.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>
                <a:latin typeface="Courier"/>
              </a:rPr>
              <a:t>namedtuple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a</a:t>
            </a:r>
            <a:r>
              <a:rPr/>
              <a:t> </a:t>
            </a:r>
            <a:r>
              <a:rPr/>
              <a:t>tuple</a:t>
            </a:r>
            <a:r>
              <a:rPr/>
              <a:t> </a:t>
            </a:r>
            <a:r>
              <a:rPr/>
              <a:t>with</a:t>
            </a:r>
            <a:r>
              <a:rPr/>
              <a:t> </a:t>
            </a:r>
            <a:r>
              <a:rPr/>
              <a:t>names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from collections import namedtuple
&gt;&gt;&gt; Task = namedtuple("Task", ["id", "title", "done"])
&gt;&gt;&gt; t = Task(1, "Buy milk", False)
&gt;&gt;&gt; t.title
'Buy milk'
&gt;&gt;&gt; t
Task(id=1, title='Buy milk', done=False)</a:t>
            </a:r>
          </a:p>
          <a:p>
            <a:pPr lvl="0" marL="0" indent="0">
              <a:buNone/>
            </a:pPr>
            <a:r>
              <a:rPr>
                <a:latin typeface="Courier"/>
              </a:rPr>
              <a:t>task[1]</a:t>
            </a:r>
            <a:r>
              <a:rPr/>
              <a:t> becomes </a:t>
            </a:r>
            <a:r>
              <a:rPr>
                <a:latin typeface="Courier"/>
              </a:rPr>
              <a:t>task.title</a:t>
            </a:r>
            <a:r>
              <a:rPr/>
              <a:t> — same tuple, readable.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Watch</a:t>
            </a:r>
            <a:r>
              <a:rPr/>
              <a:t> </a:t>
            </a:r>
            <a:r>
              <a:rPr/>
              <a:t>this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Demo</a:t>
            </a:r>
            <a:r>
              <a:rPr/>
              <a:t> </a:t>
            </a:r>
            <a:r>
              <a:rPr/>
              <a:t>14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dict-of-tasks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>
                <a:latin typeface="Courier"/>
              </a:rPr>
              <a:t>Counter</a:t>
            </a:r>
            <a:r>
              <a:rPr/>
              <a:t> </a:t>
            </a:r>
            <a:r>
              <a:rPr/>
              <a:t>/</a:t>
            </a:r>
            <a:r>
              <a:rPr/>
              <a:t> </a:t>
            </a:r>
            <a:r>
              <a:rPr>
                <a:latin typeface="Courier"/>
              </a:rPr>
              <a:t>defaultdict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Demo</a:t>
            </a:r>
            <a:r>
              <a:rPr/>
              <a:t> </a:t>
            </a:r>
            <a:r>
              <a:rPr/>
              <a:t>14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what</a:t>
            </a:r>
            <a:r>
              <a:rPr/>
              <a:t> </a:t>
            </a:r>
            <a:r>
              <a:rPr/>
              <a:t>we’ll</a:t>
            </a:r>
            <a:r>
              <a:rPr/>
              <a:t> </a:t>
            </a:r>
            <a:r>
              <a:rPr/>
              <a:t>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Build </a:t>
            </a:r>
            <a:r>
              <a:rPr b="1">
                <a:latin typeface="Courier"/>
              </a:rPr>
              <a:t>tasks</a:t>
            </a:r>
            <a:r>
              <a:rPr/>
              <a:t> keyed by id — the model we keep for good</a:t>
            </a:r>
          </a:p>
          <a:p>
            <a:pPr lvl="1"/>
            <a:r>
              <a:rPr>
                <a:latin typeface="Courier"/>
              </a:rPr>
              <a:t>get</a:t>
            </a:r>
            <a:r>
              <a:rPr/>
              <a:t>, </a:t>
            </a:r>
            <a:r>
              <a:rPr>
                <a:latin typeface="Courier"/>
              </a:rPr>
              <a:t>.items()</a:t>
            </a:r>
            <a:r>
              <a:rPr/>
              <a:t>, add and remove keys</a:t>
            </a:r>
          </a:p>
          <a:p>
            <a:pPr lvl="1"/>
            <a:r>
              <a:rPr/>
              <a:t>Rank tags with </a:t>
            </a:r>
            <a:r>
              <a:rPr b="1">
                <a:latin typeface="Courier"/>
              </a:rPr>
              <a:t>Counter</a:t>
            </a:r>
          </a:p>
          <a:p>
            <a:pPr lvl="1"/>
            <a:r>
              <a:rPr/>
              <a:t>Group task ids by tag with </a:t>
            </a:r>
            <a:r>
              <a:rPr b="1">
                <a:latin typeface="Courier"/>
              </a:rPr>
              <a:t>defaultdict(list)</a:t>
            </a:r>
          </a:p>
          <a:p>
            <a:pPr lvl="1"/>
            <a:r>
              <a:rPr/>
              <a:t>Sketch a task record as a </a:t>
            </a:r>
            <a:r>
              <a:rPr b="1">
                <a:latin typeface="Courier"/>
              </a:rPr>
              <a:t>namedtuple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Tallies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groups,</a:t>
            </a:r>
            <a:r>
              <a:rPr/>
              <a:t> </a:t>
            </a:r>
            <a:r>
              <a:rPr/>
              <a:t>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&gt;&gt;&gt; Counter(all_tags).most_common(2)
[('urgent', 3), ('home', 2)]
&gt;&gt;&gt; by_tag = defaultdict(list)
&gt;&gt;&gt; for tid, t in tasks.items():
...     for tag in t["tags"]:
...         by_tag[tag].append(tid)
&gt;&gt;&gt; dict(by_tag)
{'shopping': [1], 'urgent': [1, 2, 4], 'work': [2], 'home': [3, 4]}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just</a:t>
            </a:r>
            <a:r>
              <a:rPr/>
              <a:t> </a:t>
            </a:r>
            <a:r>
              <a:rPr/>
              <a:t>saw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 </a:t>
            </a:r>
            <a:r>
              <a:rPr b="1"/>
              <a:t>dict-of-dicts</a:t>
            </a:r>
            <a:r>
              <a:rPr/>
              <a:t> keyed by id — lookup with no searching</a:t>
            </a:r>
          </a:p>
          <a:p>
            <a:pPr lvl="1"/>
            <a:r>
              <a:rPr>
                <a:latin typeface="Courier"/>
              </a:rPr>
              <a:t>.items()</a:t>
            </a:r>
            <a:r>
              <a:rPr/>
              <a:t> gave us id </a:t>
            </a:r>
            <a:r>
              <a:rPr b="1"/>
              <a:t>and</a:t>
            </a:r>
            <a:r>
              <a:rPr/>
              <a:t> task in one loop</a:t>
            </a:r>
          </a:p>
          <a:p>
            <a:pPr lvl="1"/>
            <a:r>
              <a:rPr>
                <a:latin typeface="Courier"/>
              </a:rPr>
              <a:t>Counter</a:t>
            </a:r>
            <a:r>
              <a:rPr/>
              <a:t> ranked the tags in </a:t>
            </a:r>
            <a:r>
              <a:rPr b="1"/>
              <a:t>one line</a:t>
            </a:r>
          </a:p>
          <a:p>
            <a:pPr lvl="1"/>
            <a:r>
              <a:rPr>
                <a:latin typeface="Courier"/>
              </a:rPr>
              <a:t>defaultdict(list)</a:t>
            </a:r>
            <a:r>
              <a:rPr/>
              <a:t> grouped ids with </a:t>
            </a:r>
            <a:r>
              <a:rPr b="1"/>
              <a:t>no key-checking</a:t>
            </a:r>
          </a:p>
          <a:p>
            <a:pPr lvl="0" marL="1270000" indent="0">
              <a:buNone/>
            </a:pPr>
            <a:r>
              <a:rPr sz="2000"/>
              <a:t>This keyed model is the task app from here to the capstone.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Wrap-up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Q&amp;A</a:t>
            </a:r>
            <a:r>
              <a:rPr/>
              <a:t> </a:t>
            </a:r>
            <a:r>
              <a:rPr/>
              <a:t>+</a:t>
            </a:r>
            <a:r>
              <a:rPr/>
              <a:t> </a:t>
            </a:r>
            <a:r>
              <a:rPr/>
              <a:t>this</a:t>
            </a:r>
            <a:r>
              <a:rPr/>
              <a:t> </a:t>
            </a:r>
            <a:r>
              <a:rPr/>
              <a:t>week’s</a:t>
            </a:r>
            <a:r>
              <a:rPr/>
              <a:t> </a:t>
            </a:r>
            <a:r>
              <a:rPr/>
              <a:t>homework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Lab</a:t>
            </a:r>
            <a:r>
              <a:rPr/>
              <a:t> </a:t>
            </a:r>
            <a:r>
              <a:rPr/>
              <a:t>7</a:t>
            </a:r>
            <a:r>
              <a:rPr/>
              <a:t> </a:t>
            </a:r>
            <a:r>
              <a:rPr/>
              <a:t>—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keyed</a:t>
            </a:r>
            <a:r>
              <a:rPr/>
              <a:t> </a:t>
            </a:r>
            <a:r>
              <a:rPr/>
              <a:t>task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Re-model</a:t>
            </a:r>
            <a:r>
              <a:rPr/>
              <a:t> Lab 6’s tuples as a </a:t>
            </a:r>
            <a:r>
              <a:rPr b="1"/>
              <a:t>dict keyed by id</a:t>
            </a:r>
            <a:r>
              <a:rPr/>
              <a:t>, each value a dict with </a:t>
            </a:r>
            <a:r>
              <a:rPr>
                <a:latin typeface="Courier"/>
              </a:rPr>
              <a:t>title</a:t>
            </a:r>
            <a:r>
              <a:rPr/>
              <a:t> / </a:t>
            </a:r>
            <a:r>
              <a:rPr>
                <a:latin typeface="Courier"/>
              </a:rPr>
              <a:t>done</a:t>
            </a:r>
            <a:r>
              <a:rPr/>
              <a:t> / </a:t>
            </a:r>
            <a:r>
              <a:rPr>
                <a:latin typeface="Courier"/>
              </a:rPr>
              <a:t>tags</a:t>
            </a:r>
          </a:p>
          <a:p>
            <a:pPr lvl="1">
              <a:buAutoNum type="arabicPeriod"/>
            </a:pPr>
            <a:r>
              <a:rPr/>
              <a:t>Keep the same ops: </a:t>
            </a:r>
            <a:r>
              <a:rPr b="1"/>
              <a:t>add, remove, mark-done, list-by-title</a:t>
            </a:r>
          </a:p>
          <a:p>
            <a:pPr lvl="1">
              <a:buAutoNum type="arabicPeriod"/>
            </a:pPr>
            <a:r>
              <a:rPr b="1"/>
              <a:t>Dedupe</a:t>
            </a:r>
            <a:r>
              <a:rPr/>
              <a:t> tags with a </a:t>
            </a:r>
            <a:r>
              <a:rPr>
                <a:latin typeface="Courier"/>
              </a:rPr>
              <a:t>set</a:t>
            </a:r>
            <a:r>
              <a:rPr/>
              <a:t> (Demo 13)</a:t>
            </a:r>
          </a:p>
          <a:p>
            <a:pPr lvl="1">
              <a:buAutoNum type="arabicPeriod"/>
            </a:pPr>
            <a:r>
              <a:rPr b="1">
                <a:latin typeface="Courier"/>
              </a:rPr>
              <a:t>Counter</a:t>
            </a:r>
            <a:r>
              <a:rPr/>
              <a:t> tag frequency + </a:t>
            </a:r>
            <a:r>
              <a:rPr b="1">
                <a:latin typeface="Courier"/>
              </a:rPr>
              <a:t>defaultdict</a:t>
            </a:r>
            <a:r>
              <a:rPr/>
              <a:t> group-by-tag</a:t>
            </a:r>
          </a:p>
          <a:p>
            <a:pPr lvl="1">
              <a:buAutoNum type="arabicPeriod"/>
            </a:pPr>
            <a:r>
              <a:rPr b="1"/>
              <a:t>Submit:</a:t>
            </a:r>
            <a:r>
              <a:rPr/>
              <a:t> </a:t>
            </a:r>
            <a:r>
              <a:rPr>
                <a:latin typeface="Courier"/>
              </a:rPr>
              <a:t>tasks.py</a:t>
            </a:r>
            <a:r>
              <a:rPr/>
              <a:t> + sample output to the Teams channel</a:t>
            </a:r>
          </a:p>
          <a:p>
            <a:pPr lvl="0" marL="0" indent="0">
              <a:buNone/>
            </a:pPr>
            <a:r>
              <a:rPr/>
              <a:t>Mirror </a:t>
            </a:r>
            <a:r>
              <a:rPr b="1"/>
              <a:t>Demo 13</a:t>
            </a:r>
            <a:r>
              <a:rPr/>
              <a:t> for the sets, </a:t>
            </a:r>
            <a:r>
              <a:rPr b="1"/>
              <a:t>Demo 14</a:t>
            </a:r>
            <a:r>
              <a:rPr/>
              <a:t> for the dict model.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Next</a:t>
            </a:r>
            <a:r>
              <a:rPr/>
              <a:t> </a:t>
            </a:r>
            <a:r>
              <a:rPr/>
              <a:t>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b="1"/>
              <a:t>Week 8 — Comprehensions &amp; Looping Idioms</a:t>
            </a:r>
          </a:p>
          <a:p>
            <a:pPr lvl="1"/>
            <a:r>
              <a:rPr/>
              <a:t>Today’s loops collapse into </a:t>
            </a:r>
            <a:r>
              <a:rPr b="1"/>
              <a:t>one-line comprehensions</a:t>
            </a:r>
          </a:p>
          <a:p>
            <a:pPr lvl="1"/>
            <a:r>
              <a:rPr>
                <a:latin typeface="Courier"/>
              </a:rPr>
              <a:t>enumerate</a:t>
            </a:r>
            <a:r>
              <a:rPr/>
              <a:t>, </a:t>
            </a:r>
            <a:r>
              <a:rPr>
                <a:latin typeface="Courier"/>
              </a:rPr>
              <a:t>zip</a:t>
            </a:r>
            <a:r>
              <a:rPr/>
              <a:t>, and </a:t>
            </a:r>
            <a:r>
              <a:rPr>
                <a:latin typeface="Courier"/>
              </a:rPr>
              <a:t>sorted(key=...)</a:t>
            </a:r>
            <a:r>
              <a:rPr/>
              <a:t> make the task list shine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See</a:t>
            </a:r>
            <a:r>
              <a:rPr/>
              <a:t> </a:t>
            </a:r>
            <a:r>
              <a:rPr/>
              <a:t>you</a:t>
            </a:r>
            <a:r>
              <a:rPr/>
              <a:t> </a:t>
            </a:r>
            <a:r>
              <a:rPr/>
              <a:t>in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lab.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2026-07-16T12:08:01Z</dcterms:created>
  <dcterms:modified xsi:type="dcterms:W3CDTF">2026-07-16T12:08:01Z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rp">
    <vt:lpwstr>True</vt:lpwstr>
  </property>
  <property fmtid="{D5CDD505-2E9C-101B-9397-08002B2CF9AE}" pid="3" name="paginate">
    <vt:lpwstr>True</vt:lpwstr>
  </property>
  <property fmtid="{D5CDD505-2E9C-101B-9397-08002B2CF9AE}" pid="4" name="theme">
    <vt:lpwstr>tech</vt:lpwstr>
  </property>
</Properties>
</file>