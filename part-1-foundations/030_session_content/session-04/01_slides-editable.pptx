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marp</a:t>
            </a:r>
            <a:r>
              <a:rPr/>
              <a:t>:</a:t>
            </a:r>
            <a:r>
              <a:rPr/>
              <a:t> </a:t>
            </a:r>
            <a:r>
              <a:rPr/>
              <a:t>true</a:t>
            </a:r>
            <a:r>
              <a:rPr/>
              <a:t> </a:t>
            </a:r>
            <a:r>
              <a:rPr/>
              <a:t>theme</a:t>
            </a:r>
            <a:r>
              <a:rPr/>
              <a:t>:</a:t>
            </a:r>
            <a:r>
              <a:rPr/>
              <a:t> </a:t>
            </a:r>
            <a:r>
              <a:rPr/>
              <a:t>tech</a:t>
            </a:r>
            <a:r>
              <a:rPr/>
              <a:t> </a:t>
            </a:r>
            <a:r>
              <a:rPr/>
              <a:t>paginate</a:t>
            </a:r>
            <a:r>
              <a:rPr/>
              <a:t>:</a:t>
            </a:r>
            <a:r>
              <a:rPr/>
              <a:t> </a:t>
            </a:r>
            <a:r>
              <a:rPr/>
              <a:t>true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Control</a:t>
            </a:r>
            <a:r>
              <a:rPr/>
              <a:t> </a:t>
            </a:r>
            <a:r>
              <a:rPr/>
              <a:t>Flow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Pattern</a:t>
            </a:r>
            <a:r>
              <a:rPr/>
              <a:t> </a:t>
            </a:r>
            <a:r>
              <a:rPr/>
              <a:t>Matching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</a:t>
            </a:r>
            <a:r>
              <a:rPr/>
              <a:t>:</a:t>
            </a:r>
            <a:r>
              <a:rPr/>
              <a:t> </a:t>
            </a:r>
            <a:r>
              <a:rPr/>
              <a:t>Foundations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Rathinam Trainers &amp; Consultants</a:t>
            </a:r>
            <a:r>
              <a:rPr/>
              <a:t> Live on Microsoft Teams · recorded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Recap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today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journey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Last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Strings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Indexing &amp; slicing: </a:t>
            </a:r>
            <a:r>
              <a:rPr>
                <a:latin typeface="Courier"/>
              </a:rPr>
              <a:t>s[0]</a:t>
            </a:r>
            <a:r>
              <a:rPr/>
              <a:t>, </a:t>
            </a:r>
            <a:r>
              <a:rPr>
                <a:latin typeface="Courier"/>
              </a:rPr>
              <a:t>s[-1]</a:t>
            </a:r>
            <a:r>
              <a:rPr/>
              <a:t>, </a:t>
            </a:r>
            <a:r>
              <a:rPr>
                <a:latin typeface="Courier"/>
              </a:rPr>
              <a:t>s[1:4]</a:t>
            </a:r>
            <a:r>
              <a:rPr/>
              <a:t>, </a:t>
            </a:r>
            <a:r>
              <a:rPr>
                <a:latin typeface="Courier"/>
              </a:rPr>
              <a:t>s[::-1]</a:t>
            </a:r>
          </a:p>
          <a:p>
            <a:pPr lvl="1"/>
            <a:r>
              <a:rPr/>
              <a:t>Methods that </a:t>
            </a:r>
            <a:r>
              <a:rPr b="1"/>
              <a:t>return new strings</a:t>
            </a:r>
            <a:r>
              <a:rPr/>
              <a:t>: </a:t>
            </a:r>
            <a:r>
              <a:rPr>
                <a:latin typeface="Courier"/>
              </a:rPr>
              <a:t>.strip</a:t>
            </a:r>
            <a:r>
              <a:rPr/>
              <a:t>, </a:t>
            </a:r>
            <a:r>
              <a:rPr>
                <a:latin typeface="Courier"/>
              </a:rPr>
              <a:t>.split</a:t>
            </a:r>
            <a:r>
              <a:rPr/>
              <a:t>, </a:t>
            </a:r>
            <a:r>
              <a:rPr>
                <a:latin typeface="Courier"/>
              </a:rPr>
              <a:t>.join</a:t>
            </a:r>
            <a:r>
              <a:rPr/>
              <a:t>, </a:t>
            </a:r>
            <a:r>
              <a:rPr>
                <a:latin typeface="Courier"/>
              </a:rPr>
              <a:t>.lower</a:t>
            </a:r>
          </a:p>
          <a:p>
            <a:pPr lvl="1"/>
            <a:r>
              <a:rPr b="1"/>
              <a:t>f-strings</a:t>
            </a:r>
            <a:r>
              <a:rPr/>
              <a:t> + the format mini-language: </a:t>
            </a:r>
            <a:r>
              <a:rPr>
                <a:latin typeface="Courier"/>
              </a:rPr>
              <a:t>f"{price:&gt;8.2f}"</a:t>
            </a:r>
          </a:p>
          <a:p>
            <a:pPr lvl="1"/>
            <a:r>
              <a:rPr/>
              <a:t>A peek at </a:t>
            </a:r>
            <a:r>
              <a:rPr b="1"/>
              <a:t>t-strings</a:t>
            </a:r>
            <a:r>
              <a:rPr/>
              <a:t> (PEP 750) and </a:t>
            </a:r>
            <a:r>
              <a:rPr>
                <a:latin typeface="Courier"/>
              </a:rPr>
              <a:t>bytes</a:t>
            </a:r>
            <a:r>
              <a:rPr/>
              <a:t> vs </a:t>
            </a:r>
            <a:r>
              <a:rPr>
                <a:latin typeface="Courier"/>
              </a:rPr>
              <a:t>str</a:t>
            </a:r>
          </a:p>
          <a:p>
            <a:pPr lvl="0" marL="1270000" indent="0">
              <a:buNone/>
            </a:pPr>
            <a:r>
              <a:rPr sz="2000"/>
              <a:t>You can now build and shape text. Today we make code </a:t>
            </a:r>
            <a:r>
              <a:rPr sz="2000" b="1"/>
              <a:t>decide</a:t>
            </a:r>
            <a:r>
              <a:rPr sz="2000"/>
              <a:t> and </a:t>
            </a:r>
            <a:r>
              <a:rPr sz="2000" b="1"/>
              <a:t>repeat</a:t>
            </a:r>
            <a:r>
              <a:rPr sz="2000"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Today's</a:t>
            </a:r>
            <a:r>
              <a:rPr/>
              <a:t> </a:t>
            </a: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the end of this session you'll understand how to:</a:t>
            </a:r>
          </a:p>
          <a:p>
            <a:pPr lvl="1"/>
            <a:r>
              <a:rPr/>
              <a:t>Branch with </a:t>
            </a:r>
            <a:r>
              <a:rPr b="1">
                <a:latin typeface="Courier"/>
              </a:rPr>
              <a:t>if</a:t>
            </a:r>
            <a:r>
              <a:rPr b="1"/>
              <a:t> / </a:t>
            </a:r>
            <a:r>
              <a:rPr b="1">
                <a:latin typeface="Courier"/>
              </a:rPr>
              <a:t>elif</a:t>
            </a:r>
            <a:r>
              <a:rPr b="1"/>
              <a:t> / </a:t>
            </a:r>
            <a:r>
              <a:rPr b="1">
                <a:latin typeface="Courier"/>
              </a:rPr>
              <a:t>else</a:t>
            </a:r>
            <a:r>
              <a:rPr/>
              <a:t> and reason about </a:t>
            </a:r>
            <a:r>
              <a:rPr b="1"/>
              <a:t>truthiness</a:t>
            </a:r>
          </a:p>
          <a:p>
            <a:pPr lvl="1"/>
            <a:r>
              <a:rPr/>
              <a:t>Loop with </a:t>
            </a:r>
            <a:r>
              <a:rPr b="1">
                <a:latin typeface="Courier"/>
              </a:rPr>
              <a:t>for</a:t>
            </a:r>
            <a:r>
              <a:rPr/>
              <a:t>, </a:t>
            </a:r>
            <a:r>
              <a:rPr b="1">
                <a:latin typeface="Courier"/>
              </a:rPr>
              <a:t>while</a:t>
            </a:r>
            <a:r>
              <a:rPr/>
              <a:t>, and </a:t>
            </a:r>
            <a:r>
              <a:rPr b="1">
                <a:latin typeface="Courier"/>
              </a:rPr>
              <a:t>range()</a:t>
            </a:r>
          </a:p>
          <a:p>
            <a:pPr lvl="1"/>
            <a:r>
              <a:rPr/>
              <a:t>Steer loops: </a:t>
            </a:r>
            <a:r>
              <a:rPr b="1">
                <a:latin typeface="Courier"/>
              </a:rPr>
              <a:t>break</a:t>
            </a:r>
            <a:r>
              <a:rPr/>
              <a:t>, </a:t>
            </a:r>
            <a:r>
              <a:rPr b="1">
                <a:latin typeface="Courier"/>
              </a:rPr>
              <a:t>continue</a:t>
            </a:r>
            <a:r>
              <a:rPr/>
              <a:t>, </a:t>
            </a:r>
            <a:r>
              <a:rPr b="1">
                <a:latin typeface="Courier"/>
              </a:rPr>
              <a:t>pass</a:t>
            </a:r>
            <a:r>
              <a:rPr/>
              <a:t>, and loop-</a:t>
            </a:r>
            <a:r>
              <a:rPr b="1">
                <a:latin typeface="Courier"/>
              </a:rPr>
              <a:t>else</a:t>
            </a:r>
          </a:p>
          <a:p>
            <a:pPr lvl="1"/>
            <a:r>
              <a:rPr/>
              <a:t>Dispatch on shape and value with </a:t>
            </a:r>
            <a:r>
              <a:rPr b="1">
                <a:latin typeface="Courier"/>
              </a:rPr>
              <a:t>match</a:t>
            </a:r>
            <a:r>
              <a:rPr b="1"/>
              <a:t> / </a:t>
            </a:r>
            <a:r>
              <a:rPr b="1">
                <a:latin typeface="Courier"/>
              </a:rPr>
              <a:t>case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Making</a:t>
            </a:r>
            <a:r>
              <a:rPr/>
              <a:t> </a:t>
            </a:r>
            <a:r>
              <a:rPr/>
              <a:t>decisions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if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>
                <a:latin typeface="Courier"/>
              </a:rPr>
              <a:t>elif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>
                <a:latin typeface="Courier"/>
              </a:rPr>
              <a:t>else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truthiness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Branching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if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>
                <a:latin typeface="Courier"/>
              </a:rPr>
              <a:t>elif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>
                <a:latin typeface="Courier"/>
              </a:rPr>
              <a:t>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score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grade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score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grade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grade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</a:p>
          <a:p>
            <a:pPr lvl="1"/>
            <a:r>
              <a:rPr b="1"/>
              <a:t>Indentation</a:t>
            </a:r>
            <a:r>
              <a:rPr/>
              <a:t> defines the block — no braces, no </a:t>
            </a:r>
            <a:r>
              <a:rPr>
                <a:latin typeface="Courier"/>
              </a:rPr>
              <a:t>end</a:t>
            </a:r>
          </a:p>
          <a:p>
            <a:pPr lvl="1"/>
            <a:r>
              <a:rPr/>
              <a:t>Zero or more </a:t>
            </a:r>
            <a:r>
              <a:rPr>
                <a:latin typeface="Courier"/>
              </a:rPr>
              <a:t>elif</a:t>
            </a:r>
            <a:r>
              <a:rPr/>
              <a:t>; </a:t>
            </a:r>
            <a:r>
              <a:rPr>
                <a:latin typeface="Courier"/>
              </a:rPr>
              <a:t>else</a:t>
            </a:r>
            <a:r>
              <a:rPr/>
              <a:t> optional</a:t>
            </a:r>
          </a:p>
          <a:p>
            <a:pPr lvl="1"/>
            <a:r>
              <a:rPr/>
              <a:t>The </a:t>
            </a:r>
            <a:r>
              <a:rPr b="1"/>
              <a:t>first</a:t>
            </a:r>
            <a:r>
              <a:rPr/>
              <a:t> true branch wins; the rest are skipped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Truthiness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counts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"true"?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These are the </a:t>
            </a:r>
            <a:r>
              <a:rPr b="1"/>
              <a:t>falsy</a:t>
            </a:r>
            <a:r>
              <a:rPr/>
              <a:t> values; everything else is truthy:</a:t>
            </a:r>
          </a:p>
          <a:p>
            <a:pPr lvl="0" indent="0">
              <a:buNone/>
            </a:pP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    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     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      []      {}      ()      set()     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 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</a:p>
          <a:p>
            <a:pPr lvl="0" indent="0">
              <a:buNone/>
            </a:pP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name:           </a:t>
            </a:r>
            <a:r>
              <a:rPr i="1">
                <a:solidFill>
                  <a:srgbClr val="60A0B0"/>
                </a:solidFill>
                <a:latin typeface="Courier"/>
              </a:rPr>
              <a:t># empty string is falsy</a:t>
            </a:r>
            <a:br/>
            <a:r>
              <a:rPr>
                <a:latin typeface="Courier"/>
              </a:rPr>
              <a:t>    print(</a:t>
            </a:r>
            <a:r>
              <a:rPr>
                <a:solidFill>
                  <a:srgbClr val="4070A0"/>
                </a:solidFill>
                <a:latin typeface="Courier"/>
              </a:rPr>
              <a:t>"hi"</a:t>
            </a:r>
            <a:r>
              <a:rPr>
                <a:latin typeface="Courier"/>
              </a:rPr>
              <a:t>, name)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print(</a:t>
            </a:r>
            <a:r>
              <a:rPr>
                <a:solidFill>
                  <a:srgbClr val="4070A0"/>
                </a:solidFill>
                <a:latin typeface="Courier"/>
              </a:rPr>
              <a:t>"no name given"</a:t>
            </a:r>
            <a:r>
              <a:rPr>
                <a:latin typeface="Courier"/>
              </a:rPr>
              <a:t>)</a:t>
            </a:r>
          </a:p>
          <a:p>
            <a:pPr lvl="0" marL="0" indent="0">
              <a:buNone/>
            </a:pPr>
            <a:r>
              <a:rPr/>
              <a:t>A value used directly in </a:t>
            </a:r>
            <a:r>
              <a:rPr>
                <a:latin typeface="Courier"/>
              </a:rPr>
              <a:t>if</a:t>
            </a:r>
            <a:r>
              <a:rPr/>
              <a:t> is tested for truthiness.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Boolean</a:t>
            </a:r>
            <a:r>
              <a:rPr/>
              <a:t> </a:t>
            </a:r>
            <a:r>
              <a:rPr/>
              <a:t>logic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chained</a:t>
            </a:r>
            <a:r>
              <a:rPr/>
              <a:t> </a:t>
            </a:r>
            <a:r>
              <a:rPr/>
              <a:t>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age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has_ticket:</a:t>
            </a:r>
            <a:br/>
            <a:r>
              <a:rPr>
                <a:latin typeface="Courier"/>
              </a:rPr>
              <a:t>    enter()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done:</a:t>
            </a:r>
            <a:br/>
            <a:r>
              <a:rPr>
                <a:latin typeface="Courier"/>
              </a:rPr>
              <a:t>    keep_going()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hour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r>
              <a:rPr>
                <a:latin typeface="Courier"/>
              </a:rPr>
              <a:t>:        </a:t>
            </a:r>
            <a:r>
              <a:rPr i="1">
                <a:solidFill>
                  <a:srgbClr val="60A0B0"/>
                </a:solidFill>
                <a:latin typeface="Courier"/>
              </a:rPr>
              <a:t># chained — reads like maths</a:t>
            </a:r>
            <a:br/>
            <a:r>
              <a:rPr>
                <a:latin typeface="Courier"/>
              </a:rPr>
              <a:t>    valid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</a:p>
          <a:p>
            <a:pPr lvl="1"/>
            <a:r>
              <a:rPr>
                <a:latin typeface="Courier"/>
              </a:rPr>
              <a:t>and</a:t>
            </a:r>
            <a:r>
              <a:rPr/>
              <a:t>, </a:t>
            </a:r>
            <a:r>
              <a:rPr>
                <a:latin typeface="Courier"/>
              </a:rPr>
              <a:t>or</a:t>
            </a:r>
            <a:r>
              <a:rPr/>
              <a:t>, </a:t>
            </a:r>
            <a:r>
              <a:rPr>
                <a:latin typeface="Courier"/>
              </a:rPr>
              <a:t>not</a:t>
            </a:r>
            <a:r>
              <a:rPr/>
              <a:t> combine conditions</a:t>
            </a:r>
          </a:p>
          <a:p>
            <a:pPr lvl="1"/>
            <a:r>
              <a:rPr>
                <a:latin typeface="Courier"/>
              </a:rPr>
              <a:t>0 &lt;= hour &lt; 24</a:t>
            </a:r>
            <a:r>
              <a:rPr/>
              <a:t> means </a:t>
            </a:r>
            <a:r>
              <a:rPr>
                <a:latin typeface="Courier"/>
              </a:rPr>
              <a:t>0 &lt;= hour and hour &lt; 24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Repeating</a:t>
            </a:r>
            <a:r>
              <a:rPr/>
              <a:t> </a:t>
            </a:r>
            <a:r>
              <a:rPr/>
              <a:t>work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Loops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loop</a:t>
            </a:r>
            <a:r>
              <a:rPr/>
              <a:t> </a:t>
            </a:r>
            <a:r>
              <a:rPr/>
              <a:t>control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for</a:t>
            </a:r>
            <a:r>
              <a:rPr/>
              <a:t> </a:t>
            </a:r>
            <a:r>
              <a:rPr/>
              <a:t>loops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>
                <a:latin typeface="Courier"/>
              </a:rPr>
              <a:t>range()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"abc"</a:t>
            </a:r>
            <a:r>
              <a:rPr>
                <a:latin typeface="Courier"/>
              </a:rPr>
              <a:t>:          </a:t>
            </a:r>
            <a:r>
              <a:rPr i="1">
                <a:solidFill>
                  <a:srgbClr val="60A0B0"/>
                </a:solidFill>
                <a:latin typeface="Courier"/>
              </a:rPr>
              <a:t># over a sequence</a:t>
            </a:r>
            <a:br/>
            <a:r>
              <a:rPr>
                <a:latin typeface="Courier"/>
              </a:rPr>
              <a:t>    print(ch)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range(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):        </a:t>
            </a:r>
            <a:r>
              <a:rPr i="1">
                <a:solidFill>
                  <a:srgbClr val="60A0B0"/>
                </a:solidFill>
                <a:latin typeface="Courier"/>
              </a:rPr>
              <a:t># 0, 1, 2, 3, 4</a:t>
            </a:r>
            <a:br/>
            <a:r>
              <a:rPr>
                <a:latin typeface="Courier"/>
              </a:rPr>
              <a:t>    print(i)</a:t>
            </a:r>
            <a:br/>
            <a:br/>
            <a:r>
              <a:rPr>
                <a:latin typeface="Courier"/>
              </a:rPr>
              <a:t>range(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start, stop</a:t>
            </a:r>
            <a:br/>
            <a:r>
              <a:rPr>
                <a:latin typeface="Courier"/>
              </a:rPr>
              <a:t>range(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          </a:t>
            </a:r>
            <a:r>
              <a:rPr i="1">
                <a:solidFill>
                  <a:srgbClr val="60A0B0"/>
                </a:solidFill>
                <a:latin typeface="Courier"/>
              </a:rPr>
              <a:t># start, stop, step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range(stop)</a:t>
            </a:r>
            <a:r>
              <a:rPr/>
              <a:t> ends </a:t>
            </a:r>
            <a:r>
              <a:rPr b="1"/>
              <a:t>before</a:t>
            </a:r>
            <a:r>
              <a:rPr/>
              <a:t> </a:t>
            </a:r>
            <a:r>
              <a:rPr>
                <a:latin typeface="Courier"/>
              </a:rPr>
              <a:t>stop</a:t>
            </a:r>
            <a:r>
              <a:rPr/>
              <a:t>. A </a:t>
            </a:r>
            <a:r>
              <a:rPr>
                <a:latin typeface="Courier"/>
              </a:rPr>
              <a:t>for</a:t>
            </a:r>
            <a:r>
              <a:rPr/>
              <a:t> walks any sequence.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while</a:t>
            </a:r>
            <a:r>
              <a:rPr/>
              <a:t> </a:t>
            </a:r>
            <a:r>
              <a:rPr/>
              <a:t>loops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sentinels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count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print(count)</a:t>
            </a:r>
            <a:br/>
            <a:r>
              <a:rPr>
                <a:latin typeface="Courier"/>
              </a:rPr>
              <a:t>    count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           </a:t>
            </a:r>
            <a:r>
              <a:rPr i="1">
                <a:solidFill>
                  <a:srgbClr val="60A0B0"/>
                </a:solidFill>
                <a:latin typeface="Courier"/>
              </a:rPr>
              <a:t># must move toward the exit!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line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input(</a:t>
            </a:r>
            <a:r>
              <a:rPr>
                <a:solidFill>
                  <a:srgbClr val="4070A0"/>
                </a:solidFill>
                <a:latin typeface="Courier"/>
              </a:rPr>
              <a:t>"&gt; 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line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"quit"</a:t>
            </a:r>
            <a:r>
              <a:rPr>
                <a:latin typeface="Courier"/>
              </a:rPr>
              <a:t>:    </a:t>
            </a:r>
            <a:r>
              <a:rPr i="1">
                <a:solidFill>
                  <a:srgbClr val="60A0B0"/>
                </a:solidFill>
                <a:latin typeface="Courier"/>
              </a:rPr>
              <a:t># sentinel condition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</a:p>
          <a:p>
            <a:pPr lvl="1"/>
            <a:r>
              <a:rPr>
                <a:latin typeface="Courier"/>
              </a:rPr>
              <a:t>for</a:t>
            </a:r>
            <a:r>
              <a:rPr/>
              <a:t> = "do this N times / for each item"</a:t>
            </a:r>
          </a:p>
          <a:p>
            <a:pPr lvl="1"/>
            <a:r>
              <a:rPr>
                <a:latin typeface="Courier"/>
              </a:rPr>
              <a:t>while</a:t>
            </a:r>
            <a:r>
              <a:rPr/>
              <a:t> = "keep going </a:t>
            </a:r>
            <a:r>
              <a:rPr b="1"/>
              <a:t>until</a:t>
            </a:r>
            <a:r>
              <a:rPr/>
              <a:t> a condition flips"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break</a:t>
            </a:r>
            <a:r>
              <a:rPr/>
              <a:t>,</a:t>
            </a:r>
            <a:r>
              <a:rPr/>
              <a:t> </a:t>
            </a:r>
            <a:r>
              <a:rPr>
                <a:latin typeface="Courier"/>
              </a:rPr>
              <a:t>continue</a:t>
            </a:r>
            <a:r>
              <a:rPr/>
              <a:t>,</a:t>
            </a:r>
            <a:r>
              <a:rPr/>
              <a:t> </a:t>
            </a:r>
            <a:r>
              <a:rPr>
                <a:latin typeface="Courier"/>
              </a:rPr>
              <a:t>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nums: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r>
              <a:rPr>
                <a:latin typeface="Courier"/>
              </a:rPr>
              <a:t>          </a:t>
            </a:r>
            <a:r>
              <a:rPr i="1">
                <a:solidFill>
                  <a:srgbClr val="60A0B0"/>
                </a:solidFill>
                <a:latin typeface="Courier"/>
              </a:rPr>
              <a:t># skip this one, keep looping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stop: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r>
              <a:rPr>
                <a:latin typeface="Courier"/>
              </a:rPr>
              <a:t>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leave the loop now</a:t>
            </a:r>
            <a:br/>
            <a:r>
              <a:rPr>
                <a:latin typeface="Courier"/>
              </a:rPr>
              <a:t>    process(n)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ready: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pass</a:t>
            </a:r>
            <a:r>
              <a:rPr>
                <a:latin typeface="Courier"/>
              </a:rPr>
              <a:t>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placeholder: do nothing (yet)</a:t>
            </a:r>
          </a:p>
          <a:p>
            <a:pPr lvl="1"/>
            <a:r>
              <a:rPr b="1">
                <a:latin typeface="Courier"/>
              </a:rPr>
              <a:t>continue</a:t>
            </a:r>
            <a:r>
              <a:rPr/>
              <a:t> → next iteration · </a:t>
            </a:r>
            <a:r>
              <a:rPr b="1">
                <a:latin typeface="Courier"/>
              </a:rPr>
              <a:t>break</a:t>
            </a:r>
            <a:r>
              <a:rPr/>
              <a:t> → exit the loop</a:t>
            </a:r>
          </a:p>
          <a:p>
            <a:pPr lvl="1"/>
            <a:r>
              <a:rPr b="1">
                <a:latin typeface="Courier"/>
              </a:rPr>
              <a:t>pass</a:t>
            </a:r>
            <a:r>
              <a:rPr/>
              <a:t> → a no-op where syntax needs a statement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loop-</a:t>
            </a:r>
            <a:r>
              <a:rPr>
                <a:latin typeface="Courier"/>
              </a:rPr>
              <a:t>else</a:t>
            </a:r>
            <a:r>
              <a:rPr/>
              <a:t> </a:t>
            </a:r>
            <a:r>
              <a:rPr/>
              <a:t>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item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inventory: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item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target:</a:t>
            </a:r>
            <a:br/>
            <a:r>
              <a:rPr>
                <a:latin typeface="Courier"/>
              </a:rPr>
              <a:t>        print(</a:t>
            </a:r>
            <a:r>
              <a:rPr>
                <a:solidFill>
                  <a:srgbClr val="4070A0"/>
                </a:solidFill>
                <a:latin typeface="Courier"/>
              </a:rPr>
              <a:t>"found it"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print(</a:t>
            </a:r>
            <a:r>
              <a:rPr>
                <a:solidFill>
                  <a:srgbClr val="4070A0"/>
                </a:solidFill>
                <a:latin typeface="Courier"/>
              </a:rPr>
              <a:t>"not found"</a:t>
            </a:r>
            <a:r>
              <a:rPr>
                <a:latin typeface="Courier"/>
              </a:rPr>
              <a:t>)    </a:t>
            </a:r>
            <a:r>
              <a:rPr i="1">
                <a:solidFill>
                  <a:srgbClr val="60A0B0"/>
                </a:solidFill>
                <a:latin typeface="Courier"/>
              </a:rPr>
              <a:t># runs only if NO break happened</a:t>
            </a:r>
          </a:p>
          <a:p>
            <a:pPr lvl="1"/>
            <a:r>
              <a:rPr>
                <a:latin typeface="Courier"/>
              </a:rPr>
              <a:t>else</a:t>
            </a:r>
            <a:r>
              <a:rPr/>
              <a:t> on a loop fires </a:t>
            </a:r>
            <a:r>
              <a:rPr b="1"/>
              <a:t>when the loop finishes without </a:t>
            </a:r>
            <a:r>
              <a:rPr b="1">
                <a:latin typeface="Courier"/>
              </a:rPr>
              <a:t>break</a:t>
            </a:r>
          </a:p>
          <a:p>
            <a:pPr lvl="1"/>
            <a:r>
              <a:rPr/>
              <a:t>Perfect for "search and report not-found"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Let's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loop,</a:t>
            </a:r>
            <a:r>
              <a:rPr/>
              <a:t> </a:t>
            </a:r>
            <a:r>
              <a:rPr/>
              <a:t>live.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Loops &amp; </a:t>
            </a:r>
            <a:r>
              <a:rPr b="1">
                <a:latin typeface="Courier"/>
              </a:rPr>
              <a:t>range</a:t>
            </a:r>
            <a:r>
              <a:rPr b="1"/>
              <a:t> patterns</a:t>
            </a:r>
          </a:p>
          <a:p>
            <a:pPr lvl="1"/>
            <a:r>
              <a:rPr>
                <a:latin typeface="Courier"/>
              </a:rPr>
              <a:t>for i in range(5)</a:t>
            </a:r>
            <a:r>
              <a:rPr/>
              <a:t> and </a:t>
            </a:r>
            <a:r>
              <a:rPr>
                <a:latin typeface="Courier"/>
              </a:rPr>
              <a:t>for ch in "abc"</a:t>
            </a:r>
          </a:p>
          <a:p>
            <a:pPr lvl="1"/>
            <a:r>
              <a:rPr/>
              <a:t>A </a:t>
            </a:r>
            <a:r>
              <a:rPr>
                <a:latin typeface="Courier"/>
              </a:rPr>
              <a:t>while</a:t>
            </a:r>
            <a:r>
              <a:rPr/>
              <a:t> countdown with a </a:t>
            </a:r>
            <a:r>
              <a:rPr b="1"/>
              <a:t>sentinel</a:t>
            </a:r>
          </a:p>
          <a:p>
            <a:pPr lvl="1"/>
            <a:r>
              <a:rPr>
                <a:latin typeface="Courier"/>
              </a:rPr>
              <a:t>continue</a:t>
            </a:r>
            <a:r>
              <a:rPr/>
              <a:t> to skip evens, </a:t>
            </a:r>
            <a:r>
              <a:rPr>
                <a:latin typeface="Courier"/>
              </a:rPr>
              <a:t>break</a:t>
            </a:r>
            <a:r>
              <a:rPr/>
              <a:t> to stop early</a:t>
            </a:r>
          </a:p>
          <a:p>
            <a:pPr lvl="1"/>
            <a:r>
              <a:rPr/>
              <a:t>A </a:t>
            </a:r>
            <a:r>
              <a:rPr>
                <a:latin typeface="Courier"/>
              </a:rPr>
              <a:t>for ... else</a:t>
            </a:r>
            <a:r>
              <a:rPr/>
              <a:t> that prints "not found" only when no </a:t>
            </a:r>
            <a:r>
              <a:rPr>
                <a:latin typeface="Courier"/>
              </a:rPr>
              <a:t>break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Loops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for i in range(0, 6, 2):
...     print(i)
0
2
4
&gt;&gt;&gt; for n in range(10):
...     if n % 2 == 0:
...         continue
...     if n &gt; 5:
...         break
...     print(n)
1
3
5
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continue</a:t>
            </a:r>
            <a:r>
              <a:rPr/>
              <a:t> skips; </a:t>
            </a:r>
            <a:r>
              <a:rPr>
                <a:latin typeface="Courier"/>
              </a:rPr>
              <a:t>break</a:t>
            </a:r>
            <a:r>
              <a:rPr/>
              <a:t> exits.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Search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loop-</a:t>
            </a:r>
            <a:r>
              <a:rPr>
                <a:latin typeface="Courier"/>
              </a:rPr>
              <a:t>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target = 7
&gt;&gt;&gt; for n in [1, 3, 5]:
...     if n == target:
...         print("found")
...         break
... else:
...     print("not found")
not found
</a:t>
            </a:r>
          </a:p>
          <a:p>
            <a:pPr lvl="0" marL="0" indent="0">
              <a:buNone/>
            </a:pPr>
            <a:r>
              <a:rPr/>
              <a:t>No </a:t>
            </a:r>
            <a:r>
              <a:rPr>
                <a:latin typeface="Courier"/>
              </a:rPr>
              <a:t>break</a:t>
            </a:r>
            <a:r>
              <a:rPr/>
              <a:t> fired → the </a:t>
            </a:r>
            <a:r>
              <a:rPr>
                <a:latin typeface="Courier"/>
              </a:rPr>
              <a:t>else</a:t>
            </a:r>
            <a:r>
              <a:rPr/>
              <a:t> ran.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range()</a:t>
            </a:r>
            <a:r>
              <a:rPr/>
              <a:t> drives counted loops; </a:t>
            </a:r>
            <a:r>
              <a:rPr>
                <a:latin typeface="Courier"/>
              </a:rPr>
              <a:t>for</a:t>
            </a:r>
            <a:r>
              <a:rPr/>
              <a:t> walks any sequence</a:t>
            </a:r>
          </a:p>
          <a:p>
            <a:pPr lvl="1"/>
            <a:r>
              <a:rPr/>
              <a:t>A </a:t>
            </a:r>
            <a:r>
              <a:rPr>
                <a:latin typeface="Courier"/>
              </a:rPr>
              <a:t>while</a:t>
            </a:r>
            <a:r>
              <a:rPr/>
              <a:t> repeats </a:t>
            </a:r>
            <a:r>
              <a:rPr b="1"/>
              <a:t>until</a:t>
            </a:r>
            <a:r>
              <a:rPr/>
              <a:t> its condition flips</a:t>
            </a:r>
          </a:p>
          <a:p>
            <a:pPr lvl="1"/>
            <a:r>
              <a:rPr>
                <a:latin typeface="Courier"/>
              </a:rPr>
              <a:t>continue</a:t>
            </a:r>
            <a:r>
              <a:rPr/>
              <a:t> skips one turn; </a:t>
            </a:r>
            <a:r>
              <a:rPr>
                <a:latin typeface="Courier"/>
              </a:rPr>
              <a:t>break</a:t>
            </a:r>
            <a:r>
              <a:rPr/>
              <a:t> leaves entirely</a:t>
            </a:r>
          </a:p>
          <a:p>
            <a:pPr lvl="1"/>
            <a:r>
              <a:rPr/>
              <a:t>loop-</a:t>
            </a:r>
            <a:r>
              <a:rPr>
                <a:latin typeface="Courier"/>
              </a:rPr>
              <a:t>else</a:t>
            </a:r>
            <a:r>
              <a:rPr/>
              <a:t> runs </a:t>
            </a:r>
            <a:r>
              <a:rPr b="1"/>
              <a:t>only when no </a:t>
            </a:r>
            <a:r>
              <a:rPr b="1">
                <a:latin typeface="Courier"/>
              </a:rPr>
              <a:t>break</a:t>
            </a:r>
            <a:r>
              <a:rPr/>
              <a:t> happened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Pattern</a:t>
            </a:r>
            <a:r>
              <a:rPr/>
              <a:t> </a:t>
            </a:r>
            <a:r>
              <a:rPr/>
              <a:t>matching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match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>
                <a:latin typeface="Courier"/>
              </a:rPr>
              <a:t>case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branch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 b="1"/>
              <a:t>shape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>
                <a:latin typeface="Courier"/>
              </a:rPr>
              <a:t>match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>
                <a:latin typeface="Courier"/>
              </a:rPr>
              <a:t>case</a:t>
            </a:r>
            <a:r>
              <a:rPr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cleaner way to branch when the data has </a:t>
            </a:r>
            <a:r>
              <a:rPr b="1"/>
              <a:t>structure</a:t>
            </a:r>
          </a:p>
          <a:p>
            <a:pPr lvl="1"/>
            <a:r>
              <a:rPr/>
              <a:t>Not just "is it equal?" — also </a:t>
            </a:r>
            <a:r>
              <a:rPr b="1"/>
              <a:t>"what shape is it?"</a:t>
            </a:r>
          </a:p>
          <a:p>
            <a:pPr lvl="1"/>
            <a:r>
              <a:rPr/>
              <a:t>Stable since 3.10, unchanged in 3.14</a:t>
            </a:r>
          </a:p>
          <a:p>
            <a:pPr lvl="1"/>
            <a:r>
              <a:rPr/>
              <a:t>It can </a:t>
            </a:r>
            <a:r>
              <a:rPr b="1"/>
              <a:t>destructure</a:t>
            </a:r>
            <a:r>
              <a:rPr/>
              <a:t> and </a:t>
            </a:r>
            <a:r>
              <a:rPr b="1"/>
              <a:t>bind</a:t>
            </a:r>
            <a:r>
              <a:rPr/>
              <a:t> names in one step</a:t>
            </a:r>
          </a:p>
          <a:p>
            <a:pPr lvl="0" indent="0">
              <a:buNone/>
            </a:pPr>
            <a:r>
              <a:rPr>
                <a:latin typeface="Courier"/>
              </a:rPr>
              <a:t>match status:</a:t>
            </a:r>
            <a:br/>
            <a:r>
              <a:rPr>
                <a:latin typeface="Courier"/>
              </a:rPr>
              <a:t>    case 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: ...</a:t>
            </a:r>
            <a:br/>
            <a:r>
              <a:rPr>
                <a:latin typeface="Courier"/>
              </a:rPr>
              <a:t>    case </a:t>
            </a:r>
            <a:r>
              <a:rPr>
                <a:solidFill>
                  <a:srgbClr val="40A070"/>
                </a:solidFill>
                <a:latin typeface="Courier"/>
              </a:rPr>
              <a:t>404</a:t>
            </a:r>
            <a:r>
              <a:rPr>
                <a:latin typeface="Courier"/>
              </a:rPr>
              <a:t>: ...</a:t>
            </a:r>
            <a:br/>
            <a:r>
              <a:rPr>
                <a:latin typeface="Courier"/>
              </a:rPr>
              <a:t>    case _:   ...        </a:t>
            </a:r>
            <a:r>
              <a:rPr i="1">
                <a:solidFill>
                  <a:srgbClr val="60A0B0"/>
                </a:solidFill>
                <a:latin typeface="Courier"/>
              </a:rPr>
              <a:t># the wildcard: matches anything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Literal,</a:t>
            </a:r>
            <a:r>
              <a:rPr/>
              <a:t> </a:t>
            </a:r>
            <a:r>
              <a:rPr/>
              <a:t>capture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wildcard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match command:</a:t>
            </a:r>
            <a:br/>
            <a:r>
              <a:rPr>
                <a:latin typeface="Courier"/>
              </a:rPr>
              <a:t>    case </a:t>
            </a:r>
            <a:r>
              <a:rPr>
                <a:solidFill>
                  <a:srgbClr val="4070A0"/>
                </a:solidFill>
                <a:latin typeface="Courier"/>
              </a:rPr>
              <a:t>"quit"</a:t>
            </a:r>
            <a:r>
              <a:rPr>
                <a:latin typeface="Courier"/>
              </a:rPr>
              <a:t>: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literal — exact value</a:t>
            </a:r>
            <a:br/>
            <a:r>
              <a:rPr>
                <a:latin typeface="Courier"/>
              </a:rPr>
              <a:t>        stop()</a:t>
            </a:r>
            <a:br/>
            <a:r>
              <a:rPr>
                <a:latin typeface="Courier"/>
              </a:rPr>
              <a:t>    case other: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capture — binds the value</a:t>
            </a:r>
            <a:br/>
            <a:r>
              <a:rPr>
                <a:latin typeface="Courier"/>
              </a:rPr>
              <a:t>        print(</a:t>
            </a:r>
            <a:r>
              <a:rPr>
                <a:solidFill>
                  <a:srgbClr val="4070A0"/>
                </a:solidFill>
                <a:latin typeface="Courier"/>
              </a:rPr>
              <a:t>"unknown:"</a:t>
            </a:r>
            <a:r>
              <a:rPr>
                <a:latin typeface="Courier"/>
              </a:rPr>
              <a:t>, other)</a:t>
            </a:r>
            <a:br/>
            <a:r>
              <a:rPr>
                <a:latin typeface="Courier"/>
              </a:rPr>
              <a:t>    case _: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wildcard — matches, binds nothing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pass</a:t>
            </a:r>
          </a:p>
          <a:p>
            <a:pPr lvl="1"/>
            <a:r>
              <a:rPr/>
              <a:t>A bare name is a </a:t>
            </a:r>
            <a:r>
              <a:rPr b="1"/>
              <a:t>capture</a:t>
            </a:r>
            <a:r>
              <a:rPr/>
              <a:t>, not a comparison</a:t>
            </a:r>
          </a:p>
          <a:p>
            <a:pPr lvl="1"/>
            <a:r>
              <a:rPr>
                <a:latin typeface="Courier"/>
              </a:rPr>
              <a:t>_</a:t>
            </a:r>
            <a:r>
              <a:rPr/>
              <a:t> matches anything and discards it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Sequence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or-patterns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match command.split():</a:t>
            </a:r>
            <a:br/>
            <a:r>
              <a:rPr>
                <a:latin typeface="Courier"/>
              </a:rPr>
              <a:t>    case [</a:t>
            </a:r>
            <a:r>
              <a:rPr>
                <a:solidFill>
                  <a:srgbClr val="4070A0"/>
                </a:solidFill>
                <a:latin typeface="Courier"/>
              </a:rPr>
              <a:t>"add"</a:t>
            </a:r>
            <a:r>
              <a:rPr>
                <a:latin typeface="Courier"/>
              </a:rPr>
              <a:t>, task]:           </a:t>
            </a:r>
            <a:r>
              <a:rPr i="1">
                <a:solidFill>
                  <a:srgbClr val="60A0B0"/>
                </a:solidFill>
                <a:latin typeface="Courier"/>
              </a:rPr>
              <a:t># exactly 2 items</a:t>
            </a:r>
            <a:br/>
            <a:r>
              <a:rPr>
                <a:latin typeface="Courier"/>
              </a:rPr>
              <a:t>        add(task)</a:t>
            </a:r>
            <a:br/>
            <a:r>
              <a:rPr>
                <a:latin typeface="Courier"/>
              </a:rPr>
              <a:t>    case [</a:t>
            </a:r>
            <a:r>
              <a:rPr>
                <a:solidFill>
                  <a:srgbClr val="4070A0"/>
                </a:solidFill>
                <a:latin typeface="Courier"/>
              </a:rPr>
              <a:t>"list"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"ls"</a:t>
            </a:r>
            <a:r>
              <a:rPr>
                <a:latin typeface="Courier"/>
              </a:rPr>
              <a:t>]:       </a:t>
            </a:r>
            <a:r>
              <a:rPr i="1">
                <a:solidFill>
                  <a:srgbClr val="60A0B0"/>
                </a:solidFill>
                <a:latin typeface="Courier"/>
              </a:rPr>
              <a:t># or-pattern</a:t>
            </a:r>
            <a:br/>
            <a:r>
              <a:rPr>
                <a:latin typeface="Courier"/>
              </a:rPr>
              <a:t>        show()</a:t>
            </a:r>
            <a:br/>
            <a:r>
              <a:rPr>
                <a:latin typeface="Courier"/>
              </a:rPr>
              <a:t>    case [</a:t>
            </a:r>
            <a:r>
              <a:rPr>
                <a:solidFill>
                  <a:srgbClr val="4070A0"/>
                </a:solidFill>
                <a:latin typeface="Courier"/>
              </a:rPr>
              <a:t>"tags"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rest]:         </a:t>
            </a:r>
            <a:r>
              <a:rPr i="1">
                <a:solidFill>
                  <a:srgbClr val="60A0B0"/>
                </a:solidFill>
                <a:latin typeface="Courier"/>
              </a:rPr>
              <a:t># *rest captures the tail</a:t>
            </a:r>
            <a:br/>
            <a:r>
              <a:rPr>
                <a:latin typeface="Courier"/>
              </a:rPr>
              <a:t>        tag(rest)</a:t>
            </a:r>
          </a:p>
          <a:p>
            <a:pPr lvl="1"/>
            <a:r>
              <a:rPr>
                <a:latin typeface="Courier"/>
              </a:rPr>
              <a:t>[x, y]</a:t>
            </a:r>
            <a:r>
              <a:rPr/>
              <a:t> matches a 2-element sequence, binding </a:t>
            </a:r>
            <a:r>
              <a:rPr>
                <a:latin typeface="Courier"/>
              </a:rPr>
              <a:t>x</a:t>
            </a:r>
            <a:r>
              <a:rPr/>
              <a:t>, </a:t>
            </a:r>
            <a:r>
              <a:rPr>
                <a:latin typeface="Courier"/>
              </a:rPr>
              <a:t>y</a:t>
            </a:r>
          </a:p>
          <a:p>
            <a:pPr lvl="1"/>
            <a:r>
              <a:rPr>
                <a:latin typeface="Courier"/>
              </a:rPr>
              <a:t>*rest</a:t>
            </a:r>
            <a:r>
              <a:rPr/>
              <a:t> soaks up the remaining items</a:t>
            </a:r>
          </a:p>
          <a:p>
            <a:pPr lvl="1"/>
            <a:r>
              <a:rPr>
                <a:latin typeface="Courier"/>
              </a:rPr>
              <a:t>|</a:t>
            </a:r>
            <a:r>
              <a:rPr/>
              <a:t> lets one </a:t>
            </a:r>
            <a:r>
              <a:rPr>
                <a:latin typeface="Courier"/>
              </a:rPr>
              <a:t>case</a:t>
            </a:r>
            <a:r>
              <a:rPr/>
              <a:t> match several shapes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Mapping</a:t>
            </a:r>
            <a:r>
              <a:rPr/>
              <a:t> </a:t>
            </a:r>
            <a:r>
              <a:rPr/>
              <a:t>patterns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guards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match payload:</a:t>
            </a:r>
            <a:br/>
            <a:r>
              <a:rPr>
                <a:latin typeface="Courier"/>
              </a:rPr>
              <a:t>    case {</a:t>
            </a:r>
            <a:r>
              <a:rPr>
                <a:solidFill>
                  <a:srgbClr val="4070A0"/>
                </a:solidFill>
                <a:latin typeface="Courier"/>
              </a:rPr>
              <a:t>"cmd"</a:t>
            </a:r>
            <a:r>
              <a:rPr>
                <a:latin typeface="Courier"/>
              </a:rPr>
              <a:t>: c}: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has a "cmd" key</a:t>
            </a:r>
            <a:br/>
            <a:r>
              <a:rPr>
                <a:latin typeface="Courier"/>
              </a:rPr>
              <a:t>        run(c)</a:t>
            </a:r>
            <a:br/>
            <a:r>
              <a:rPr>
                <a:latin typeface="Courier"/>
              </a:rPr>
              <a:t>    case [</a:t>
            </a:r>
            <a:r>
              <a:rPr>
                <a:solidFill>
                  <a:srgbClr val="4070A0"/>
                </a:solidFill>
                <a:latin typeface="Courier"/>
              </a:rPr>
              <a:t>"done"</a:t>
            </a:r>
            <a:r>
              <a:rPr>
                <a:latin typeface="Courier"/>
              </a:rPr>
              <a:t>, id]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id.isdigit():   </a:t>
            </a:r>
            <a:r>
              <a:rPr i="1">
                <a:solidFill>
                  <a:srgbClr val="60A0B0"/>
                </a:solidFill>
                <a:latin typeface="Courier"/>
              </a:rPr>
              <a:t># guard</a:t>
            </a:r>
            <a:br/>
            <a:r>
              <a:rPr>
                <a:latin typeface="Courier"/>
              </a:rPr>
              <a:t>        complete(int(id))</a:t>
            </a:r>
            <a:br/>
            <a:r>
              <a:rPr>
                <a:latin typeface="Courier"/>
              </a:rPr>
              <a:t>    case _:</a:t>
            </a:r>
            <a:br/>
            <a:r>
              <a:rPr>
                <a:latin typeface="Courier"/>
              </a:rPr>
              <a:t>        print(</a:t>
            </a:r>
            <a:r>
              <a:rPr>
                <a:solidFill>
                  <a:srgbClr val="4070A0"/>
                </a:solidFill>
                <a:latin typeface="Courier"/>
              </a:rPr>
              <a:t>"unknown"</a:t>
            </a:r>
            <a:r>
              <a:rPr>
                <a:latin typeface="Courier"/>
              </a:rPr>
              <a:t>)</a:t>
            </a:r>
          </a:p>
          <a:p>
            <a:pPr lvl="1"/>
            <a:r>
              <a:rPr>
                <a:latin typeface="Courier"/>
              </a:rPr>
              <a:t>{"cmd": c}</a:t>
            </a:r>
            <a:r>
              <a:rPr/>
              <a:t> matches a dict with that key (extras ignored)</a:t>
            </a:r>
          </a:p>
          <a:p>
            <a:pPr lvl="1"/>
            <a:r>
              <a:rPr/>
              <a:t>A </a:t>
            </a:r>
            <a:r>
              <a:rPr b="1"/>
              <a:t>guard</a:t>
            </a:r>
            <a:r>
              <a:rPr/>
              <a:t> </a:t>
            </a:r>
            <a:r>
              <a:rPr>
                <a:latin typeface="Courier"/>
              </a:rPr>
              <a:t>if ...</a:t>
            </a:r>
            <a:r>
              <a:rPr/>
              <a:t> adds a condition the pattern must also pass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order</a:t>
            </a:r>
            <a:r>
              <a:rPr/>
              <a:t> </a:t>
            </a:r>
            <a:r>
              <a:rPr/>
              <a:t>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match value:</a:t>
            </a:r>
            <a:br/>
            <a:r>
              <a:rPr>
                <a:latin typeface="Courier"/>
              </a:rPr>
              <a:t>    case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        ...    </a:t>
            </a:r>
            <a:r>
              <a:rPr i="1">
                <a:solidFill>
                  <a:srgbClr val="60A0B0"/>
                </a:solidFill>
                <a:latin typeface="Courier"/>
              </a:rPr>
              <a:t># checked first</a:t>
            </a:r>
            <a:br/>
            <a:r>
              <a:rPr>
                <a:latin typeface="Courier"/>
              </a:rPr>
              <a:t>    case int():    ...    </a:t>
            </a:r>
            <a:r>
              <a:rPr i="1">
                <a:solidFill>
                  <a:srgbClr val="60A0B0"/>
                </a:solidFill>
                <a:latin typeface="Courier"/>
              </a:rPr>
              <a:t># then this</a:t>
            </a:r>
            <a:br/>
            <a:r>
              <a:rPr>
                <a:latin typeface="Courier"/>
              </a:rPr>
              <a:t>    case _:        ...    </a:t>
            </a:r>
            <a:r>
              <a:rPr i="1">
                <a:solidFill>
                  <a:srgbClr val="60A0B0"/>
                </a:solidFill>
                <a:latin typeface="Courier"/>
              </a:rPr>
              <a:t># always last — the catch-all</a:t>
            </a:r>
          </a:p>
          <a:p>
            <a:pPr lvl="1"/>
            <a:r>
              <a:rPr/>
              <a:t>Cases are tried </a:t>
            </a:r>
            <a:r>
              <a:rPr b="1"/>
              <a:t>top to bottom</a:t>
            </a:r>
            <a:r>
              <a:rPr/>
              <a:t>; first match wins</a:t>
            </a:r>
          </a:p>
          <a:p>
            <a:pPr lvl="1"/>
            <a:r>
              <a:rPr/>
              <a:t>Put </a:t>
            </a:r>
            <a:r>
              <a:rPr b="1"/>
              <a:t>specific</a:t>
            </a:r>
            <a:r>
              <a:rPr/>
              <a:t> patterns above </a:t>
            </a:r>
            <a:r>
              <a:rPr b="1"/>
              <a:t>general</a:t>
            </a:r>
            <a:r>
              <a:rPr/>
              <a:t> ones</a:t>
            </a:r>
          </a:p>
          <a:p>
            <a:pPr lvl="1"/>
            <a:r>
              <a:rPr/>
              <a:t>A </a:t>
            </a:r>
            <a:r>
              <a:rPr>
                <a:latin typeface="Courier"/>
              </a:rPr>
              <a:t>case _:</a:t>
            </a:r>
            <a:r>
              <a:rPr/>
              <a:t> at the end means "no input goes unhandled"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Let's</a:t>
            </a:r>
            <a:r>
              <a:rPr/>
              <a:t> </a:t>
            </a:r>
            <a:r>
              <a:rPr/>
              <a:t>route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its</a:t>
            </a:r>
            <a:r>
              <a:rPr/>
              <a:t> </a:t>
            </a:r>
            <a:r>
              <a:rPr/>
              <a:t>shape.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>
                <a:latin typeface="Courier"/>
              </a:rPr>
              <a:t>match</a:t>
            </a:r>
            <a:r>
              <a:rPr b="1"/>
              <a:t> / </a:t>
            </a:r>
            <a:r>
              <a:rPr b="1">
                <a:latin typeface="Courier"/>
              </a:rPr>
              <a:t>case</a:t>
            </a:r>
            <a:r>
              <a:rPr b="1"/>
              <a:t> command dispatcher</a:t>
            </a:r>
          </a:p>
          <a:p>
            <a:pPr lvl="1"/>
            <a:r>
              <a:rPr>
                <a:latin typeface="Courier"/>
              </a:rPr>
              <a:t>match command.split():</a:t>
            </a:r>
          </a:p>
          <a:p>
            <a:pPr lvl="1"/>
            <a:r>
              <a:rPr>
                <a:latin typeface="Courier"/>
              </a:rPr>
              <a:t>case ["add", task]:</a:t>
            </a:r>
            <a:r>
              <a:rPr/>
              <a:t> · </a:t>
            </a:r>
            <a:r>
              <a:rPr>
                <a:latin typeface="Courier"/>
              </a:rPr>
              <a:t>case ["done", id] if id.isdigit():</a:t>
            </a:r>
          </a:p>
          <a:p>
            <a:pPr lvl="1"/>
            <a:r>
              <a:rPr>
                <a:latin typeface="Courier"/>
              </a:rPr>
              <a:t>case ["list"] | ["ls"]:</a:t>
            </a:r>
            <a:r>
              <a:rPr/>
              <a:t> · </a:t>
            </a:r>
            <a:r>
              <a:rPr>
                <a:latin typeface="Courier"/>
              </a:rPr>
              <a:t>case {"cmd": c}:</a:t>
            </a:r>
            <a:r>
              <a:rPr/>
              <a:t> · </a:t>
            </a:r>
            <a:r>
              <a:rPr>
                <a:latin typeface="Courier"/>
              </a:rPr>
              <a:t>case _:</a:t>
            </a:r>
          </a:p>
          <a:p>
            <a:pPr lvl="1"/>
            <a:r>
              <a:rPr/>
              <a:t>Run several inputs live and watch each route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dispatcher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dispatch(command):</a:t>
            </a:r>
            <a:br/>
            <a:r>
              <a:rPr>
                <a:latin typeface="Courier"/>
              </a:rPr>
              <a:t>    match command.split():</a:t>
            </a:r>
            <a:br/>
            <a:r>
              <a:rPr>
                <a:latin typeface="Courier"/>
              </a:rPr>
              <a:t>        case [</a:t>
            </a:r>
            <a:r>
              <a:rPr>
                <a:solidFill>
                  <a:srgbClr val="4070A0"/>
                </a:solidFill>
                <a:latin typeface="Courier"/>
              </a:rPr>
              <a:t>"add"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words]: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f"added: </a:t>
            </a:r>
            <a:r>
              <a:rPr>
                <a:solidFill>
                  <a:srgbClr val="4070A0"/>
                </a:solidFill>
                <a:latin typeface="Courier"/>
              </a:rPr>
              <a:t>{' '.</a:t>
            </a:r>
            <a:r>
              <a:rPr>
                <a:latin typeface="Courier"/>
              </a:rPr>
              <a:t>join(words)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br/>
            <a:r>
              <a:rPr>
                <a:latin typeface="Courier"/>
              </a:rPr>
              <a:t>        case [</a:t>
            </a:r>
            <a:r>
              <a:rPr>
                <a:solidFill>
                  <a:srgbClr val="4070A0"/>
                </a:solidFill>
                <a:latin typeface="Courier"/>
              </a:rPr>
              <a:t>"done"</a:t>
            </a:r>
            <a:r>
              <a:rPr>
                <a:latin typeface="Courier"/>
              </a:rPr>
              <a:t>, id]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id.isdigit():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f"completed #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br/>
            <a:r>
              <a:rPr>
                <a:latin typeface="Courier"/>
              </a:rPr>
              <a:t>        case [</a:t>
            </a:r>
            <a:r>
              <a:rPr>
                <a:solidFill>
                  <a:srgbClr val="4070A0"/>
                </a:solidFill>
                <a:latin typeface="Courier"/>
              </a:rPr>
              <a:t>"list"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"ls"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"showing all tasks"</a:t>
            </a:r>
            <a:br/>
            <a:r>
              <a:rPr>
                <a:latin typeface="Courier"/>
              </a:rPr>
              <a:t>        case []: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"type a command"</a:t>
            </a:r>
            <a:br/>
            <a:r>
              <a:rPr>
                <a:latin typeface="Courier"/>
              </a:rPr>
              <a:t>        case _: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"unknown command"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One</a:t>
            </a:r>
            <a:r>
              <a:rPr/>
              <a:t> </a:t>
            </a:r>
            <a:r>
              <a:rPr/>
              <a:t>input,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right</a:t>
            </a:r>
            <a:r>
              <a:rPr/>
              <a:t> </a:t>
            </a:r>
            <a:r>
              <a:rPr/>
              <a:t>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dispatch("add buy milk")
'added: buy milk'
&gt;&gt;&gt; dispatch("done 7")
'completed #7'
&gt;&gt;&gt; dispatch("ls")
'showing all tasks'
&gt;&gt;&gt; dispatch("frobnicate")
'unknown command'
</a:t>
            </a:r>
          </a:p>
          <a:p>
            <a:pPr lvl="0" marL="0" indent="0">
              <a:buNone/>
            </a:pPr>
            <a:r>
              <a:rPr/>
              <a:t>The capstone's menu reuses exactly this shape.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One </a:t>
            </a:r>
            <a:r>
              <a:rPr>
                <a:latin typeface="Courier"/>
              </a:rPr>
              <a:t>match</a:t>
            </a:r>
            <a:r>
              <a:rPr/>
              <a:t> routed </a:t>
            </a:r>
            <a:r>
              <a:rPr b="1"/>
              <a:t>five different command shapes</a:t>
            </a:r>
          </a:p>
          <a:p>
            <a:pPr lvl="1"/>
            <a:r>
              <a:rPr/>
              <a:t>Literal, capture, sequence, or-, and mapping patterns + a guard</a:t>
            </a:r>
          </a:p>
          <a:p>
            <a:pPr lvl="1"/>
            <a:r>
              <a:rPr>
                <a:latin typeface="Courier"/>
              </a:rPr>
              <a:t>*words</a:t>
            </a:r>
            <a:r>
              <a:rPr/>
              <a:t> captured a variable-length tail</a:t>
            </a:r>
          </a:p>
          <a:p>
            <a:pPr lvl="1"/>
            <a:r>
              <a:rPr/>
              <a:t>The final </a:t>
            </a:r>
            <a:r>
              <a:rPr>
                <a:latin typeface="Courier"/>
              </a:rPr>
              <a:t>case _:</a:t>
            </a:r>
            <a:r>
              <a:rPr/>
              <a:t> caught everything unexpected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Wrap-up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Q&amp;A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week's</a:t>
            </a:r>
            <a:r>
              <a:rPr/>
              <a:t> </a:t>
            </a:r>
            <a:r>
              <a:rPr/>
              <a:t>homework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game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Number-guessing game</a:t>
            </a:r>
            <a:r>
              <a:rPr/>
              <a:t> — a </a:t>
            </a:r>
            <a:r>
              <a:rPr>
                <a:latin typeface="Courier"/>
              </a:rPr>
              <a:t>while</a:t>
            </a:r>
            <a:r>
              <a:rPr/>
              <a:t> loop, </a:t>
            </a:r>
            <a:r>
              <a:rPr>
                <a:latin typeface="Courier"/>
              </a:rPr>
              <a:t>break</a:t>
            </a:r>
            <a:r>
              <a:rPr/>
              <a:t> on a correct guess, and a loop-</a:t>
            </a:r>
            <a:r>
              <a:rPr b="1">
                <a:latin typeface="Courier"/>
              </a:rPr>
              <a:t>else</a:t>
            </a:r>
            <a:r>
              <a:rPr/>
              <a:t> for "out of tries"</a:t>
            </a:r>
          </a:p>
          <a:p>
            <a:pPr lvl="1">
              <a:buAutoNum type="arabicPeriod"/>
            </a:pPr>
            <a:r>
              <a:rPr b="1">
                <a:latin typeface="Courier"/>
              </a:rPr>
              <a:t>menu.py</a:t>
            </a:r>
            <a:r>
              <a:rPr/>
              <a:t> — read a command line and route it with </a:t>
            </a:r>
            <a:r>
              <a:rPr b="1">
                <a:latin typeface="Courier"/>
              </a:rPr>
              <a:t>match</a:t>
            </a:r>
            <a:r>
              <a:rPr b="1"/>
              <a:t> / </a:t>
            </a:r>
            <a:r>
              <a:rPr b="1">
                <a:latin typeface="Courier"/>
              </a:rPr>
              <a:t>case</a:t>
            </a:r>
            <a:r>
              <a:rPr/>
              <a:t> to printed actions</a:t>
            </a:r>
          </a:p>
          <a:p>
            <a:pPr lvl="1">
              <a:buAutoNum type="arabicPeriod"/>
            </a:pPr>
            <a:r>
              <a:rPr/>
              <a:t>Handle at least </a:t>
            </a:r>
            <a:r>
              <a:rPr b="1"/>
              <a:t>four command shapes</a:t>
            </a:r>
            <a:r>
              <a:rPr/>
              <a:t> plus an unknown fallback</a:t>
            </a:r>
          </a:p>
          <a:p>
            <a:pPr lvl="1">
              <a:buAutoNum type="arabicPeriod"/>
            </a:pPr>
            <a:r>
              <a:rPr b="1"/>
              <a:t>Submit:</a:t>
            </a:r>
            <a:r>
              <a:rPr/>
              <a:t> both scripts + sample runs to the Teams channel</a:t>
            </a:r>
          </a:p>
          <a:p>
            <a:pPr lvl="0" marL="0" indent="0">
              <a:buNone/>
            </a:pPr>
            <a:r>
              <a:rPr/>
              <a:t>Mirror </a:t>
            </a:r>
            <a:r>
              <a:rPr b="1"/>
              <a:t>Demo 7</a:t>
            </a:r>
            <a:r>
              <a:rPr/>
              <a:t> for the game, </a:t>
            </a:r>
            <a:r>
              <a:rPr b="1"/>
              <a:t>Demo 8</a:t>
            </a:r>
            <a:r>
              <a:rPr/>
              <a:t> for the menu.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Week 5 — Functions, Scope &amp; Type Hints</a:t>
            </a:r>
          </a:p>
          <a:p>
            <a:pPr lvl="1"/>
            <a:r>
              <a:rPr/>
              <a:t>We wrap today's decisions and loops into </a:t>
            </a:r>
            <a:r>
              <a:rPr b="1"/>
              <a:t>reusable functions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match</a:t>
            </a:r>
            <a:r>
              <a:rPr/>
              <a:t>-based menu becomes a typed, documented function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2026-06-25T10:48:59Z</dcterms:created>
  <dcterms:modified xsi:type="dcterms:W3CDTF">2026-06-25T10:48:59Z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